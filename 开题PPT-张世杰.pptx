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17"/>
  </p:notesMasterIdLst>
  <p:handoutMasterIdLst>
    <p:handoutMasterId r:id="rId18"/>
  </p:handoutMasterIdLst>
  <p:sldIdLst>
    <p:sldId id="1693" r:id="rId4"/>
    <p:sldId id="1728" r:id="rId5"/>
    <p:sldId id="1730" r:id="rId6"/>
    <p:sldId id="1732" r:id="rId7"/>
    <p:sldId id="1758" r:id="rId8"/>
    <p:sldId id="1759" r:id="rId9"/>
    <p:sldId id="1760" r:id="rId10"/>
    <p:sldId id="1761" r:id="rId11"/>
    <p:sldId id="1762" r:id="rId12"/>
    <p:sldId id="1763" r:id="rId13"/>
    <p:sldId id="1764" r:id="rId14"/>
    <p:sldId id="1765" r:id="rId15"/>
    <p:sldId id="1731" r:id="rId16"/>
  </p:sldIdLst>
  <p:sldSz cx="9144000" cy="6858000" type="screen4x3"/>
  <p:notesSz cx="6858000" cy="9144000"/>
  <p:custDataLst>
    <p:tags r:id="rId19"/>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pos="2809">
          <p15:clr>
            <a:srgbClr val="A4A3A4"/>
          </p15:clr>
        </p15:guide>
        <p15:guide id="2" orient="horz" pos="21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98"/>
    <a:srgbClr val="013C7A"/>
    <a:srgbClr val="063983"/>
    <a:srgbClr val="FFFFFF"/>
    <a:srgbClr val="2A6BA6"/>
    <a:srgbClr val="0000FF"/>
    <a:srgbClr val="F2F2F2"/>
    <a:srgbClr val="00B0F0"/>
    <a:srgbClr val="00B050"/>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71" autoAdjust="0"/>
    <p:restoredTop sz="78834" autoAdjust="0"/>
  </p:normalViewPr>
  <p:slideViewPr>
    <p:cSldViewPr snapToGrid="0">
      <p:cViewPr varScale="1">
        <p:scale>
          <a:sx n="67" d="100"/>
          <a:sy n="67" d="100"/>
        </p:scale>
        <p:origin x="2026" y="38"/>
      </p:cViewPr>
      <p:guideLst>
        <p:guide pos="2809"/>
        <p:guide orient="horz" pos="2137"/>
      </p:guideLst>
    </p:cSldViewPr>
  </p:slideViewPr>
  <p:notesTextViewPr>
    <p:cViewPr>
      <p:scale>
        <a:sx n="125" d="100"/>
        <a:sy n="125" d="100"/>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38F9833-CFE2-41FC-9EAF-6FBC7C649373}" type="datetimeFigureOut">
              <a:rPr lang="zh-CN" altLang="en-US"/>
              <a:t>2026/4/28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pPr>
              <a:defRPr/>
            </a:pPr>
            <a:fld id="{E0B4674A-FC5F-4E94-82C8-1C4258ED88ED}"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Calibri" panose="020F0502020204030204" pitchFamily="34" charset="0"/>
              </a:defRPr>
            </a:lvl1pPr>
          </a:lstStyle>
          <a:p>
            <a:pPr>
              <a:defRPr/>
            </a:pPr>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Calibri" panose="020F0502020204030204" pitchFamily="34" charset="0"/>
              </a:defRPr>
            </a:lvl1pPr>
          </a:lstStyle>
          <a:p>
            <a:pPr>
              <a:defRPr/>
            </a:pPr>
            <a:fld id="{50081A20-85D9-4293-9F5E-2EC2C1A0AF3F}" type="datetimeFigureOut">
              <a:rPr lang="zh-CN" altLang="en-US"/>
              <a:t>2026/4/28</a:t>
            </a:fld>
            <a:endParaRPr lang="en-US" altLang="zh-CN"/>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Calibri" panose="020F0502020204030204" pitchFamily="34" charset="0"/>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082C11EC-BD25-470E-9456-06D3AEC43184}" type="slidenum">
              <a:rPr lang="zh-CN" altLang="en-US"/>
              <a:t>‹#›</a:t>
            </a:fld>
            <a:endParaRPr lang="en-US" altLang="zh-CN"/>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221E-34B7-6B8B-8054-706E9F2E8B07}"/>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91D217AD-6BD9-9ED8-7076-44BC0B0A54E8}"/>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CA243345-F9AC-A0C9-E078-4B180F310D1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课题面向人机协作场景下冗余机械臂的柔顺控制与安全交互问题，首先通过动力学参数辨识提高模型精度，然后基于辨识模型设计任务空间与零空间结合的分层阻抗控制方法，最后针对非预期碰撞和正常任务接触难以区分的问题，研究碰撞检测与误报抑制方法，从而提升机器人在接触作业中的控制精度、柔顺性和安全性。</a:t>
            </a:r>
          </a:p>
        </p:txBody>
      </p:sp>
      <p:sp>
        <p:nvSpPr>
          <p:cNvPr id="7172" name="灯片编号占位符 3">
            <a:extLst>
              <a:ext uri="{FF2B5EF4-FFF2-40B4-BE49-F238E27FC236}">
                <a16:creationId xmlns:a16="http://schemas.microsoft.com/office/drawing/2014/main" id="{DF623AD2-E923-1088-080F-7A0DDC87E716}"/>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1</a:t>
            </a:fld>
            <a:endParaRPr lang="en-US" altLang="zh-CN" sz="1200"/>
          </a:p>
        </p:txBody>
      </p:sp>
    </p:spTree>
    <p:extLst>
      <p:ext uri="{BB962C8B-B14F-4D97-AF65-F5344CB8AC3E}">
        <p14:creationId xmlns:p14="http://schemas.microsoft.com/office/powerpoint/2010/main" val="541677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94927-4FBE-1844-3EA4-93DAD7DD4690}"/>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B09BDCEE-C661-2722-884D-652D408CBCCB}"/>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680A1BCB-BF9C-27B1-7CBD-B6687E9268C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我将从以上三个部分进行汇报，首先是研究背景与意义。</a:t>
            </a:r>
          </a:p>
        </p:txBody>
      </p:sp>
      <p:sp>
        <p:nvSpPr>
          <p:cNvPr id="7172" name="灯片编号占位符 3">
            <a:extLst>
              <a:ext uri="{FF2B5EF4-FFF2-40B4-BE49-F238E27FC236}">
                <a16:creationId xmlns:a16="http://schemas.microsoft.com/office/drawing/2014/main" id="{E33D0441-EE9B-B7F6-E811-E8D3A339745B}"/>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2</a:t>
            </a:fld>
            <a:endParaRPr lang="en-US" altLang="zh-CN" sz="1200"/>
          </a:p>
        </p:txBody>
      </p:sp>
    </p:spTree>
    <p:extLst>
      <p:ext uri="{BB962C8B-B14F-4D97-AF65-F5344CB8AC3E}">
        <p14:creationId xmlns:p14="http://schemas.microsoft.com/office/powerpoint/2010/main" val="1847334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F5EE6-3E84-703D-34A4-AAB4F77B1E0B}"/>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C30F9C45-F9B0-5E28-2DB5-25D758A97118}"/>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5A1E03B4-1955-125D-DED9-1726A8A3BE4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None/>
            </a:pPr>
            <a:r>
              <a:rPr lang="en-US" altLang="zh-CN" sz="1200" b="1" dirty="0" err="1">
                <a:solidFill>
                  <a:srgbClr val="12355B"/>
                </a:solidFill>
              </a:rPr>
              <a:t>协作机器人离开安全围栏，与人和环境发生直接接触</a:t>
            </a:r>
            <a:r>
              <a:rPr lang="en-US" altLang="zh-CN" sz="1200" b="1" dirty="0">
                <a:solidFill>
                  <a:srgbClr val="12355B"/>
                </a:solidFill>
              </a:rPr>
              <a:t>。</a:t>
            </a:r>
          </a:p>
          <a:p>
            <a:pPr marL="0" indent="0">
              <a:buNone/>
            </a:pPr>
            <a:endParaRPr lang="en-US" altLang="zh-CN" sz="1200" dirty="0"/>
          </a:p>
        </p:txBody>
      </p:sp>
      <p:sp>
        <p:nvSpPr>
          <p:cNvPr id="7172" name="灯片编号占位符 3">
            <a:extLst>
              <a:ext uri="{FF2B5EF4-FFF2-40B4-BE49-F238E27FC236}">
                <a16:creationId xmlns:a16="http://schemas.microsoft.com/office/drawing/2014/main" id="{477A08D3-A7CD-D09E-A31E-1671969013BA}"/>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3</a:t>
            </a:fld>
            <a:endParaRPr lang="en-US" altLang="zh-CN" sz="1200"/>
          </a:p>
        </p:txBody>
      </p:sp>
    </p:spTree>
    <p:extLst>
      <p:ext uri="{BB962C8B-B14F-4D97-AF65-F5344CB8AC3E}">
        <p14:creationId xmlns:p14="http://schemas.microsoft.com/office/powerpoint/2010/main" val="4197933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BE09C-A46E-D4CB-A337-274C73889F53}"/>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D7C8D3C8-32FD-9BEF-5CA3-34B50C884784}"/>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35F022EB-7E40-60F2-D3A2-1C3B5B80DDB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理论意义：围绕冗余机械臂接触作业中的精度、柔顺性与安全性耦合问题，探索动力学模型、阻抗控制与碰撞检测协同设计思路。</a:t>
            </a:r>
          </a:p>
          <a:p>
            <a:endParaRPr lang="zh-CN" altLang="en-US" dirty="0"/>
          </a:p>
          <a:p>
            <a:r>
              <a:rPr lang="zh-CN" altLang="en-US" dirty="0"/>
              <a:t>方法意义：形成“模型辨识</a:t>
            </a:r>
            <a:r>
              <a:rPr lang="en-US" altLang="zh-CN" dirty="0"/>
              <a:t>—</a:t>
            </a:r>
            <a:r>
              <a:rPr lang="zh-CN" altLang="en-US" dirty="0"/>
              <a:t>前馈补偿</a:t>
            </a:r>
            <a:r>
              <a:rPr lang="en-US" altLang="zh-CN" dirty="0"/>
              <a:t>—</a:t>
            </a:r>
            <a:r>
              <a:rPr lang="zh-CN" altLang="en-US" dirty="0"/>
              <a:t>分层阻抗控制</a:t>
            </a:r>
            <a:r>
              <a:rPr lang="en-US" altLang="zh-CN" dirty="0"/>
              <a:t>—</a:t>
            </a:r>
            <a:r>
              <a:rPr lang="zh-CN" altLang="en-US" dirty="0"/>
              <a:t>碰撞检测”的技术链路，为柔顺安全控制提供系统化方法。</a:t>
            </a:r>
          </a:p>
          <a:p>
            <a:endParaRPr lang="zh-CN" altLang="en-US" dirty="0"/>
          </a:p>
          <a:p>
            <a:r>
              <a:rPr lang="zh-CN" altLang="en-US" dirty="0"/>
              <a:t>工程意义：面向柔性装配、协同搬运和辅助操作等人机协作场景，提升机械臂接触作业的稳定性、安全性与应用适应性。</a:t>
            </a:r>
          </a:p>
        </p:txBody>
      </p:sp>
      <p:sp>
        <p:nvSpPr>
          <p:cNvPr id="7172" name="灯片编号占位符 3">
            <a:extLst>
              <a:ext uri="{FF2B5EF4-FFF2-40B4-BE49-F238E27FC236}">
                <a16:creationId xmlns:a16="http://schemas.microsoft.com/office/drawing/2014/main" id="{D038353C-6EF8-B0D7-2A61-D8CDF85EDD89}"/>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4</a:t>
            </a:fld>
            <a:endParaRPr lang="en-US" altLang="zh-CN" sz="1200"/>
          </a:p>
        </p:txBody>
      </p:sp>
    </p:spTree>
    <p:extLst>
      <p:ext uri="{BB962C8B-B14F-4D97-AF65-F5344CB8AC3E}">
        <p14:creationId xmlns:p14="http://schemas.microsoft.com/office/powerpoint/2010/main" val="1333897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145F9-008C-34A0-A963-D1C789FB457B}"/>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ADC11C4C-79C6-C843-21DA-02B15AD9A1B9}"/>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96DA4014-84DE-BE4C-0172-E398E47EE87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我将从以上三个部分进行汇报，首先是研究背景与意义。</a:t>
            </a:r>
          </a:p>
        </p:txBody>
      </p:sp>
      <p:sp>
        <p:nvSpPr>
          <p:cNvPr id="7172" name="灯片编号占位符 3">
            <a:extLst>
              <a:ext uri="{FF2B5EF4-FFF2-40B4-BE49-F238E27FC236}">
                <a16:creationId xmlns:a16="http://schemas.microsoft.com/office/drawing/2014/main" id="{3CA5E312-214A-FD80-A800-EDD70F870135}"/>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5</a:t>
            </a:fld>
            <a:endParaRPr lang="en-US" altLang="zh-CN" sz="1200"/>
          </a:p>
        </p:txBody>
      </p:sp>
    </p:spTree>
    <p:extLst>
      <p:ext uri="{BB962C8B-B14F-4D97-AF65-F5344CB8AC3E}">
        <p14:creationId xmlns:p14="http://schemas.microsoft.com/office/powerpoint/2010/main" val="1958242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051D0-453F-BEC7-D215-0D797E2BB3D7}"/>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0DFC0D41-9CDB-7D0D-6138-B0ED15B25A56}"/>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C3D29811-8483-7AB9-D0CB-EE948B15D7A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a:t>研究目标：</a:t>
            </a:r>
            <a:br>
              <a:rPr lang="zh-CN" altLang="en-US" dirty="0"/>
            </a:br>
            <a:r>
              <a:rPr lang="zh-CN" altLang="en-US" dirty="0"/>
              <a:t>构建面向人机协作场景的冗余机械臂柔顺控制与安全交互方法。</a:t>
            </a:r>
          </a:p>
          <a:p>
            <a:r>
              <a:rPr lang="zh-CN" altLang="en-US" b="1" dirty="0"/>
              <a:t>研究内容：</a:t>
            </a:r>
            <a:endParaRPr lang="zh-CN" altLang="en-US" dirty="0"/>
          </a:p>
          <a:p>
            <a:r>
              <a:rPr lang="zh-CN" altLang="en-US" dirty="0"/>
              <a:t>物理一致约束下的动力学参数辨识 </a:t>
            </a:r>
          </a:p>
          <a:p>
            <a:r>
              <a:rPr lang="zh-CN" altLang="en-US" dirty="0"/>
              <a:t>任务空间与零空间结合的分层阻抗控制 </a:t>
            </a:r>
          </a:p>
          <a:p>
            <a:r>
              <a:rPr lang="zh-CN" altLang="en-US" dirty="0"/>
              <a:t>碰撞检测与误报抑制方法研究</a:t>
            </a:r>
          </a:p>
          <a:p>
            <a:endParaRPr lang="zh-CN" altLang="en-US" dirty="0"/>
          </a:p>
        </p:txBody>
      </p:sp>
      <p:sp>
        <p:nvSpPr>
          <p:cNvPr id="7172" name="灯片编号占位符 3">
            <a:extLst>
              <a:ext uri="{FF2B5EF4-FFF2-40B4-BE49-F238E27FC236}">
                <a16:creationId xmlns:a16="http://schemas.microsoft.com/office/drawing/2014/main" id="{E5F723EF-DADE-015B-20CC-6F1CBE12276C}"/>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6</a:t>
            </a:fld>
            <a:endParaRPr lang="en-US" altLang="zh-CN" sz="1200"/>
          </a:p>
        </p:txBody>
      </p:sp>
    </p:spTree>
    <p:extLst>
      <p:ext uri="{BB962C8B-B14F-4D97-AF65-F5344CB8AC3E}">
        <p14:creationId xmlns:p14="http://schemas.microsoft.com/office/powerpoint/2010/main" val="500851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218FF-7C3C-A630-FF4E-B4DE65CBE711}"/>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13F8A4AE-5AC1-600B-C1F8-40BA217F1A05}"/>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927BE611-D322-A87A-C0A5-39BAA9ABCD2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lnSpc>
                <a:spcPct val="150000"/>
              </a:lnSpc>
              <a:buFont typeface="Wingdings" panose="05000000000000000000" pitchFamily="2" charset="2"/>
              <a:buNone/>
            </a:pPr>
            <a:r>
              <a:rPr lang="zh-CN" altLang="en-US" b="1" dirty="0"/>
              <a:t>研究目标：</a:t>
            </a:r>
            <a:endParaRPr lang="en-US" altLang="zh-CN" b="1" dirty="0"/>
          </a:p>
          <a:p>
            <a:pPr marL="0" indent="0">
              <a:lnSpc>
                <a:spcPct val="150000"/>
              </a:lnSpc>
              <a:buFont typeface="Wingdings" panose="05000000000000000000" pitchFamily="2" charset="2"/>
              <a:buNone/>
            </a:pPr>
            <a:r>
              <a:rPr lang="en-US" altLang="zh-CN" sz="1200" dirty="0" err="1">
                <a:latin typeface="微软雅黑" panose="020B0503020204020204" pitchFamily="34" charset="-122"/>
                <a:ea typeface="微软雅黑" panose="020B0503020204020204" pitchFamily="34" charset="-122"/>
              </a:rPr>
              <a:t>提高动力学模型精度，为前馈补偿、阻抗控制和外力估计提供模型基础</a:t>
            </a:r>
            <a:endParaRPr lang="en-US" altLang="zh-CN" sz="1200" dirty="0">
              <a:latin typeface="微软雅黑" panose="020B0503020204020204" pitchFamily="34" charset="-122"/>
              <a:ea typeface="微软雅黑" panose="020B0503020204020204" pitchFamily="34" charset="-122"/>
            </a:endParaRPr>
          </a:p>
          <a:p>
            <a:endParaRPr lang="zh-CN" altLang="en-US" dirty="0"/>
          </a:p>
        </p:txBody>
      </p:sp>
      <p:sp>
        <p:nvSpPr>
          <p:cNvPr id="7172" name="灯片编号占位符 3">
            <a:extLst>
              <a:ext uri="{FF2B5EF4-FFF2-40B4-BE49-F238E27FC236}">
                <a16:creationId xmlns:a16="http://schemas.microsoft.com/office/drawing/2014/main" id="{A4C33A76-B3B8-E5F0-9F3C-DC3874A9527F}"/>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7</a:t>
            </a:fld>
            <a:endParaRPr lang="en-US" altLang="zh-CN" sz="1200"/>
          </a:p>
        </p:txBody>
      </p:sp>
    </p:spTree>
    <p:extLst>
      <p:ext uri="{BB962C8B-B14F-4D97-AF65-F5344CB8AC3E}">
        <p14:creationId xmlns:p14="http://schemas.microsoft.com/office/powerpoint/2010/main" val="1194728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7D409-3689-7481-E39C-9632C6C1E6A5}"/>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30180FEA-5C65-2937-F979-14E1C9728266}"/>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68C38C67-B581-D683-0EB9-8429D248971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lnSpc>
                <a:spcPct val="150000"/>
              </a:lnSpc>
              <a:buFont typeface="Wingdings" panose="05000000000000000000" pitchFamily="2" charset="2"/>
              <a:buNone/>
            </a:pPr>
            <a:r>
              <a:rPr lang="zh-CN" altLang="en-US" b="1" dirty="0"/>
              <a:t>研究目标：</a:t>
            </a:r>
            <a:br>
              <a:rPr lang="zh-CN" altLang="en-US" dirty="0"/>
            </a:br>
            <a:r>
              <a:rPr lang="en-US" altLang="zh-CN" sz="1200" dirty="0" err="1">
                <a:latin typeface="微软雅黑" panose="020B0503020204020204" pitchFamily="34" charset="-122"/>
                <a:ea typeface="微软雅黑" panose="020B0503020204020204" pitchFamily="34" charset="-122"/>
              </a:rPr>
              <a:t>在保证末端任务精度的同时，使机器人对外部接触呈现可调的柔顺响应</a:t>
            </a:r>
            <a:endParaRPr lang="en-US" altLang="zh-CN" sz="1200" dirty="0">
              <a:latin typeface="微软雅黑" panose="020B0503020204020204" pitchFamily="34" charset="-122"/>
              <a:ea typeface="微软雅黑" panose="020B0503020204020204" pitchFamily="34" charset="-122"/>
            </a:endParaRPr>
          </a:p>
          <a:p>
            <a:endParaRPr lang="zh-CN" altLang="en-US" dirty="0"/>
          </a:p>
        </p:txBody>
      </p:sp>
      <p:sp>
        <p:nvSpPr>
          <p:cNvPr id="7172" name="灯片编号占位符 3">
            <a:extLst>
              <a:ext uri="{FF2B5EF4-FFF2-40B4-BE49-F238E27FC236}">
                <a16:creationId xmlns:a16="http://schemas.microsoft.com/office/drawing/2014/main" id="{146AACF1-1B08-5171-D45C-2D7519CAF456}"/>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8</a:t>
            </a:fld>
            <a:endParaRPr lang="en-US" altLang="zh-CN" sz="1200"/>
          </a:p>
        </p:txBody>
      </p:sp>
    </p:spTree>
    <p:extLst>
      <p:ext uri="{BB962C8B-B14F-4D97-AF65-F5344CB8AC3E}">
        <p14:creationId xmlns:p14="http://schemas.microsoft.com/office/powerpoint/2010/main" val="3079784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9DAD2-2D73-F361-286A-F43D6E9F5554}"/>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C55CD132-3DA9-2EF9-4DC0-9C6EDCF204D4}"/>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1E00175D-4056-DC21-0DE4-52040C32266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lnSpc>
                <a:spcPct val="150000"/>
              </a:lnSpc>
              <a:buFont typeface="Wingdings" panose="05000000000000000000" pitchFamily="2" charset="2"/>
              <a:buNone/>
            </a:pPr>
            <a:r>
              <a:rPr lang="zh-CN" altLang="en-US" b="1" dirty="0"/>
              <a:t>研究目标：</a:t>
            </a:r>
            <a:br>
              <a:rPr lang="zh-CN" altLang="en-US" dirty="0"/>
            </a:br>
            <a:r>
              <a:rPr lang="en-US" altLang="zh-CN" sz="1200" dirty="0" err="1">
                <a:latin typeface="微软雅黑" panose="020B0503020204020204" pitchFamily="34" charset="-122"/>
                <a:ea typeface="微软雅黑" panose="020B0503020204020204" pitchFamily="34" charset="-122"/>
              </a:rPr>
              <a:t>提高</a:t>
            </a:r>
            <a:r>
              <a:rPr lang="en-US" altLang="zh-CN" sz="1200" b="1" dirty="0" err="1">
                <a:solidFill>
                  <a:srgbClr val="365AF9"/>
                </a:solidFill>
                <a:latin typeface="微软雅黑" panose="020B0503020204020204" pitchFamily="34" charset="-122"/>
                <a:ea typeface="微软雅黑" panose="020B0503020204020204" pitchFamily="34" charset="-122"/>
              </a:rPr>
              <a:t>非预期接触</a:t>
            </a:r>
            <a:r>
              <a:rPr lang="en-US" altLang="zh-CN" sz="1200" dirty="0" err="1">
                <a:latin typeface="微软雅黑" panose="020B0503020204020204" pitchFamily="34" charset="-122"/>
                <a:ea typeface="微软雅黑" panose="020B0503020204020204" pitchFamily="34" charset="-122"/>
              </a:rPr>
              <a:t>检测可靠性，同时降低</a:t>
            </a:r>
            <a:r>
              <a:rPr lang="en-US" altLang="zh-CN" sz="1200" b="1" dirty="0" err="1">
                <a:solidFill>
                  <a:srgbClr val="FF0000"/>
                </a:solidFill>
                <a:latin typeface="微软雅黑" panose="020B0503020204020204" pitchFamily="34" charset="-122"/>
                <a:ea typeface="微软雅黑" panose="020B0503020204020204" pitchFamily="34" charset="-122"/>
              </a:rPr>
              <a:t>正常末端作业接触</a:t>
            </a:r>
            <a:r>
              <a:rPr lang="en-US" altLang="zh-CN" sz="1200" dirty="0" err="1">
                <a:latin typeface="微软雅黑" panose="020B0503020204020204" pitchFamily="34" charset="-122"/>
                <a:ea typeface="微软雅黑" panose="020B0503020204020204" pitchFamily="34" charset="-122"/>
              </a:rPr>
              <a:t>造成的误报</a:t>
            </a:r>
            <a:endParaRPr lang="en-US" altLang="zh-CN" sz="1200" dirty="0">
              <a:latin typeface="微软雅黑" panose="020B0503020204020204" pitchFamily="34" charset="-122"/>
              <a:ea typeface="微软雅黑" panose="020B0503020204020204" pitchFamily="34" charset="-122"/>
            </a:endParaRPr>
          </a:p>
          <a:p>
            <a:endParaRPr lang="zh-CN" altLang="en-US" dirty="0"/>
          </a:p>
        </p:txBody>
      </p:sp>
      <p:sp>
        <p:nvSpPr>
          <p:cNvPr id="7172" name="灯片编号占位符 3">
            <a:extLst>
              <a:ext uri="{FF2B5EF4-FFF2-40B4-BE49-F238E27FC236}">
                <a16:creationId xmlns:a16="http://schemas.microsoft.com/office/drawing/2014/main" id="{066AF318-E958-AC3B-32EB-9D863A4647EB}"/>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9</a:t>
            </a:fld>
            <a:endParaRPr lang="en-US" altLang="zh-CN" sz="1200"/>
          </a:p>
        </p:txBody>
      </p:sp>
    </p:spTree>
    <p:extLst>
      <p:ext uri="{BB962C8B-B14F-4D97-AF65-F5344CB8AC3E}">
        <p14:creationId xmlns:p14="http://schemas.microsoft.com/office/powerpoint/2010/main" val="2880995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348A2-E257-ABD5-ADB4-D25B30EB228E}"/>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DCCB873C-CCB4-116A-A922-E99ED8B60C2D}"/>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36A7BBBB-D288-481F-5E52-43B95D05D9E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我将从以上三个部分进行汇报，首先是研究背景与意义。</a:t>
            </a:r>
          </a:p>
        </p:txBody>
      </p:sp>
      <p:sp>
        <p:nvSpPr>
          <p:cNvPr id="7172" name="灯片编号占位符 3">
            <a:extLst>
              <a:ext uri="{FF2B5EF4-FFF2-40B4-BE49-F238E27FC236}">
                <a16:creationId xmlns:a16="http://schemas.microsoft.com/office/drawing/2014/main" id="{90F6081C-0D7C-4862-C26E-894A179CC63B}"/>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10</a:t>
            </a:fld>
            <a:endParaRPr lang="en-US" altLang="zh-CN" sz="1200"/>
          </a:p>
        </p:txBody>
      </p:sp>
    </p:spTree>
    <p:extLst>
      <p:ext uri="{BB962C8B-B14F-4D97-AF65-F5344CB8AC3E}">
        <p14:creationId xmlns:p14="http://schemas.microsoft.com/office/powerpoint/2010/main" val="3676382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AA344-9408-7CD2-C251-CBF3EFC18801}"/>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4F82EF37-E525-1ED1-910E-CC2D490B0991}"/>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355CCF5E-6BCB-7A7A-FA5E-9C7632A07D9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7172" name="灯片编号占位符 3">
            <a:extLst>
              <a:ext uri="{FF2B5EF4-FFF2-40B4-BE49-F238E27FC236}">
                <a16:creationId xmlns:a16="http://schemas.microsoft.com/office/drawing/2014/main" id="{D88A9717-E4AA-58D8-A659-F87194ED1A42}"/>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11</a:t>
            </a:fld>
            <a:endParaRPr lang="en-US" altLang="zh-CN" sz="1200"/>
          </a:p>
        </p:txBody>
      </p:sp>
    </p:spTree>
    <p:extLst>
      <p:ext uri="{BB962C8B-B14F-4D97-AF65-F5344CB8AC3E}">
        <p14:creationId xmlns:p14="http://schemas.microsoft.com/office/powerpoint/2010/main" val="1821332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95401-C99B-81D7-5999-2A0CABF49283}"/>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4FEE77C2-5D5B-D6F0-2D24-5020F31B28C6}"/>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A374D421-CFB4-78DB-4CB3-91F646B4BFC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7172" name="灯片编号占位符 3">
            <a:extLst>
              <a:ext uri="{FF2B5EF4-FFF2-40B4-BE49-F238E27FC236}">
                <a16:creationId xmlns:a16="http://schemas.microsoft.com/office/drawing/2014/main" id="{BE33CA64-5793-C69B-0CCB-F93E2A13DD22}"/>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12</a:t>
            </a:fld>
            <a:endParaRPr lang="en-US" altLang="zh-CN" sz="1200"/>
          </a:p>
        </p:txBody>
      </p:sp>
    </p:spTree>
    <p:extLst>
      <p:ext uri="{BB962C8B-B14F-4D97-AF65-F5344CB8AC3E}">
        <p14:creationId xmlns:p14="http://schemas.microsoft.com/office/powerpoint/2010/main" val="2998244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4A25F-7D72-E19F-A066-E3A664087785}"/>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740F7364-3F02-D394-0B8D-911D068137D1}"/>
              </a:ext>
            </a:extLst>
          </p:cNvPr>
          <p:cNvSpPr>
            <a:spLocks noGrp="1" noRot="1" noChangeAspect="1" noTextEdit="1"/>
          </p:cNvSpPr>
          <p:nvPr>
            <p:ph type="sldImg"/>
          </p:nvPr>
        </p:nvSpPr>
        <p:spPr/>
      </p:sp>
      <p:sp>
        <p:nvSpPr>
          <p:cNvPr id="7171" name="备注占位符 2">
            <a:extLst>
              <a:ext uri="{FF2B5EF4-FFF2-40B4-BE49-F238E27FC236}">
                <a16:creationId xmlns:a16="http://schemas.microsoft.com/office/drawing/2014/main" id="{69DF7169-F8A4-53BB-E002-79C3736AAF2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7172" name="灯片编号占位符 3">
            <a:extLst>
              <a:ext uri="{FF2B5EF4-FFF2-40B4-BE49-F238E27FC236}">
                <a16:creationId xmlns:a16="http://schemas.microsoft.com/office/drawing/2014/main" id="{BD301022-1ED9-9714-6C5B-F93200968F3B}"/>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7320F324-9791-4BF9-A7C3-08429EEC3E5C}" type="slidenum">
              <a:rPr lang="en-US" altLang="zh-CN" sz="1200"/>
              <a:t>13</a:t>
            </a:fld>
            <a:endParaRPr lang="en-US" altLang="zh-CN" sz="1200"/>
          </a:p>
        </p:txBody>
      </p:sp>
    </p:spTree>
    <p:extLst>
      <p:ext uri="{BB962C8B-B14F-4D97-AF65-F5344CB8AC3E}">
        <p14:creationId xmlns:p14="http://schemas.microsoft.com/office/powerpoint/2010/main" val="3781494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D0A0EE90-A930-43BF-AB20-7974577190FB}"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37BCBA92-6C79-4D98-8D6F-292AF476CCB7}"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915DAB77-5023-468F-9858-77C6E9A26B9A}"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7457BF1-657E-45E1-AB91-4D1132FB49DB}"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52634"/>
            <a:ext cx="7886700" cy="1500187"/>
          </a:xfrm>
        </p:spPr>
        <p:txBody>
          <a:bodyPr anchor="t"/>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3B389394-EEFF-4C6A-99AC-D65B7E43BA6B}"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DD49B149-6905-417E-9D14-0B20F365E87A}"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1D42450C-2311-4803-9042-31CB2A071F18}" type="datetime1">
              <a:rPr lang="zh-CN" altLang="en-US"/>
              <a:t>2026/4/28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68386C9F-78EB-46FE-B4CA-A28B12B69592}"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33845" y="2507551"/>
            <a:ext cx="3867150" cy="3680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2507551"/>
            <a:ext cx="3886201" cy="3680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
        <p:nvSpPr>
          <p:cNvPr id="7" name="Date Placeholder 3"/>
          <p:cNvSpPr>
            <a:spLocks noGrp="1"/>
          </p:cNvSpPr>
          <p:nvPr>
            <p:ph type="dt" sz="half" idx="10"/>
          </p:nvPr>
        </p:nvSpPr>
        <p:spPr/>
        <p:txBody>
          <a:bodyPr/>
          <a:lstStyle>
            <a:lvl1pPr>
              <a:defRPr/>
            </a:lvl1pPr>
          </a:lstStyle>
          <a:p>
            <a:pPr>
              <a:defRPr/>
            </a:pPr>
            <a:fld id="{809A5AEA-582F-4E3F-A9AD-10F89EE3E5FA}" type="datetime1">
              <a:rPr lang="zh-CN" altLang="en-US"/>
              <a:t>2026/4/28</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415EF39D-3E01-44CD-B5D6-F0A9339D09AF}"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A00A7944-D241-4959-A12F-F8B88D99B86A}" type="datetime1">
              <a:rPr lang="zh-CN" altLang="en-US"/>
              <a:t>2026/4/28</a:t>
            </a:fld>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54ADCDC1-4B9D-4D2D-928D-9E34DC27BD7A}"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0F2DB95-0A3E-452C-B6DD-30043852100A}" type="datetime1">
              <a:rPr lang="zh-CN" altLang="en-US"/>
              <a:t>2026/4/28</a:t>
            </a:fld>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E0A31703-46DC-49BC-857D-8D05D8B5BFF7}"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30936" y="2057399"/>
            <a:ext cx="2948940" cy="3810001"/>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9BBEED96-A77C-45E6-9DB8-2C843F66F97D}" type="datetime1">
              <a:rPr lang="zh-CN" altLang="en-US"/>
              <a:t>2026/4/28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24B663B2-142A-47BB-8EE5-BC8C904F5411}"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30936" y="2057400"/>
            <a:ext cx="2948940" cy="3810000"/>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6A60C19D-34BA-44FA-B39D-043D9CA8AED7}" type="datetime1">
              <a:rPr lang="zh-CN" altLang="en-US"/>
              <a:t>2026/4/28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42C82055-C988-4DE0-9D66-4DF7A727ACC2}"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DBC926B5-4F06-4002-A6E2-14CE50DB0B54}"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CF1007FA-A8FE-4EC5-ABED-8A9585FAA83C}"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lvl1pPr>
              <a:defRPr/>
            </a:lvl1pPr>
          </a:lstStyle>
          <a:p>
            <a:pPr>
              <a:defRPr/>
            </a:pPr>
            <a:fld id="{22348356-DA23-4C49-B64F-25F68B217AAE}"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BA3D367A-6336-4B50-B5D8-C81F14819888}" type="slidenum">
              <a:rPr lang="zh-CN" altLang="en-US"/>
              <a:t>‹#›</a:t>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D87E99F5-FD76-4AE2-B85F-F3741CBCD587}"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7361EDB1-4550-4332-A34E-A1F9A477FCDD}" type="slidenum">
              <a:rPr lang="zh-CN" altLang="en-US"/>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14584F5F-7011-415A-888B-57994019AED3}"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02306E09-0F08-4BE0-8DA2-B6A8905B4CB1}" type="slidenum">
              <a:rPr lang="zh-CN" altLang="en-US"/>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52634"/>
            <a:ext cx="7886700" cy="1500187"/>
          </a:xfrm>
        </p:spPr>
        <p:txBody>
          <a:bodyPr anchor="t"/>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5300DA8D-0327-4A17-AB4B-7833430E1E45}"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8A9FC9EB-C94C-451F-8052-A410C330FD43}" type="slidenum">
              <a:rPr lang="zh-CN" altLang="en-US"/>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30656424-601B-4319-B941-A66325B1964E}" type="datetime1">
              <a:rPr lang="zh-CN" altLang="en-US"/>
              <a:t>2026/4/28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6195FA0B-0EF0-46C5-BC57-C57DFB04459F}" type="slidenum">
              <a:rPr lang="zh-CN" altLang="en-US"/>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33845" y="2507551"/>
            <a:ext cx="3867150" cy="3680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2507551"/>
            <a:ext cx="3886201" cy="3680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
        <p:nvSpPr>
          <p:cNvPr id="7" name="Date Placeholder 3"/>
          <p:cNvSpPr>
            <a:spLocks noGrp="1"/>
          </p:cNvSpPr>
          <p:nvPr>
            <p:ph type="dt" sz="half" idx="10"/>
          </p:nvPr>
        </p:nvSpPr>
        <p:spPr/>
        <p:txBody>
          <a:bodyPr/>
          <a:lstStyle>
            <a:lvl1pPr>
              <a:defRPr/>
            </a:lvl1pPr>
          </a:lstStyle>
          <a:p>
            <a:pPr>
              <a:defRPr/>
            </a:pPr>
            <a:fld id="{57E676DB-D2ED-4CF3-88F8-BFEF91D59E4F}" type="datetime1">
              <a:rPr lang="zh-CN" altLang="en-US"/>
              <a:t>2026/4/28</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CCDCDE19-2717-40B2-9EFC-F8C1B6EB78A1}" type="slidenum">
              <a:rPr lang="zh-CN" altLang="en-US"/>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B578360F-454E-4E4C-B1A5-3F5D8CF6680F}" type="datetime1">
              <a:rPr lang="zh-CN" altLang="en-US"/>
              <a:t>2026/4/28</a:t>
            </a:fld>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9405A303-C70A-4AA3-8F66-3BE4FFCC7701}" type="slidenum">
              <a:rPr lang="zh-CN" altLang="en-US"/>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161F80C-751C-41AF-9F1A-EA0A939D3BAF}" type="datetime1">
              <a:rPr lang="zh-CN" altLang="en-US"/>
              <a:t>2026/4/28</a:t>
            </a:fld>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16670EA4-76ED-4462-B8E3-3AFB3D21E7A3}" type="slidenum">
              <a:rPr lang="zh-CN" altLang="en-US"/>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30936" y="2057399"/>
            <a:ext cx="2948940" cy="3810001"/>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FA8B31F4-F55D-429C-9B91-6B642EFB59F8}" type="datetime1">
              <a:rPr lang="zh-CN" altLang="en-US"/>
              <a:t>2026/4/28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D8581986-92E8-408A-AD85-76C8AED364CD}" type="slidenum">
              <a:rPr lang="zh-CN" altLang="en-US"/>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30936" y="2057400"/>
            <a:ext cx="2948940" cy="3810000"/>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3F257C19-9515-4CE9-B98F-3BD0A9F36FB5}" type="datetime1">
              <a:rPr lang="zh-CN" altLang="en-US"/>
              <a:t>2026/4/28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AECAD821-7511-44C6-A6D6-1F8F1E3D111F}" type="slidenum">
              <a:rPr lang="zh-CN" altLang="en-US"/>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024C69F-B6DB-4982-9E6A-09B998A19036}"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E97629CB-CEDE-40C4-A45E-CF3FF3747610}" type="slidenum">
              <a:rPr lang="zh-CN" altLang="en-US"/>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lvl1pPr>
              <a:defRPr/>
            </a:lvl1pPr>
          </a:lstStyle>
          <a:p>
            <a:pPr>
              <a:defRPr/>
            </a:pPr>
            <a:fld id="{684CF4F2-2198-44B0-A0C3-4FA563B29AF3}"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4986B6C4-62C5-44A9-B551-F0D846CC8B4F}" type="slidenum">
              <a:rPr lang="zh-CN" altLang="en-US"/>
              <a:t>‹#›</a:t>
            </a:fld>
            <a:endParaRPr lang="zh-CN" altLang="en-US"/>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FED8BD6A-E984-4C1B-BEE0-32DABF37320C}"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927D5F6C-BF7D-4591-B60E-212793572480}" type="slidenum">
              <a:rPr lang="zh-CN" altLang="en-US"/>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147B5240-BEED-4277-BA59-B5772C4D3A98}"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3663341F-C9F1-47E1-9306-1EAA27498688}" type="slidenum">
              <a:rPr lang="zh-CN" altLang="en-US"/>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52634"/>
            <a:ext cx="7886700" cy="1500187"/>
          </a:xfrm>
        </p:spPr>
        <p:txBody>
          <a:bodyPr anchor="t"/>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B86BAE41-9337-454B-A4F5-2F4D0005C057}"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8EE61C7A-8F5F-4C20-82B6-F70D274E09D2}" type="slidenum">
              <a:rPr lang="zh-CN" altLang="en-US"/>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EB2B6FAD-0DCF-4514-88BA-313208727B57}" type="datetime1">
              <a:rPr lang="zh-CN" altLang="en-US"/>
              <a:t>2026/4/28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D8D54772-4AC3-4398-B864-8C383D85D44E}" type="slidenum">
              <a:rPr lang="zh-CN" altLang="en-US"/>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33845" y="2507551"/>
            <a:ext cx="3867150" cy="3680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2507551"/>
            <a:ext cx="3886201" cy="3680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
        <p:nvSpPr>
          <p:cNvPr id="7" name="Date Placeholder 3"/>
          <p:cNvSpPr>
            <a:spLocks noGrp="1"/>
          </p:cNvSpPr>
          <p:nvPr>
            <p:ph type="dt" sz="half" idx="10"/>
          </p:nvPr>
        </p:nvSpPr>
        <p:spPr/>
        <p:txBody>
          <a:bodyPr/>
          <a:lstStyle>
            <a:lvl1pPr>
              <a:defRPr/>
            </a:lvl1pPr>
          </a:lstStyle>
          <a:p>
            <a:pPr>
              <a:defRPr/>
            </a:pPr>
            <a:fld id="{8B8D589E-DAEB-495A-B2B2-198A82D9093D}" type="datetime1">
              <a:rPr lang="zh-CN" altLang="en-US"/>
              <a:t>2026/4/28</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11099581-D604-4742-AB78-17EC026A96F7}" type="slidenum">
              <a:rPr lang="zh-CN" altLang="en-US"/>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79EE40E8-D9C9-4017-BE04-FEC5B44D6E58}" type="datetime1">
              <a:rPr lang="zh-CN" altLang="en-US"/>
              <a:t>2026/4/28</a:t>
            </a:fld>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50D77CAD-B7C7-4BEF-B658-264ADCE91F15}" type="slidenum">
              <a:rPr lang="zh-CN" altLang="en-US"/>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CDB46D3-E118-45B1-AC76-36351D206893}" type="datetime1">
              <a:rPr lang="zh-CN" altLang="en-US"/>
              <a:t>2026/4/28</a:t>
            </a:fld>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23E59BEC-A643-4161-9279-38184E7FB78D}" type="slidenum">
              <a:rPr lang="zh-CN" altLang="en-US"/>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30936" y="2057399"/>
            <a:ext cx="2948940" cy="3810001"/>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C4719982-589A-4A82-BF86-2117C70CDCD3}" type="datetime1">
              <a:rPr lang="zh-CN" altLang="en-US"/>
              <a:t>2026/4/28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E09530D3-F6F5-407D-A0BB-5AA1C7BA7758}" type="slidenum">
              <a:rPr lang="zh-CN" altLang="en-US"/>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30936" y="2057400"/>
            <a:ext cx="2948940" cy="3810000"/>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3FDC83EC-476D-449D-A0E0-FCA6B803B3CB}" type="datetime1">
              <a:rPr lang="zh-CN" altLang="en-US"/>
              <a:t>2026/4/28</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485F15EE-7060-47B9-A85C-F4E6CED5D667}" type="slidenum">
              <a:rPr lang="zh-CN" altLang="en-US"/>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0D3A444D-5588-4B99-9D11-85A07C638868}"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AA3F3A77-BBA3-439F-B6EC-BE3E7DB454BF}" type="slidenum">
              <a:rPr lang="zh-CN" altLang="en-US"/>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lvl1pPr>
              <a:defRPr/>
            </a:lvl1pPr>
          </a:lstStyle>
          <a:p>
            <a:pPr>
              <a:defRPr/>
            </a:pPr>
            <a:fld id="{1A26A79C-402C-4385-B70B-DFE336F721DC}" type="datetime1">
              <a:rPr lang="zh-CN" altLang="en-US"/>
              <a:t>2026/4/28</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643C1E1-3E77-4E1D-BBDB-086D90748BCF}" type="slidenum">
              <a:rPr lang="zh-CN" altLang="en-US"/>
              <a:t>‹#›</a:t>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33413"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en-US"/>
          </a:p>
        </p:txBody>
      </p:sp>
      <p:sp>
        <p:nvSpPr>
          <p:cNvPr id="3" name="Text Placeholder 2"/>
          <p:cNvSpPr>
            <a:spLocks noGrp="1"/>
          </p:cNvSpPr>
          <p:nvPr>
            <p:ph type="body" idx="1"/>
          </p:nvPr>
        </p:nvSpPr>
        <p:spPr>
          <a:xfrm>
            <a:off x="633413" y="1828800"/>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825" smtClean="0">
                <a:solidFill>
                  <a:schemeClr val="tx1">
                    <a:lumMod val="65000"/>
                    <a:lumOff val="35000"/>
                  </a:schemeClr>
                </a:solidFill>
              </a:defRPr>
            </a:lvl1pPr>
          </a:lstStyle>
          <a:p>
            <a:pPr>
              <a:defRPr/>
            </a:pPr>
            <a:fld id="{248FFB37-6749-47C4-9047-CB0D7B5494F0}" type="datetime1">
              <a:rPr lang="zh-CN" altLang="en-US"/>
              <a:t>2026/4/28</a:t>
            </a:fld>
            <a:endParaRPr lang="zh-CN"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pPr>
              <a:defRPr/>
            </a:pPr>
            <a:endParaRPr lang="zh-CN" altLang="en-US"/>
          </a:p>
        </p:txBody>
      </p:sp>
      <p:sp>
        <p:nvSpPr>
          <p:cNvPr id="6" name="Slide Number Placeholder 5"/>
          <p:cNvSpPr>
            <a:spLocks noGrp="1"/>
          </p:cNvSpPr>
          <p:nvPr>
            <p:ph type="sldNum" sz="quarter" idx="4"/>
          </p:nvPr>
        </p:nvSpPr>
        <p:spPr>
          <a:xfrm>
            <a:off x="6462713" y="6356350"/>
            <a:ext cx="2057400" cy="365125"/>
          </a:xfrm>
          <a:prstGeom prst="rect">
            <a:avLst/>
          </a:prstGeom>
        </p:spPr>
        <p:txBody>
          <a:bodyPr vert="horz" lIns="91440" tIns="45720" rIns="91440" bIns="45720" rtlCol="0" anchor="ctr"/>
          <a:lstStyle>
            <a:lvl1pPr algn="r">
              <a:defRPr sz="825" smtClean="0">
                <a:solidFill>
                  <a:schemeClr val="tx1">
                    <a:tint val="75000"/>
                  </a:schemeClr>
                </a:solidFill>
              </a:defRPr>
            </a:lvl1pPr>
          </a:lstStyle>
          <a:p>
            <a:pPr>
              <a:defRPr/>
            </a:pPr>
            <a:fld id="{361CADFD-ACC5-4D78-BD5B-B6ECCEFB5A64}"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fontAlgn="base">
        <a:lnSpc>
          <a:spcPct val="90000"/>
        </a:lnSpc>
        <a:spcBef>
          <a:spcPts val="750"/>
        </a:spcBef>
        <a:spcAft>
          <a:spcPct val="0"/>
        </a:spcAft>
        <a:buFont typeface="Wingdings 2" panose="05020102010507070707" pitchFamily="18" charset="2"/>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Wingdings 2" panose="05020102010507070707" pitchFamily="18" charset="2"/>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Wingdings 2" panose="05020102010507070707" pitchFamily="18" charset="2"/>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5pPr>
      <a:lvl6pPr marL="18859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33413"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en-US"/>
          </a:p>
        </p:txBody>
      </p:sp>
      <p:sp>
        <p:nvSpPr>
          <p:cNvPr id="3" name="Text Placeholder 2"/>
          <p:cNvSpPr>
            <a:spLocks noGrp="1"/>
          </p:cNvSpPr>
          <p:nvPr>
            <p:ph type="body" idx="1"/>
          </p:nvPr>
        </p:nvSpPr>
        <p:spPr>
          <a:xfrm>
            <a:off x="633413" y="1828800"/>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825" smtClean="0">
                <a:solidFill>
                  <a:schemeClr val="tx1">
                    <a:lumMod val="65000"/>
                    <a:lumOff val="35000"/>
                  </a:schemeClr>
                </a:solidFill>
              </a:defRPr>
            </a:lvl1pPr>
          </a:lstStyle>
          <a:p>
            <a:pPr>
              <a:defRPr/>
            </a:pPr>
            <a:fld id="{A3A38DF4-E3CB-45A7-8C42-EB95A11AC481}" type="datetime1">
              <a:rPr lang="zh-CN" altLang="en-US"/>
              <a:t>2026/4/28</a:t>
            </a:fld>
            <a:endParaRPr lang="zh-CN"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pPr>
              <a:defRPr/>
            </a:pPr>
            <a:endParaRPr lang="zh-CN" altLang="en-US"/>
          </a:p>
        </p:txBody>
      </p:sp>
      <p:sp>
        <p:nvSpPr>
          <p:cNvPr id="6" name="Slide Number Placeholder 5"/>
          <p:cNvSpPr>
            <a:spLocks noGrp="1"/>
          </p:cNvSpPr>
          <p:nvPr>
            <p:ph type="sldNum" sz="quarter" idx="4"/>
          </p:nvPr>
        </p:nvSpPr>
        <p:spPr>
          <a:xfrm>
            <a:off x="6462713" y="6356350"/>
            <a:ext cx="2057400" cy="365125"/>
          </a:xfrm>
          <a:prstGeom prst="rect">
            <a:avLst/>
          </a:prstGeom>
        </p:spPr>
        <p:txBody>
          <a:bodyPr vert="horz" lIns="91440" tIns="45720" rIns="91440" bIns="45720" rtlCol="0" anchor="ctr"/>
          <a:lstStyle>
            <a:lvl1pPr algn="r">
              <a:defRPr sz="825" smtClean="0">
                <a:solidFill>
                  <a:schemeClr val="tx1">
                    <a:tint val="75000"/>
                  </a:schemeClr>
                </a:solidFill>
              </a:defRPr>
            </a:lvl1pPr>
          </a:lstStyle>
          <a:p>
            <a:pPr>
              <a:defRPr/>
            </a:pPr>
            <a:fld id="{13A629BE-46AA-40D1-A802-DC9FEEAF0B20}"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fontAlgn="base">
        <a:lnSpc>
          <a:spcPct val="90000"/>
        </a:lnSpc>
        <a:spcBef>
          <a:spcPts val="750"/>
        </a:spcBef>
        <a:spcAft>
          <a:spcPct val="0"/>
        </a:spcAft>
        <a:buFont typeface="Wingdings 2" panose="05020102010507070707" pitchFamily="18" charset="2"/>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Wingdings 2" panose="05020102010507070707" pitchFamily="18" charset="2"/>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Wingdings 2" panose="05020102010507070707" pitchFamily="18" charset="2"/>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5pPr>
      <a:lvl6pPr marL="18859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633413"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en-US"/>
          </a:p>
        </p:txBody>
      </p:sp>
      <p:sp>
        <p:nvSpPr>
          <p:cNvPr id="3" name="Text Placeholder 2"/>
          <p:cNvSpPr>
            <a:spLocks noGrp="1"/>
          </p:cNvSpPr>
          <p:nvPr>
            <p:ph type="body" idx="1"/>
          </p:nvPr>
        </p:nvSpPr>
        <p:spPr>
          <a:xfrm>
            <a:off x="633413" y="1828800"/>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825" smtClean="0">
                <a:solidFill>
                  <a:schemeClr val="tx1">
                    <a:lumMod val="65000"/>
                    <a:lumOff val="35000"/>
                  </a:schemeClr>
                </a:solidFill>
              </a:defRPr>
            </a:lvl1pPr>
          </a:lstStyle>
          <a:p>
            <a:pPr>
              <a:defRPr/>
            </a:pPr>
            <a:fld id="{FF408647-B16E-442A-B049-33E59624F364}" type="datetime1">
              <a:rPr lang="zh-CN" altLang="en-US"/>
              <a:t>2026/4/28</a:t>
            </a:fld>
            <a:endParaRPr lang="zh-CN"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pPr>
              <a:defRPr/>
            </a:pPr>
            <a:endParaRPr lang="zh-CN" altLang="en-US"/>
          </a:p>
        </p:txBody>
      </p:sp>
      <p:sp>
        <p:nvSpPr>
          <p:cNvPr id="6" name="Slide Number Placeholder 5"/>
          <p:cNvSpPr>
            <a:spLocks noGrp="1"/>
          </p:cNvSpPr>
          <p:nvPr>
            <p:ph type="sldNum" sz="quarter" idx="4"/>
          </p:nvPr>
        </p:nvSpPr>
        <p:spPr>
          <a:xfrm>
            <a:off x="6462713" y="6356350"/>
            <a:ext cx="2057400" cy="365125"/>
          </a:xfrm>
          <a:prstGeom prst="rect">
            <a:avLst/>
          </a:prstGeom>
        </p:spPr>
        <p:txBody>
          <a:bodyPr vert="horz" lIns="91440" tIns="45720" rIns="91440" bIns="45720" rtlCol="0" anchor="ctr"/>
          <a:lstStyle>
            <a:lvl1pPr algn="r">
              <a:defRPr sz="825" smtClean="0">
                <a:solidFill>
                  <a:schemeClr val="tx1">
                    <a:tint val="75000"/>
                  </a:schemeClr>
                </a:solidFill>
              </a:defRPr>
            </a:lvl1pPr>
          </a:lstStyle>
          <a:p>
            <a:pPr>
              <a:defRPr/>
            </a:pPr>
            <a:fld id="{E8F43FCB-419B-4BE7-A9FF-96DB5D331894}"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fontAlgn="base">
        <a:lnSpc>
          <a:spcPct val="90000"/>
        </a:lnSpc>
        <a:spcBef>
          <a:spcPts val="750"/>
        </a:spcBef>
        <a:spcAft>
          <a:spcPct val="0"/>
        </a:spcAft>
        <a:buFont typeface="Wingdings 2" panose="05020102010507070707" pitchFamily="18" charset="2"/>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Wingdings 2" panose="05020102010507070707" pitchFamily="18" charset="2"/>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Wingdings 2" panose="05020102010507070707" pitchFamily="18" charset="2"/>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5pPr>
      <a:lvl6pPr marL="18859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9.xml"/><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6DF07-83D7-A8C1-48B8-462683FC3FE1}"/>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7EE00FBB-A936-02BD-B99C-6235DF0120B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1A2162D2-E19A-0E27-91AB-844D54FD79C1}"/>
              </a:ext>
            </a:extLst>
          </p:cNvPr>
          <p:cNvSpPr>
            <a:spLocks noChangeArrowheads="1"/>
          </p:cNvSpPr>
          <p:nvPr/>
        </p:nvSpPr>
        <p:spPr bwMode="auto">
          <a:xfrm>
            <a:off x="187899" y="3044971"/>
            <a:ext cx="87763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19" name="文本框 18">
            <a:extLst>
              <a:ext uri="{FF2B5EF4-FFF2-40B4-BE49-F238E27FC236}">
                <a16:creationId xmlns:a16="http://schemas.microsoft.com/office/drawing/2014/main" id="{EBC70A30-592A-0E5A-6A6A-AA05F64CFDB1}"/>
              </a:ext>
            </a:extLst>
          </p:cNvPr>
          <p:cNvSpPr txBox="1"/>
          <p:nvPr/>
        </p:nvSpPr>
        <p:spPr>
          <a:xfrm>
            <a:off x="3803213" y="4059171"/>
            <a:ext cx="2158761" cy="830997"/>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defRPr/>
            </a:pPr>
            <a:r>
              <a:rPr lang="zh-CN" altLang="en-US" sz="2400" dirty="0">
                <a:solidFill>
                  <a:prstClr val="white"/>
                </a:solidFill>
                <a:latin typeface="宋体" panose="02010600030101010101" pitchFamily="2" charset="-122"/>
                <a:ea typeface="宋体" panose="02010600030101010101" pitchFamily="2" charset="-122"/>
              </a:rPr>
              <a:t>张世杰</a:t>
            </a:r>
            <a:endParaRPr lang="en-US" altLang="zh-CN" sz="2400" dirty="0">
              <a:solidFill>
                <a:prstClr val="white"/>
              </a:solidFill>
              <a:latin typeface="宋体" panose="02010600030101010101" pitchFamily="2" charset="-122"/>
              <a:ea typeface="宋体" panose="02010600030101010101" pitchFamily="2" charset="-122"/>
            </a:endParaRPr>
          </a:p>
          <a:p>
            <a:pPr marR="0" lvl="0" algn="l" defTabSz="914400" rtl="0" eaLnBrk="1" fontAlgn="auto" latinLnBrk="0" hangingPunct="1">
              <a:lnSpc>
                <a:spcPct val="100000"/>
              </a:lnSpc>
              <a:spcBef>
                <a:spcPts val="0"/>
              </a:spcBef>
              <a:spcAft>
                <a:spcPts val="0"/>
              </a:spcAft>
              <a:buClrTx/>
              <a:buSzTx/>
              <a:defRPr/>
            </a:pPr>
            <a:r>
              <a:rPr lang="en-US" altLang="zh-CN" sz="240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2025.04.13</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E56407CB-B960-C248-D54A-93A7FB9CCAE9}"/>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E0F1F8D5-ABAC-B79D-4F24-102F1462DBC7}"/>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81E7FD5-3240-D230-E139-9F2890C265B7}"/>
              </a:ext>
            </a:extLst>
          </p:cNvPr>
          <p:cNvSpPr txBox="1"/>
          <p:nvPr/>
        </p:nvSpPr>
        <p:spPr>
          <a:xfrm>
            <a:off x="1633538" y="404813"/>
            <a:ext cx="5876924" cy="46166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400" b="1" dirty="0">
                <a:solidFill>
                  <a:prstClr val="black">
                    <a:lumMod val="85000"/>
                    <a:lumOff val="15000"/>
                  </a:prstClr>
                </a:solidFill>
                <a:latin typeface="微软雅黑" panose="020B0503020204020204" pitchFamily="34" charset="-122"/>
                <a:ea typeface="微软雅黑" panose="020B0503020204020204" pitchFamily="34" charset="-122"/>
              </a:rPr>
              <a:t>开题答辩</a:t>
            </a:r>
            <a:endPar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 圆角 6">
            <a:extLst>
              <a:ext uri="{FF2B5EF4-FFF2-40B4-BE49-F238E27FC236}">
                <a16:creationId xmlns:a16="http://schemas.microsoft.com/office/drawing/2014/main" id="{A92B143C-B920-A4E8-C31D-E2863B32A8D3}"/>
              </a:ext>
            </a:extLst>
          </p:cNvPr>
          <p:cNvSpPr/>
          <p:nvPr/>
        </p:nvSpPr>
        <p:spPr>
          <a:xfrm>
            <a:off x="552752" y="1536724"/>
            <a:ext cx="8038496" cy="246888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30C9D8C3-1D23-2DED-62BE-8F698D7464A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135" y="2074491"/>
            <a:ext cx="1393345" cy="1393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标题 1">
            <a:extLst>
              <a:ext uri="{FF2B5EF4-FFF2-40B4-BE49-F238E27FC236}">
                <a16:creationId xmlns:a16="http://schemas.microsoft.com/office/drawing/2014/main" id="{DBEB345A-24D6-B51D-61A3-CC8DC029F201}"/>
              </a:ext>
            </a:extLst>
          </p:cNvPr>
          <p:cNvSpPr txBox="1">
            <a:spLocks/>
          </p:cNvSpPr>
          <p:nvPr/>
        </p:nvSpPr>
        <p:spPr>
          <a:xfrm>
            <a:off x="2462863" y="2286881"/>
            <a:ext cx="5721109" cy="110844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600" b="1" kern="1200">
                <a:solidFill>
                  <a:schemeClr val="bg1"/>
                </a:solidFill>
                <a:latin typeface="+mn-ea"/>
                <a:ea typeface="+mn-ea"/>
                <a:cs typeface="+mj-cs"/>
              </a:defRPr>
            </a:lvl1pPr>
          </a:lstStyle>
          <a:p>
            <a:pPr>
              <a:lnSpc>
                <a:spcPct val="100000"/>
              </a:lnSpc>
            </a:pPr>
            <a:r>
              <a:rPr lang="zh-CN" altLang="en-US" sz="3200" dirty="0">
                <a:latin typeface="微软雅黑" panose="020B0503020204020204" pitchFamily="34" charset="-122"/>
                <a:ea typeface="微软雅黑" panose="020B0503020204020204" pitchFamily="34" charset="-122"/>
              </a:rPr>
              <a:t>冗余机械臂柔顺控制与安全交互研究</a:t>
            </a:r>
          </a:p>
        </p:txBody>
      </p:sp>
      <p:sp>
        <p:nvSpPr>
          <p:cNvPr id="18" name="文本框 17">
            <a:extLst>
              <a:ext uri="{FF2B5EF4-FFF2-40B4-BE49-F238E27FC236}">
                <a16:creationId xmlns:a16="http://schemas.microsoft.com/office/drawing/2014/main" id="{828E3790-3E2E-2128-603A-453E535941CA}"/>
              </a:ext>
            </a:extLst>
          </p:cNvPr>
          <p:cNvSpPr txBox="1"/>
          <p:nvPr/>
        </p:nvSpPr>
        <p:spPr>
          <a:xfrm>
            <a:off x="2560321" y="4324423"/>
            <a:ext cx="4023359" cy="1689052"/>
          </a:xfrm>
          <a:prstGeom prst="rect">
            <a:avLst/>
          </a:prstGeom>
          <a:noFill/>
        </p:spPr>
        <p:txBody>
          <a:bodyPr wrap="square" rtlCol="0">
            <a:spAutoFit/>
          </a:bodyPr>
          <a:lstStyle/>
          <a:p>
            <a:pPr algn="ctr" eaLnBrk="1" fontAlgn="auto" hangingPunct="1">
              <a:lnSpc>
                <a:spcPct val="150000"/>
              </a:lnSpc>
              <a:spcBef>
                <a:spcPts val="0"/>
              </a:spcBef>
              <a:spcAft>
                <a:spcPts val="0"/>
              </a:spcAft>
            </a:pPr>
            <a:r>
              <a:rPr lang="zh-CN" altLang="en-US" sz="2400" dirty="0">
                <a:solidFill>
                  <a:prstClr val="black"/>
                </a:solidFill>
                <a:latin typeface="微软雅黑" panose="020B0503020204020204" pitchFamily="34" charset="-122"/>
                <a:ea typeface="微软雅黑" panose="020B0503020204020204" pitchFamily="34" charset="-122"/>
              </a:rPr>
              <a:t>汇报人：张世杰 </a:t>
            </a:r>
            <a:endParaRPr lang="en-US" altLang="zh-CN" sz="2400" dirty="0">
              <a:solidFill>
                <a:prstClr val="black"/>
              </a:solidFill>
              <a:latin typeface="微软雅黑" panose="020B0503020204020204" pitchFamily="34" charset="-122"/>
              <a:ea typeface="微软雅黑" panose="020B0503020204020204" pitchFamily="34" charset="-122"/>
            </a:endParaRPr>
          </a:p>
          <a:p>
            <a:pPr algn="ctr" eaLnBrk="1" fontAlgn="auto" hangingPunct="1">
              <a:lnSpc>
                <a:spcPct val="150000"/>
              </a:lnSpc>
              <a:spcBef>
                <a:spcPts val="0"/>
              </a:spcBef>
              <a:spcAft>
                <a:spcPts val="0"/>
              </a:spcAft>
            </a:pPr>
            <a:r>
              <a:rPr lang="zh-CN" altLang="en-US" sz="2400" dirty="0">
                <a:solidFill>
                  <a:prstClr val="black"/>
                </a:solidFill>
                <a:latin typeface="微软雅黑" panose="020B0503020204020204" pitchFamily="34" charset="-122"/>
                <a:ea typeface="微软雅黑" panose="020B0503020204020204" pitchFamily="34" charset="-122"/>
              </a:rPr>
              <a:t>指导老师：杨超</a:t>
            </a:r>
            <a:endParaRPr lang="en-US" altLang="zh-CN" sz="2400" dirty="0">
              <a:solidFill>
                <a:prstClr val="black"/>
              </a:solidFill>
              <a:latin typeface="微软雅黑" panose="020B0503020204020204" pitchFamily="34" charset="-122"/>
              <a:ea typeface="微软雅黑" panose="020B0503020204020204" pitchFamily="34" charset="-122"/>
            </a:endParaRPr>
          </a:p>
          <a:p>
            <a:pPr algn="ctr" eaLnBrk="1" fontAlgn="auto" hangingPunct="1">
              <a:lnSpc>
                <a:spcPct val="150000"/>
              </a:lnSpc>
              <a:spcBef>
                <a:spcPts val="0"/>
              </a:spcBef>
              <a:spcAft>
                <a:spcPts val="0"/>
              </a:spcAft>
            </a:pPr>
            <a:r>
              <a:rPr lang="zh-CN" altLang="en-US" sz="2400" dirty="0">
                <a:solidFill>
                  <a:prstClr val="black"/>
                </a:solidFill>
                <a:latin typeface="微软雅黑" panose="020B0503020204020204" pitchFamily="34" charset="-122"/>
                <a:ea typeface="微软雅黑" panose="020B0503020204020204" pitchFamily="34" charset="-122"/>
              </a:rPr>
              <a:t>学科专业：控制工程</a:t>
            </a:r>
          </a:p>
        </p:txBody>
      </p:sp>
      <p:sp>
        <p:nvSpPr>
          <p:cNvPr id="21" name="矩形 20">
            <a:extLst>
              <a:ext uri="{FF2B5EF4-FFF2-40B4-BE49-F238E27FC236}">
                <a16:creationId xmlns:a16="http://schemas.microsoft.com/office/drawing/2014/main" id="{8F778229-0757-9D37-5B06-EB1577907C92}"/>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1/13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8BF1EE0E-193F-1CA0-F9F5-3F5E88AAF9B1}"/>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F3669815-C260-E986-15B8-C7BA5D2077CD}"/>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Tree>
    <p:extLst>
      <p:ext uri="{BB962C8B-B14F-4D97-AF65-F5344CB8AC3E}">
        <p14:creationId xmlns:p14="http://schemas.microsoft.com/office/powerpoint/2010/main" val="302247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59024-F115-2FD9-BB92-8B4740487FB9}"/>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1714856D-0B0D-5D5A-0EE7-9C8EC9F3819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AD736D1F-A635-F051-7298-3EDF67772E0C}"/>
              </a:ext>
            </a:extLst>
          </p:cNvPr>
          <p:cNvSpPr>
            <a:spLocks noChangeArrowheads="1"/>
          </p:cNvSpPr>
          <p:nvPr/>
        </p:nvSpPr>
        <p:spPr bwMode="auto">
          <a:xfrm>
            <a:off x="187899" y="3044971"/>
            <a:ext cx="87763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19" name="文本框 18">
            <a:extLst>
              <a:ext uri="{FF2B5EF4-FFF2-40B4-BE49-F238E27FC236}">
                <a16:creationId xmlns:a16="http://schemas.microsoft.com/office/drawing/2014/main" id="{B48023E5-039A-D8A1-89F5-570675D83AD9}"/>
              </a:ext>
            </a:extLst>
          </p:cNvPr>
          <p:cNvSpPr txBox="1"/>
          <p:nvPr/>
        </p:nvSpPr>
        <p:spPr>
          <a:xfrm>
            <a:off x="3803213" y="4059171"/>
            <a:ext cx="2158761" cy="830997"/>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defRPr/>
            </a:pPr>
            <a:r>
              <a:rPr lang="zh-CN" altLang="en-US" sz="2400" dirty="0">
                <a:solidFill>
                  <a:prstClr val="white"/>
                </a:solidFill>
                <a:latin typeface="宋体" panose="02010600030101010101" pitchFamily="2" charset="-122"/>
                <a:ea typeface="宋体" panose="02010600030101010101" pitchFamily="2" charset="-122"/>
              </a:rPr>
              <a:t>张世杰</a:t>
            </a:r>
            <a:endParaRPr lang="en-US" altLang="zh-CN" sz="2400" dirty="0">
              <a:solidFill>
                <a:prstClr val="white"/>
              </a:solidFill>
              <a:latin typeface="宋体" panose="02010600030101010101" pitchFamily="2" charset="-122"/>
              <a:ea typeface="宋体" panose="02010600030101010101" pitchFamily="2" charset="-122"/>
            </a:endParaRPr>
          </a:p>
          <a:p>
            <a:pPr marR="0" lvl="0" algn="l" defTabSz="914400" rtl="0" eaLnBrk="1" fontAlgn="auto" latinLnBrk="0" hangingPunct="1">
              <a:lnSpc>
                <a:spcPct val="100000"/>
              </a:lnSpc>
              <a:spcBef>
                <a:spcPts val="0"/>
              </a:spcBef>
              <a:spcAft>
                <a:spcPts val="0"/>
              </a:spcAft>
              <a:buClrTx/>
              <a:buSzTx/>
              <a:defRPr/>
            </a:pPr>
            <a:r>
              <a:rPr lang="en-US" altLang="zh-CN" sz="240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2025.04.13</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7C2B56C3-53ED-0B27-D46D-CF9F3567172C}"/>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7BCB5222-6346-6320-6593-68DD7911BBFC}"/>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F451C06C-C259-58FA-754D-EFC396B848F5}"/>
              </a:ext>
            </a:extLst>
          </p:cNvPr>
          <p:cNvSpPr txBox="1"/>
          <p:nvPr/>
        </p:nvSpPr>
        <p:spPr>
          <a:xfrm>
            <a:off x="187899" y="402345"/>
            <a:ext cx="2024062" cy="4616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defRPr/>
            </a:pPr>
            <a:r>
              <a:rPr lang="zh-CN" altLang="en-US" sz="2400" b="1" dirty="0">
                <a:solidFill>
                  <a:srgbClr val="002060"/>
                </a:solidFill>
                <a:latin typeface="微软雅黑" panose="020B0503020204020204" pitchFamily="34" charset="-122"/>
                <a:ea typeface="微软雅黑" panose="020B0503020204020204" pitchFamily="34" charset="-122"/>
              </a:rPr>
              <a:t>目录</a:t>
            </a:r>
          </a:p>
        </p:txBody>
      </p:sp>
      <p:sp>
        <p:nvSpPr>
          <p:cNvPr id="11" name="标题 1">
            <a:extLst>
              <a:ext uri="{FF2B5EF4-FFF2-40B4-BE49-F238E27FC236}">
                <a16:creationId xmlns:a16="http://schemas.microsoft.com/office/drawing/2014/main" id="{C6E6B318-A9E9-5D51-FC9A-CB302EF779FA}"/>
              </a:ext>
            </a:extLst>
          </p:cNvPr>
          <p:cNvSpPr txBox="1">
            <a:spLocks/>
          </p:cNvSpPr>
          <p:nvPr/>
        </p:nvSpPr>
        <p:spPr>
          <a:xfrm>
            <a:off x="2462863" y="2548070"/>
            <a:ext cx="5721109" cy="5847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600" b="1" kern="1200">
                <a:solidFill>
                  <a:schemeClr val="bg1"/>
                </a:solidFill>
                <a:latin typeface="+mn-ea"/>
                <a:ea typeface="+mn-ea"/>
                <a:cs typeface="+mj-cs"/>
              </a:defRPr>
            </a:lvl1pPr>
          </a:lstStyle>
          <a:p>
            <a:pPr>
              <a:lnSpc>
                <a:spcPct val="100000"/>
              </a:lnSpc>
            </a:pPr>
            <a:r>
              <a:rPr lang="zh-CN" altLang="en-US" sz="4000" dirty="0">
                <a:latin typeface="微软雅黑" panose="020B0503020204020204" pitchFamily="34" charset="-122"/>
                <a:ea typeface="微软雅黑" panose="020B0503020204020204" pitchFamily="34" charset="-122"/>
              </a:rPr>
              <a:t>具身智能</a:t>
            </a:r>
            <a:r>
              <a:rPr lang="en-US" altLang="zh-CN" sz="4000" dirty="0">
                <a:latin typeface="微软雅黑" panose="020B0503020204020204" pitchFamily="34" charset="-122"/>
                <a:ea typeface="微软雅黑" panose="020B0503020204020204" pitchFamily="34" charset="-122"/>
              </a:rPr>
              <a:t>-</a:t>
            </a:r>
            <a:r>
              <a:rPr lang="zh-CN" altLang="en-US" sz="4000" dirty="0">
                <a:latin typeface="微软雅黑" panose="020B0503020204020204" pitchFamily="34" charset="-122"/>
                <a:ea typeface="微软雅黑" panose="020B0503020204020204" pitchFamily="34" charset="-122"/>
              </a:rPr>
              <a:t>运动控制开发</a:t>
            </a:r>
          </a:p>
        </p:txBody>
      </p:sp>
      <p:sp>
        <p:nvSpPr>
          <p:cNvPr id="21" name="矩形 20">
            <a:extLst>
              <a:ext uri="{FF2B5EF4-FFF2-40B4-BE49-F238E27FC236}">
                <a16:creationId xmlns:a16="http://schemas.microsoft.com/office/drawing/2014/main" id="{81EAC30E-2E77-6CDE-AF3E-EFDA16969015}"/>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2/13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9FA30257-0EBA-172E-6740-77D907F27ED0}"/>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842C247B-AA95-8B42-92C8-4354E369F4AB}"/>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2" name="文本框 1">
            <a:extLst>
              <a:ext uri="{FF2B5EF4-FFF2-40B4-BE49-F238E27FC236}">
                <a16:creationId xmlns:a16="http://schemas.microsoft.com/office/drawing/2014/main" id="{D64051B3-E272-F8E0-D050-AB5F684996F4}"/>
              </a:ext>
            </a:extLst>
          </p:cNvPr>
          <p:cNvSpPr txBox="1"/>
          <p:nvPr/>
        </p:nvSpPr>
        <p:spPr>
          <a:xfrm>
            <a:off x="728027" y="1123226"/>
            <a:ext cx="7455945" cy="5013039"/>
          </a:xfrm>
          <a:prstGeom prst="rect">
            <a:avLst/>
          </a:prstGeom>
          <a:noFill/>
        </p:spPr>
        <p:txBody>
          <a:bodyPr wrap="square" rtlCol="0">
            <a:spAutoFit/>
          </a:bodyPr>
          <a:lstStyle/>
          <a:p>
            <a:pPr marL="342900" indent="-342900">
              <a:lnSpc>
                <a:spcPct val="250000"/>
              </a:lnSpc>
              <a:buFont typeface="Wingdings" panose="05000000000000000000" pitchFamily="2" charset="2"/>
              <a:buChar char="n"/>
            </a:pPr>
            <a:r>
              <a:rPr lang="zh-CN" altLang="en-US" sz="2400" b="1" dirty="0">
                <a:solidFill>
                  <a:srgbClr val="002060"/>
                </a:solidFill>
                <a:latin typeface="微软雅黑" panose="020B0503020204020204" pitchFamily="34" charset="-122"/>
                <a:ea typeface="微软雅黑" panose="020B0503020204020204" pitchFamily="34" charset="-122"/>
              </a:rPr>
              <a:t>研究背景与意义</a:t>
            </a:r>
            <a:endParaRPr lang="en-US" altLang="zh-CN" sz="2400" b="1" dirty="0">
              <a:solidFill>
                <a:srgbClr val="002060"/>
              </a:solidFill>
              <a:latin typeface="微软雅黑" panose="020B0503020204020204" pitchFamily="34" charset="-122"/>
              <a:ea typeface="微软雅黑" panose="020B0503020204020204" pitchFamily="34" charset="-122"/>
            </a:endParaRPr>
          </a:p>
          <a:p>
            <a:pPr marL="342900" indent="-342900">
              <a:lnSpc>
                <a:spcPct val="250000"/>
              </a:lnSpc>
              <a:buFont typeface="Wingdings" panose="05000000000000000000" pitchFamily="2" charset="2"/>
              <a:buChar char="n"/>
            </a:pPr>
            <a:r>
              <a:rPr lang="zh-CN" altLang="en-US" sz="2400" b="1" dirty="0">
                <a:solidFill>
                  <a:srgbClr val="002060"/>
                </a:solidFill>
                <a:latin typeface="微软雅黑" panose="020B0503020204020204" pitchFamily="34" charset="-122"/>
                <a:ea typeface="微软雅黑" panose="020B0503020204020204" pitchFamily="34" charset="-122"/>
              </a:rPr>
              <a:t>研究目标与内容</a:t>
            </a:r>
            <a:endParaRPr lang="en-US" altLang="zh-CN" sz="2400" b="1" dirty="0">
              <a:solidFill>
                <a:srgbClr val="002060"/>
              </a:solidFill>
              <a:latin typeface="微软雅黑" panose="020B0503020204020204" pitchFamily="34" charset="-122"/>
              <a:ea typeface="微软雅黑" panose="020B0503020204020204" pitchFamily="34" charset="-122"/>
            </a:endParaRPr>
          </a:p>
          <a:p>
            <a:pPr marL="800100" lvl="1" indent="-342900">
              <a:lnSpc>
                <a:spcPct val="250000"/>
              </a:lnSpc>
              <a:buFont typeface="Wingdings" panose="05000000000000000000" pitchFamily="2" charset="2"/>
              <a:buChar char="n"/>
            </a:pPr>
            <a:r>
              <a:rPr lang="zh-CN" altLang="en-US" sz="2000" b="1" dirty="0">
                <a:solidFill>
                  <a:srgbClr val="002060"/>
                </a:solidFill>
                <a:latin typeface="微软雅黑" panose="020B0503020204020204" pitchFamily="34" charset="-122"/>
                <a:ea typeface="微软雅黑" panose="020B0503020204020204" pitchFamily="34" charset="-122"/>
              </a:rPr>
              <a:t>物理一致约束下的动力学参数辨识</a:t>
            </a:r>
            <a:endParaRPr lang="en-US" altLang="zh-CN" sz="2000" b="1" dirty="0">
              <a:solidFill>
                <a:srgbClr val="002060"/>
              </a:solidFill>
              <a:latin typeface="微软雅黑" panose="020B0503020204020204" pitchFamily="34" charset="-122"/>
              <a:ea typeface="微软雅黑" panose="020B0503020204020204" pitchFamily="34" charset="-122"/>
            </a:endParaRPr>
          </a:p>
          <a:p>
            <a:pPr marL="800100" lvl="1" indent="-342900">
              <a:lnSpc>
                <a:spcPct val="250000"/>
              </a:lnSpc>
              <a:buFont typeface="Wingdings" panose="05000000000000000000" pitchFamily="2" charset="2"/>
              <a:buChar char="n"/>
            </a:pPr>
            <a:r>
              <a:rPr lang="zh-CN" altLang="en-US" sz="2000" b="1" dirty="0">
                <a:solidFill>
                  <a:srgbClr val="002060"/>
                </a:solidFill>
                <a:latin typeface="微软雅黑" panose="020B0503020204020204" pitchFamily="34" charset="-122"/>
                <a:ea typeface="微软雅黑" panose="020B0503020204020204" pitchFamily="34" charset="-122"/>
              </a:rPr>
              <a:t>冗余机械臂分层阻抗控制</a:t>
            </a:r>
            <a:endParaRPr lang="en-US" altLang="zh-CN" sz="2000" b="1" dirty="0">
              <a:solidFill>
                <a:srgbClr val="002060"/>
              </a:solidFill>
              <a:latin typeface="微软雅黑" panose="020B0503020204020204" pitchFamily="34" charset="-122"/>
              <a:ea typeface="微软雅黑" panose="020B0503020204020204" pitchFamily="34" charset="-122"/>
            </a:endParaRPr>
          </a:p>
          <a:p>
            <a:pPr marL="800100" lvl="1" indent="-342900">
              <a:lnSpc>
                <a:spcPct val="250000"/>
              </a:lnSpc>
              <a:buFont typeface="Wingdings" panose="05000000000000000000" pitchFamily="2" charset="2"/>
              <a:buChar char="n"/>
            </a:pPr>
            <a:r>
              <a:rPr lang="zh-CN" altLang="en-US" sz="2000" b="1" dirty="0">
                <a:solidFill>
                  <a:srgbClr val="002060"/>
                </a:solidFill>
                <a:latin typeface="微软雅黑" panose="020B0503020204020204" pitchFamily="34" charset="-122"/>
                <a:ea typeface="微软雅黑" panose="020B0503020204020204" pitchFamily="34" charset="-122"/>
              </a:rPr>
              <a:t>碰撞检测与误报抑制</a:t>
            </a:r>
            <a:endParaRPr lang="en-US" altLang="zh-CN" sz="2000" b="1" dirty="0">
              <a:solidFill>
                <a:srgbClr val="002060"/>
              </a:solidFill>
              <a:latin typeface="微软雅黑" panose="020B0503020204020204" pitchFamily="34" charset="-122"/>
              <a:ea typeface="微软雅黑" panose="020B0503020204020204" pitchFamily="34" charset="-122"/>
            </a:endParaRPr>
          </a:p>
          <a:p>
            <a:pPr marL="342900" indent="-342900">
              <a:lnSpc>
                <a:spcPct val="250000"/>
              </a:lnSpc>
              <a:buFont typeface="Wingdings" panose="05000000000000000000" pitchFamily="2" charset="2"/>
              <a:buChar char="n"/>
            </a:pPr>
            <a:r>
              <a:rPr lang="zh-CN" altLang="en-US" sz="2400" b="1" dirty="0">
                <a:solidFill>
                  <a:srgbClr val="002060"/>
                </a:solidFill>
                <a:latin typeface="微软雅黑" panose="020B0503020204020204" pitchFamily="34" charset="-122"/>
                <a:ea typeface="微软雅黑" panose="020B0503020204020204" pitchFamily="34" charset="-122"/>
              </a:rPr>
              <a:t>预期成果与进度安排</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68462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79BBB-834B-6791-AA4E-D3F17399FD92}"/>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05E1338D-C254-CEF1-EE87-DF937FA4CD9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CAC4DD13-5931-EDAB-4E5A-64B044A32986}"/>
              </a:ext>
            </a:extLst>
          </p:cNvPr>
          <p:cNvSpPr>
            <a:spLocks noChangeArrowheads="1"/>
          </p:cNvSpPr>
          <p:nvPr/>
        </p:nvSpPr>
        <p:spPr bwMode="auto">
          <a:xfrm>
            <a:off x="187899" y="3044971"/>
            <a:ext cx="87763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19" name="文本框 18">
            <a:extLst>
              <a:ext uri="{FF2B5EF4-FFF2-40B4-BE49-F238E27FC236}">
                <a16:creationId xmlns:a16="http://schemas.microsoft.com/office/drawing/2014/main" id="{0B2AC4C1-6318-70FF-D5DF-BD18877738CE}"/>
              </a:ext>
            </a:extLst>
          </p:cNvPr>
          <p:cNvSpPr txBox="1"/>
          <p:nvPr/>
        </p:nvSpPr>
        <p:spPr>
          <a:xfrm>
            <a:off x="3803213" y="4059171"/>
            <a:ext cx="2158761" cy="830997"/>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defRPr/>
            </a:pPr>
            <a:r>
              <a:rPr lang="zh-CN" altLang="en-US" sz="2400" dirty="0">
                <a:solidFill>
                  <a:prstClr val="white"/>
                </a:solidFill>
                <a:latin typeface="宋体" panose="02010600030101010101" pitchFamily="2" charset="-122"/>
                <a:ea typeface="宋体" panose="02010600030101010101" pitchFamily="2" charset="-122"/>
              </a:rPr>
              <a:t>张世杰</a:t>
            </a:r>
            <a:endParaRPr lang="en-US" altLang="zh-CN" sz="2400" dirty="0">
              <a:solidFill>
                <a:prstClr val="white"/>
              </a:solidFill>
              <a:latin typeface="宋体" panose="02010600030101010101" pitchFamily="2" charset="-122"/>
              <a:ea typeface="宋体" panose="02010600030101010101" pitchFamily="2" charset="-122"/>
            </a:endParaRPr>
          </a:p>
          <a:p>
            <a:pPr marR="0" lvl="0" algn="l" defTabSz="914400" rtl="0" eaLnBrk="1" fontAlgn="auto" latinLnBrk="0" hangingPunct="1">
              <a:lnSpc>
                <a:spcPct val="100000"/>
              </a:lnSpc>
              <a:spcBef>
                <a:spcPts val="0"/>
              </a:spcBef>
              <a:spcAft>
                <a:spcPts val="0"/>
              </a:spcAft>
              <a:buClrTx/>
              <a:buSzTx/>
              <a:defRPr/>
            </a:pPr>
            <a:r>
              <a:rPr lang="en-US" altLang="zh-CN" sz="240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2025.04.13</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F42012F5-CA1E-1798-141C-B992FF4876E2}"/>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DD2F819F-BF1B-4A4D-8422-267727B4AAE2}"/>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8225948C-A6B0-F1FA-AC25-91D5BA0E9A66}"/>
              </a:ext>
            </a:extLst>
          </p:cNvPr>
          <p:cNvSpPr txBox="1"/>
          <p:nvPr/>
        </p:nvSpPr>
        <p:spPr>
          <a:xfrm>
            <a:off x="187898" y="402345"/>
            <a:ext cx="7847392" cy="830997"/>
          </a:xfrm>
          <a:prstGeom prst="rect">
            <a:avLst/>
          </a:prstGeom>
          <a:noFill/>
        </p:spPr>
        <p:txBody>
          <a:bodyPr wrap="square">
            <a:spAutoFit/>
          </a:bodyPr>
          <a:lstStyle/>
          <a:p>
            <a:pPr defTabSz="457200" eaLnBrk="1" fontAlgn="auto" hangingPunct="1">
              <a:spcBef>
                <a:spcPts val="0"/>
              </a:spcBef>
              <a:spcAft>
                <a:spcPts val="0"/>
              </a:spcAft>
              <a:defRPr/>
            </a:pPr>
            <a:r>
              <a:rPr lang="en-US" altLang="zh-CN" sz="2400" b="1" dirty="0" err="1">
                <a:solidFill>
                  <a:srgbClr val="002060"/>
                </a:solidFill>
                <a:latin typeface="微软雅黑" panose="020B0503020204020204" pitchFamily="34" charset="-122"/>
                <a:ea typeface="微软雅黑" panose="020B0503020204020204" pitchFamily="34" charset="-122"/>
              </a:rPr>
              <a:t>研究背景：协作机器人</a:t>
            </a:r>
            <a:r>
              <a:rPr lang="zh-CN" altLang="en-US" sz="2400" b="1" dirty="0">
                <a:solidFill>
                  <a:srgbClr val="002060"/>
                </a:solidFill>
                <a:latin typeface="微软雅黑" panose="020B0503020204020204" pitchFamily="34" charset="-122"/>
                <a:ea typeface="微软雅黑" panose="020B0503020204020204" pitchFamily="34" charset="-122"/>
              </a:rPr>
              <a:t>由</a:t>
            </a:r>
            <a:r>
              <a:rPr lang="en-US" altLang="zh-CN" sz="2400" b="1" dirty="0">
                <a:solidFill>
                  <a:srgbClr val="002060"/>
                </a:solidFill>
                <a:latin typeface="微软雅黑" panose="020B0503020204020204" pitchFamily="34" charset="-122"/>
                <a:ea typeface="微软雅黑" panose="020B0503020204020204" pitchFamily="34" charset="-122"/>
              </a:rPr>
              <a:t>“</a:t>
            </a:r>
            <a:r>
              <a:rPr lang="en-US" altLang="zh-CN" sz="2400" b="1" dirty="0" err="1">
                <a:solidFill>
                  <a:srgbClr val="002060"/>
                </a:solidFill>
                <a:latin typeface="微软雅黑" panose="020B0503020204020204" pitchFamily="34" charset="-122"/>
                <a:ea typeface="微软雅黑" panose="020B0503020204020204" pitchFamily="34" charset="-122"/>
              </a:rPr>
              <a:t>隔离作业”走向“共享空间</a:t>
            </a:r>
            <a:r>
              <a:rPr lang="en-US" altLang="zh-CN" sz="2400" b="1" dirty="0">
                <a:solidFill>
                  <a:srgbClr val="002060"/>
                </a:solidFill>
                <a:latin typeface="微软雅黑" panose="020B0503020204020204" pitchFamily="34" charset="-122"/>
                <a:ea typeface="微软雅黑" panose="020B0503020204020204" pitchFamily="34" charset="-122"/>
              </a:rPr>
              <a:t>”</a:t>
            </a:r>
          </a:p>
          <a:p>
            <a:pPr marL="0" marR="0" lvl="0" indent="0" defTabSz="457200" rtl="0" eaLnBrk="1" fontAlgn="auto" latinLnBrk="0" hangingPunct="1">
              <a:lnSpc>
                <a:spcPct val="100000"/>
              </a:lnSpc>
              <a:spcBef>
                <a:spcPts val="0"/>
              </a:spcBef>
              <a:spcAft>
                <a:spcPts val="0"/>
              </a:spcAft>
              <a:buClrTx/>
              <a:buSzTx/>
              <a:buFontTx/>
              <a:buNone/>
              <a:defRPr/>
            </a:pP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11" name="标题 1">
            <a:extLst>
              <a:ext uri="{FF2B5EF4-FFF2-40B4-BE49-F238E27FC236}">
                <a16:creationId xmlns:a16="http://schemas.microsoft.com/office/drawing/2014/main" id="{EE9D536D-A029-45DC-C08F-9810B2BB63E8}"/>
              </a:ext>
            </a:extLst>
          </p:cNvPr>
          <p:cNvSpPr txBox="1">
            <a:spLocks/>
          </p:cNvSpPr>
          <p:nvPr/>
        </p:nvSpPr>
        <p:spPr>
          <a:xfrm>
            <a:off x="2462863" y="2548070"/>
            <a:ext cx="5721109" cy="5847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600" b="1" kern="1200">
                <a:solidFill>
                  <a:schemeClr val="bg1"/>
                </a:solidFill>
                <a:latin typeface="+mn-ea"/>
                <a:ea typeface="+mn-ea"/>
                <a:cs typeface="+mj-cs"/>
              </a:defRPr>
            </a:lvl1pPr>
          </a:lstStyle>
          <a:p>
            <a:pPr>
              <a:lnSpc>
                <a:spcPct val="100000"/>
              </a:lnSpc>
            </a:pPr>
            <a:r>
              <a:rPr lang="zh-CN" altLang="en-US" sz="4000" dirty="0">
                <a:latin typeface="微软雅黑" panose="020B0503020204020204" pitchFamily="34" charset="-122"/>
                <a:ea typeface="微软雅黑" panose="020B0503020204020204" pitchFamily="34" charset="-122"/>
              </a:rPr>
              <a:t>具身智能</a:t>
            </a:r>
            <a:r>
              <a:rPr lang="en-US" altLang="zh-CN" sz="4000" dirty="0">
                <a:latin typeface="微软雅黑" panose="020B0503020204020204" pitchFamily="34" charset="-122"/>
                <a:ea typeface="微软雅黑" panose="020B0503020204020204" pitchFamily="34" charset="-122"/>
              </a:rPr>
              <a:t>-</a:t>
            </a:r>
            <a:r>
              <a:rPr lang="zh-CN" altLang="en-US" sz="4000" dirty="0">
                <a:latin typeface="微软雅黑" panose="020B0503020204020204" pitchFamily="34" charset="-122"/>
                <a:ea typeface="微软雅黑" panose="020B0503020204020204" pitchFamily="34" charset="-122"/>
              </a:rPr>
              <a:t>运动控制开发</a:t>
            </a:r>
          </a:p>
        </p:txBody>
      </p:sp>
      <p:sp>
        <p:nvSpPr>
          <p:cNvPr id="21" name="矩形 20">
            <a:extLst>
              <a:ext uri="{FF2B5EF4-FFF2-40B4-BE49-F238E27FC236}">
                <a16:creationId xmlns:a16="http://schemas.microsoft.com/office/drawing/2014/main" id="{BC8A1CB0-1980-1EDA-0A70-EC39293663A4}"/>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3/13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821B8B66-4CEB-3918-231C-41EBF6BDDE90}"/>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32BDA91F-9313-506F-2659-2BED40B092CE}"/>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5" name="文本框 4">
            <a:extLst>
              <a:ext uri="{FF2B5EF4-FFF2-40B4-BE49-F238E27FC236}">
                <a16:creationId xmlns:a16="http://schemas.microsoft.com/office/drawing/2014/main" id="{BE36E916-1A37-2F9E-4A74-7E87707BCE4B}"/>
              </a:ext>
            </a:extLst>
          </p:cNvPr>
          <p:cNvSpPr txBox="1"/>
          <p:nvPr/>
        </p:nvSpPr>
        <p:spPr bwMode="auto">
          <a:xfrm>
            <a:off x="187899" y="-57186"/>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1"/>
                </a:solidFill>
                <a:latin typeface="微软雅黑" panose="020B0503020204020204" pitchFamily="34" charset="-122"/>
                <a:ea typeface="微软雅黑" panose="020B0503020204020204" pitchFamily="34" charset="-122"/>
              </a:rPr>
              <a:t>研究背景与意义</a:t>
            </a:r>
          </a:p>
        </p:txBody>
      </p:sp>
      <p:sp>
        <p:nvSpPr>
          <p:cNvPr id="7" name="文本框 6">
            <a:extLst>
              <a:ext uri="{FF2B5EF4-FFF2-40B4-BE49-F238E27FC236}">
                <a16:creationId xmlns:a16="http://schemas.microsoft.com/office/drawing/2014/main" id="{01B6F5B9-D649-D23D-B5D5-03D56A59B3A0}"/>
              </a:ext>
            </a:extLst>
          </p:cNvPr>
          <p:cNvSpPr txBox="1"/>
          <p:nvPr/>
        </p:nvSpPr>
        <p:spPr bwMode="auto">
          <a:xfrm>
            <a:off x="3757797" y="-57187"/>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研究目标与内容</a:t>
            </a:r>
          </a:p>
        </p:txBody>
      </p:sp>
      <p:sp>
        <p:nvSpPr>
          <p:cNvPr id="9" name="文本框 8">
            <a:extLst>
              <a:ext uri="{FF2B5EF4-FFF2-40B4-BE49-F238E27FC236}">
                <a16:creationId xmlns:a16="http://schemas.microsoft.com/office/drawing/2014/main" id="{41611F70-4327-036A-A153-380D4AE6C3A9}"/>
              </a:ext>
            </a:extLst>
          </p:cNvPr>
          <p:cNvSpPr txBox="1"/>
          <p:nvPr/>
        </p:nvSpPr>
        <p:spPr>
          <a:xfrm>
            <a:off x="219767" y="937646"/>
            <a:ext cx="6363913" cy="499624"/>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en-US" altLang="zh-CN" sz="2000" b="1" dirty="0" err="1">
                <a:solidFill>
                  <a:srgbClr val="365AF9"/>
                </a:solidFill>
                <a:latin typeface="微软雅黑" panose="020B0503020204020204" pitchFamily="34" charset="-122"/>
                <a:ea typeface="微软雅黑" panose="020B0503020204020204" pitchFamily="34" charset="-122"/>
              </a:rPr>
              <a:t>接触作业</a:t>
            </a:r>
            <a:r>
              <a:rPr lang="en-US" altLang="zh-CN" sz="2000" dirty="0" err="1">
                <a:latin typeface="微软雅黑" panose="020B0503020204020204" pitchFamily="34" charset="-122"/>
                <a:ea typeface="微软雅黑" panose="020B0503020204020204" pitchFamily="34" charset="-122"/>
              </a:rPr>
              <a:t>要求控制系统兼顾</a:t>
            </a:r>
            <a:r>
              <a:rPr lang="en-US" altLang="zh-CN" sz="2000" b="1" dirty="0" err="1">
                <a:solidFill>
                  <a:srgbClr val="FF0000"/>
                </a:solidFill>
                <a:latin typeface="微软雅黑" panose="020B0503020204020204" pitchFamily="34" charset="-122"/>
                <a:ea typeface="微软雅黑" panose="020B0503020204020204" pitchFamily="34" charset="-122"/>
              </a:rPr>
              <a:t>精度</a:t>
            </a:r>
            <a:r>
              <a:rPr lang="en-US" altLang="zh-CN" sz="2000" dirty="0" err="1">
                <a:latin typeface="微软雅黑" panose="020B0503020204020204" pitchFamily="34" charset="-122"/>
                <a:ea typeface="微软雅黑" panose="020B0503020204020204" pitchFamily="34" charset="-122"/>
              </a:rPr>
              <a:t>、</a:t>
            </a:r>
            <a:r>
              <a:rPr lang="en-US" altLang="zh-CN" sz="2000" b="1" dirty="0" err="1">
                <a:solidFill>
                  <a:srgbClr val="FF0000"/>
                </a:solidFill>
                <a:latin typeface="微软雅黑" panose="020B0503020204020204" pitchFamily="34" charset="-122"/>
                <a:ea typeface="微软雅黑" panose="020B0503020204020204" pitchFamily="34" charset="-122"/>
              </a:rPr>
              <a:t>柔顺性</a:t>
            </a:r>
            <a:r>
              <a:rPr lang="en-US" altLang="zh-CN" sz="2000" dirty="0" err="1">
                <a:latin typeface="微软雅黑" panose="020B0503020204020204" pitchFamily="34" charset="-122"/>
                <a:ea typeface="微软雅黑" panose="020B0503020204020204" pitchFamily="34" charset="-122"/>
              </a:rPr>
              <a:t>与</a:t>
            </a:r>
            <a:r>
              <a:rPr lang="en-US" altLang="zh-CN" sz="2000" b="1" dirty="0" err="1">
                <a:solidFill>
                  <a:srgbClr val="FF0000"/>
                </a:solidFill>
                <a:latin typeface="微软雅黑" panose="020B0503020204020204" pitchFamily="34" charset="-122"/>
                <a:ea typeface="微软雅黑" panose="020B0503020204020204" pitchFamily="34" charset="-122"/>
              </a:rPr>
              <a:t>安全性</a:t>
            </a:r>
            <a:endParaRPr lang="zh-CN" altLang="en-US" sz="20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3D173FD7-59D7-C6F2-3AC9-8BD7BF4273AC}"/>
              </a:ext>
            </a:extLst>
          </p:cNvPr>
          <p:cNvSpPr txBox="1"/>
          <p:nvPr/>
        </p:nvSpPr>
        <p:spPr>
          <a:xfrm>
            <a:off x="738972" y="3510803"/>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国家发改委</a:t>
            </a:r>
          </a:p>
        </p:txBody>
      </p:sp>
      <p:sp>
        <p:nvSpPr>
          <p:cNvPr id="20" name="文本框 19">
            <a:extLst>
              <a:ext uri="{FF2B5EF4-FFF2-40B4-BE49-F238E27FC236}">
                <a16:creationId xmlns:a16="http://schemas.microsoft.com/office/drawing/2014/main" id="{95E3D005-EECD-FCE6-D5F6-4F89EEE18213}"/>
              </a:ext>
            </a:extLst>
          </p:cNvPr>
          <p:cNvSpPr txBox="1"/>
          <p:nvPr/>
        </p:nvSpPr>
        <p:spPr>
          <a:xfrm>
            <a:off x="5059391" y="3490576"/>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中国政府网</a:t>
            </a:r>
          </a:p>
        </p:txBody>
      </p:sp>
      <p:pic>
        <p:nvPicPr>
          <p:cNvPr id="28" name="Image 0" descr="/mnt/data/kuka_hrc_stage5.jpg">
            <a:extLst>
              <a:ext uri="{FF2B5EF4-FFF2-40B4-BE49-F238E27FC236}">
                <a16:creationId xmlns:a16="http://schemas.microsoft.com/office/drawing/2014/main" id="{80F073D9-F608-C581-64EF-4CABF4FA7F15}"/>
              </a:ext>
            </a:extLst>
          </p:cNvPr>
          <p:cNvPicPr>
            <a:picLocks/>
          </p:cNvPicPr>
          <p:nvPr/>
        </p:nvPicPr>
        <p:blipFill>
          <a:blip r:embed="rId3"/>
          <a:srcRect l="19561" r="19561"/>
          <a:stretch/>
        </p:blipFill>
        <p:spPr>
          <a:xfrm>
            <a:off x="219767" y="1660896"/>
            <a:ext cx="4607967" cy="4532630"/>
          </a:xfrm>
          <a:prstGeom prst="rect">
            <a:avLst/>
          </a:prstGeom>
        </p:spPr>
      </p:pic>
      <p:sp>
        <p:nvSpPr>
          <p:cNvPr id="31" name="Shape 17">
            <a:extLst>
              <a:ext uri="{FF2B5EF4-FFF2-40B4-BE49-F238E27FC236}">
                <a16:creationId xmlns:a16="http://schemas.microsoft.com/office/drawing/2014/main" id="{A8CE8A86-E91D-3FDF-AA9D-5FA7B0756133}"/>
              </a:ext>
            </a:extLst>
          </p:cNvPr>
          <p:cNvSpPr/>
          <p:nvPr/>
        </p:nvSpPr>
        <p:spPr>
          <a:xfrm>
            <a:off x="219767" y="5772511"/>
            <a:ext cx="4607967" cy="421016"/>
          </a:xfrm>
          <a:prstGeom prst="rect">
            <a:avLst/>
          </a:prstGeom>
          <a:solidFill>
            <a:srgbClr val="092846">
              <a:alpha val="82000"/>
            </a:srgbClr>
          </a:solidFill>
          <a:ln w="12700">
            <a:solidFill>
              <a:srgbClr val="092846">
                <a:alpha val="0"/>
              </a:srgbClr>
            </a:solidFill>
            <a:prstDash val="solid"/>
          </a:ln>
        </p:spPr>
        <p:txBody>
          <a:bodyPr/>
          <a:lstStyle/>
          <a:p>
            <a:endParaRPr/>
          </a:p>
        </p:txBody>
      </p:sp>
      <p:sp>
        <p:nvSpPr>
          <p:cNvPr id="34" name="Text 18">
            <a:extLst>
              <a:ext uri="{FF2B5EF4-FFF2-40B4-BE49-F238E27FC236}">
                <a16:creationId xmlns:a16="http://schemas.microsoft.com/office/drawing/2014/main" id="{FE4D2E70-4B4A-C2F1-AA25-5CB7CA402A01}"/>
              </a:ext>
            </a:extLst>
          </p:cNvPr>
          <p:cNvSpPr/>
          <p:nvPr/>
        </p:nvSpPr>
        <p:spPr>
          <a:xfrm>
            <a:off x="257435" y="5794531"/>
            <a:ext cx="4532630" cy="421016"/>
          </a:xfrm>
          <a:prstGeom prst="rect">
            <a:avLst/>
          </a:prstGeom>
          <a:noFill/>
          <a:ln/>
        </p:spPr>
        <p:txBody>
          <a:bodyPr wrap="square" lIns="0" tIns="0" rIns="0" bIns="0" rtlCol="0" anchor="ctr">
            <a:normAutofit/>
          </a:bodyPr>
          <a:lstStyle/>
          <a:p>
            <a:pPr marL="0" indent="0" algn="ctr">
              <a:buNone/>
            </a:pPr>
            <a:r>
              <a:rPr lang="en-US" sz="1400" dirty="0">
                <a:solidFill>
                  <a:srgbClr val="FFFFFF"/>
                </a:solidFill>
                <a:latin typeface="微软雅黑" panose="020B0503020204020204" pitchFamily="34" charset="-122"/>
                <a:ea typeface="微软雅黑" panose="020B0503020204020204" pitchFamily="34" charset="-122"/>
              </a:rPr>
              <a:t>人机共享工作空间：柔性装配 / </a:t>
            </a:r>
            <a:r>
              <a:rPr lang="en-US" sz="1400" dirty="0" err="1">
                <a:solidFill>
                  <a:srgbClr val="FFFFFF"/>
                </a:solidFill>
                <a:latin typeface="微软雅黑" panose="020B0503020204020204" pitchFamily="34" charset="-122"/>
                <a:ea typeface="微软雅黑" panose="020B0503020204020204" pitchFamily="34" charset="-122"/>
              </a:rPr>
              <a:t>协同搬运</a:t>
            </a:r>
            <a:r>
              <a:rPr lang="en-US" sz="1400" dirty="0">
                <a:solidFill>
                  <a:srgbClr val="FFFFFF"/>
                </a:solidFill>
                <a:latin typeface="微软雅黑" panose="020B0503020204020204" pitchFamily="34" charset="-122"/>
                <a:ea typeface="微软雅黑" panose="020B0503020204020204" pitchFamily="34" charset="-122"/>
              </a:rPr>
              <a:t> /</a:t>
            </a:r>
            <a:r>
              <a:rPr lang="en-US" altLang="zh-CN" sz="1400" dirty="0" err="1">
                <a:solidFill>
                  <a:srgbClr val="FFFFFF"/>
                </a:solidFill>
                <a:latin typeface="微软雅黑" panose="020B0503020204020204" pitchFamily="34" charset="-122"/>
                <a:ea typeface="微软雅黑" panose="020B0503020204020204" pitchFamily="34" charset="-122"/>
              </a:rPr>
              <a:t>辅助操作</a:t>
            </a:r>
            <a:endParaRPr lang="en-US" sz="1400" dirty="0">
              <a:latin typeface="微软雅黑" panose="020B0503020204020204" pitchFamily="34" charset="-122"/>
              <a:ea typeface="微软雅黑" panose="020B0503020204020204" pitchFamily="34" charset="-122"/>
            </a:endParaRPr>
          </a:p>
        </p:txBody>
      </p:sp>
      <p:sp>
        <p:nvSpPr>
          <p:cNvPr id="37" name="Shape 19">
            <a:extLst>
              <a:ext uri="{FF2B5EF4-FFF2-40B4-BE49-F238E27FC236}">
                <a16:creationId xmlns:a16="http://schemas.microsoft.com/office/drawing/2014/main" id="{2FF0A0C5-6CBA-EACF-F753-9607EB8D2AA6}"/>
              </a:ext>
            </a:extLst>
          </p:cNvPr>
          <p:cNvSpPr/>
          <p:nvPr/>
        </p:nvSpPr>
        <p:spPr>
          <a:xfrm>
            <a:off x="4988146" y="1660895"/>
            <a:ext cx="3950677" cy="3939805"/>
          </a:xfrm>
          <a:prstGeom prst="roundRect">
            <a:avLst>
              <a:gd name="adj" fmla="val 2078"/>
            </a:avLst>
          </a:prstGeom>
          <a:solidFill>
            <a:srgbClr val="FFFFFF"/>
          </a:solidFill>
          <a:ln w="12700">
            <a:solidFill>
              <a:srgbClr val="D9E6F5"/>
            </a:solidFill>
            <a:prstDash val="solid"/>
          </a:ln>
          <a:effectLst>
            <a:outerShdw blurRad="12700" dist="50800" dir="2700000" algn="bl" rotWithShape="0">
              <a:srgbClr val="8EA5C1">
                <a:alpha val="12000"/>
              </a:srgbClr>
            </a:outerShdw>
          </a:effectLst>
        </p:spPr>
        <p:txBody>
          <a:bodyPr/>
          <a:lstStyle/>
          <a:p>
            <a:endParaRPr dirty="0"/>
          </a:p>
        </p:txBody>
      </p:sp>
      <p:sp>
        <p:nvSpPr>
          <p:cNvPr id="38" name="Shape 7">
            <a:extLst>
              <a:ext uri="{FF2B5EF4-FFF2-40B4-BE49-F238E27FC236}">
                <a16:creationId xmlns:a16="http://schemas.microsoft.com/office/drawing/2014/main" id="{9641D81A-D57D-FC53-FD9F-9FFF77D61EE6}"/>
              </a:ext>
            </a:extLst>
          </p:cNvPr>
          <p:cNvSpPr/>
          <p:nvPr/>
        </p:nvSpPr>
        <p:spPr>
          <a:xfrm>
            <a:off x="4988145" y="1660895"/>
            <a:ext cx="3950677" cy="415190"/>
          </a:xfrm>
          <a:prstGeom prst="roundRect">
            <a:avLst>
              <a:gd name="adj" fmla="val 8000"/>
            </a:avLst>
          </a:prstGeom>
          <a:solidFill>
            <a:schemeClr val="bg1">
              <a:lumMod val="85000"/>
            </a:schemeClr>
          </a:solidFill>
          <a:ln w="12700">
            <a:solidFill>
              <a:srgbClr val="CFE3FF"/>
            </a:solidFill>
            <a:prstDash val="solid"/>
          </a:ln>
          <a:effectLst>
            <a:outerShdw blurRad="12700" dist="50800" dir="2700000" algn="bl" rotWithShape="0">
              <a:srgbClr val="94A3B8">
                <a:alpha val="12000"/>
              </a:srgbClr>
            </a:outerShdw>
          </a:effectLst>
        </p:spPr>
        <p:txBody>
          <a:bodyPr/>
          <a:lstStyle/>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核心矛盾</a:t>
            </a:r>
          </a:p>
        </p:txBody>
      </p:sp>
      <p:sp>
        <p:nvSpPr>
          <p:cNvPr id="39" name="文本框 38">
            <a:extLst>
              <a:ext uri="{FF2B5EF4-FFF2-40B4-BE49-F238E27FC236}">
                <a16:creationId xmlns:a16="http://schemas.microsoft.com/office/drawing/2014/main" id="{3FD7C696-9F3A-61AB-4B5B-37F4667AB84F}"/>
              </a:ext>
            </a:extLst>
          </p:cNvPr>
          <p:cNvSpPr txBox="1"/>
          <p:nvPr/>
        </p:nvSpPr>
        <p:spPr bwMode="auto">
          <a:xfrm>
            <a:off x="5101010" y="2104538"/>
            <a:ext cx="3746857" cy="3332772"/>
          </a:xfrm>
          <a:prstGeom prst="rect">
            <a:avLst/>
          </a:prstGeom>
          <a:noFill/>
          <a:ln w="9525">
            <a:noFill/>
            <a:miter lim="800000"/>
          </a:ln>
        </p:spPr>
        <p:txBody>
          <a:bodyPr wrap="square" rtlCol="0">
            <a:spAutoFit/>
          </a:bodyPr>
          <a:lstStyle/>
          <a:p>
            <a:pPr marL="285750" indent="-285750" algn="just">
              <a:lnSpc>
                <a:spcPct val="200000"/>
              </a:lnSpc>
              <a:spcAft>
                <a:spcPts val="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传统高刚度位置控制难以适应人机接触与环境不确定性</a:t>
            </a:r>
            <a:endParaRPr lang="en-US" altLang="zh-CN" dirty="0">
              <a:latin typeface="微软雅黑" panose="020B0503020204020204" pitchFamily="34" charset="-122"/>
              <a:ea typeface="微软雅黑" panose="020B0503020204020204" pitchFamily="34" charset="-122"/>
            </a:endParaRPr>
          </a:p>
          <a:p>
            <a:pPr marL="285750" indent="-285750" algn="just">
              <a:lnSpc>
                <a:spcPct val="200000"/>
              </a:lnSpc>
              <a:spcAft>
                <a:spcPts val="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动力学模型误差影响前馈补偿、柔顺控制与外力估计精度</a:t>
            </a:r>
            <a:endParaRPr lang="en-US" altLang="zh-CN" dirty="0">
              <a:latin typeface="微软雅黑" panose="020B0503020204020204" pitchFamily="34" charset="-122"/>
              <a:ea typeface="微软雅黑" panose="020B0503020204020204" pitchFamily="34" charset="-122"/>
            </a:endParaRPr>
          </a:p>
          <a:p>
            <a:pPr marL="285750" indent="-285750" algn="just">
              <a:lnSpc>
                <a:spcPct val="200000"/>
              </a:lnSpc>
              <a:spcAft>
                <a:spcPts val="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正常任务接触与非预期碰撞难以区分，易造成误报或漏检</a:t>
            </a:r>
          </a:p>
        </p:txBody>
      </p:sp>
      <p:sp>
        <p:nvSpPr>
          <p:cNvPr id="40" name="Shape 29">
            <a:extLst>
              <a:ext uri="{FF2B5EF4-FFF2-40B4-BE49-F238E27FC236}">
                <a16:creationId xmlns:a16="http://schemas.microsoft.com/office/drawing/2014/main" id="{3DFE55E5-60AA-9D87-2BDD-A9059CB84EAF}"/>
              </a:ext>
            </a:extLst>
          </p:cNvPr>
          <p:cNvSpPr/>
          <p:nvPr/>
        </p:nvSpPr>
        <p:spPr>
          <a:xfrm>
            <a:off x="4988146" y="5794530"/>
            <a:ext cx="1169810" cy="406335"/>
          </a:xfrm>
          <a:prstGeom prst="roundRect">
            <a:avLst>
              <a:gd name="adj" fmla="val 21053"/>
            </a:avLst>
          </a:prstGeom>
          <a:solidFill>
            <a:srgbClr val="FFFFFF"/>
          </a:solidFill>
          <a:ln w="12700">
            <a:solidFill>
              <a:srgbClr val="D9E6F5"/>
            </a:solidFill>
            <a:prstDash val="solid"/>
          </a:ln>
        </p:spPr>
        <p:txBody>
          <a:bodyPr/>
          <a:lstStyle/>
          <a:p>
            <a:pPr algn="ctr"/>
            <a:r>
              <a:rPr lang="zh-CN" altLang="en-US" dirty="0">
                <a:solidFill>
                  <a:schemeClr val="accent5">
                    <a:lumMod val="75000"/>
                  </a:schemeClr>
                </a:solidFill>
                <a:latin typeface="微软雅黑" panose="020B0503020204020204" pitchFamily="34" charset="-122"/>
                <a:ea typeface="微软雅黑" panose="020B0503020204020204" pitchFamily="34" charset="-122"/>
              </a:rPr>
              <a:t>控制精度</a:t>
            </a:r>
            <a:endParaRPr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3" name="Shape 29">
            <a:extLst>
              <a:ext uri="{FF2B5EF4-FFF2-40B4-BE49-F238E27FC236}">
                <a16:creationId xmlns:a16="http://schemas.microsoft.com/office/drawing/2014/main" id="{92676BE1-91AB-B1E0-0E9D-7A100BB9E75C}"/>
              </a:ext>
            </a:extLst>
          </p:cNvPr>
          <p:cNvSpPr/>
          <p:nvPr/>
        </p:nvSpPr>
        <p:spPr>
          <a:xfrm>
            <a:off x="6378579" y="5801871"/>
            <a:ext cx="1169810" cy="406335"/>
          </a:xfrm>
          <a:prstGeom prst="roundRect">
            <a:avLst>
              <a:gd name="adj" fmla="val 21053"/>
            </a:avLst>
          </a:prstGeom>
          <a:solidFill>
            <a:srgbClr val="FFFFFF"/>
          </a:solidFill>
          <a:ln w="12700">
            <a:solidFill>
              <a:srgbClr val="D9E6F5"/>
            </a:solidFill>
            <a:prstDash val="solid"/>
          </a:ln>
        </p:spPr>
        <p:txBody>
          <a:bodyPr/>
          <a:lstStyle/>
          <a:p>
            <a:pPr algn="ctr"/>
            <a:r>
              <a:rPr lang="zh-CN" altLang="en-US" dirty="0">
                <a:solidFill>
                  <a:schemeClr val="accent6">
                    <a:lumMod val="75000"/>
                  </a:schemeClr>
                </a:solidFill>
                <a:latin typeface="微软雅黑" panose="020B0503020204020204" pitchFamily="34" charset="-122"/>
                <a:ea typeface="微软雅黑" panose="020B0503020204020204" pitchFamily="34" charset="-122"/>
              </a:rPr>
              <a:t>柔顺交互</a:t>
            </a:r>
            <a:endParaRPr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44" name="Shape 29">
            <a:extLst>
              <a:ext uri="{FF2B5EF4-FFF2-40B4-BE49-F238E27FC236}">
                <a16:creationId xmlns:a16="http://schemas.microsoft.com/office/drawing/2014/main" id="{D37DA371-86D8-8614-B2AD-9E3752556DA6}"/>
              </a:ext>
            </a:extLst>
          </p:cNvPr>
          <p:cNvSpPr/>
          <p:nvPr/>
        </p:nvSpPr>
        <p:spPr>
          <a:xfrm>
            <a:off x="7769012" y="5809212"/>
            <a:ext cx="1169810" cy="406335"/>
          </a:xfrm>
          <a:prstGeom prst="roundRect">
            <a:avLst>
              <a:gd name="adj" fmla="val 21053"/>
            </a:avLst>
          </a:prstGeom>
          <a:solidFill>
            <a:srgbClr val="FFFFFF"/>
          </a:solidFill>
          <a:ln w="12700">
            <a:solidFill>
              <a:srgbClr val="D9E6F5"/>
            </a:solidFill>
            <a:prstDash val="solid"/>
          </a:ln>
        </p:spPr>
        <p:txBody>
          <a:bodyPr/>
          <a:lstStyle/>
          <a:p>
            <a:pPr algn="ctr"/>
            <a:r>
              <a:rPr lang="zh-CN" altLang="en-US" dirty="0">
                <a:solidFill>
                  <a:schemeClr val="accent4">
                    <a:lumMod val="75000"/>
                  </a:schemeClr>
                </a:solidFill>
                <a:latin typeface="微软雅黑" panose="020B0503020204020204" pitchFamily="34" charset="-122"/>
                <a:ea typeface="微软雅黑" panose="020B0503020204020204" pitchFamily="34" charset="-122"/>
              </a:rPr>
              <a:t>安全检测</a:t>
            </a:r>
            <a:endParaRPr dirty="0">
              <a:solidFill>
                <a:schemeClr val="accent4">
                  <a:lumMod val="75000"/>
                </a:schemeClr>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7FD98C3C-3267-F22F-73CB-07F6C01E0CAF}"/>
              </a:ext>
            </a:extLst>
          </p:cNvPr>
          <p:cNvSpPr txBox="1"/>
          <p:nvPr/>
        </p:nvSpPr>
        <p:spPr bwMode="auto">
          <a:xfrm>
            <a:off x="7076915" y="-57187"/>
            <a:ext cx="1879186"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预期成果与进度安排</a:t>
            </a:r>
          </a:p>
        </p:txBody>
      </p:sp>
    </p:spTree>
    <p:extLst>
      <p:ext uri="{BB962C8B-B14F-4D97-AF65-F5344CB8AC3E}">
        <p14:creationId xmlns:p14="http://schemas.microsoft.com/office/powerpoint/2010/main" val="1538656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A7116-E788-21EC-3637-DDC8ED60F34F}"/>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3BD7A71E-C6F5-E55C-8775-3E9BD162A0D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EF452F24-A53D-AFB5-24D8-934263EF3D26}"/>
              </a:ext>
            </a:extLst>
          </p:cNvPr>
          <p:cNvSpPr>
            <a:spLocks noChangeArrowheads="1"/>
          </p:cNvSpPr>
          <p:nvPr/>
        </p:nvSpPr>
        <p:spPr bwMode="auto">
          <a:xfrm>
            <a:off x="278847" y="3044971"/>
            <a:ext cx="86665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19" name="文本框 18">
            <a:extLst>
              <a:ext uri="{FF2B5EF4-FFF2-40B4-BE49-F238E27FC236}">
                <a16:creationId xmlns:a16="http://schemas.microsoft.com/office/drawing/2014/main" id="{0097BE76-DC26-28E7-7196-987680814FEB}"/>
              </a:ext>
            </a:extLst>
          </p:cNvPr>
          <p:cNvSpPr txBox="1"/>
          <p:nvPr/>
        </p:nvSpPr>
        <p:spPr>
          <a:xfrm>
            <a:off x="3803213" y="4059171"/>
            <a:ext cx="2158761" cy="830997"/>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defRPr/>
            </a:pPr>
            <a:r>
              <a:rPr lang="zh-CN" altLang="en-US" sz="2400" dirty="0">
                <a:solidFill>
                  <a:prstClr val="white"/>
                </a:solidFill>
                <a:latin typeface="宋体" panose="02010600030101010101" pitchFamily="2" charset="-122"/>
                <a:ea typeface="宋体" panose="02010600030101010101" pitchFamily="2" charset="-122"/>
              </a:rPr>
              <a:t>张世杰</a:t>
            </a:r>
            <a:endParaRPr lang="en-US" altLang="zh-CN" sz="2400" dirty="0">
              <a:solidFill>
                <a:prstClr val="white"/>
              </a:solidFill>
              <a:latin typeface="宋体" panose="02010600030101010101" pitchFamily="2" charset="-122"/>
              <a:ea typeface="宋体" panose="02010600030101010101" pitchFamily="2" charset="-122"/>
            </a:endParaRPr>
          </a:p>
          <a:p>
            <a:pPr marR="0" lvl="0" algn="l" defTabSz="914400" rtl="0" eaLnBrk="1" fontAlgn="auto" latinLnBrk="0" hangingPunct="1">
              <a:lnSpc>
                <a:spcPct val="100000"/>
              </a:lnSpc>
              <a:spcBef>
                <a:spcPts val="0"/>
              </a:spcBef>
              <a:spcAft>
                <a:spcPts val="0"/>
              </a:spcAft>
              <a:buClrTx/>
              <a:buSzTx/>
              <a:defRPr/>
            </a:pPr>
            <a:r>
              <a:rPr lang="en-US" altLang="zh-CN" sz="240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2025.04.13</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B2618F0C-12A4-15D2-F3C6-33CAAC69A349}"/>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5E76E1C9-79E1-9260-FAE5-9B273358C803}"/>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698A859-6569-6C80-FA32-3B09467DB7BF}"/>
              </a:ext>
            </a:extLst>
          </p:cNvPr>
          <p:cNvSpPr txBox="1"/>
          <p:nvPr/>
        </p:nvSpPr>
        <p:spPr>
          <a:xfrm>
            <a:off x="187898" y="402345"/>
            <a:ext cx="6692962" cy="461665"/>
          </a:xfrm>
          <a:prstGeom prst="rect">
            <a:avLst/>
          </a:prstGeom>
          <a:noFill/>
        </p:spPr>
        <p:txBody>
          <a:bodyPr wrap="square">
            <a:spAutoFit/>
          </a:bodyPr>
          <a:lstStyle/>
          <a:p>
            <a:pPr lvl="0" defTabSz="457200" eaLnBrk="1" fontAlgn="auto" hangingPunct="1">
              <a:spcBef>
                <a:spcPts val="0"/>
              </a:spcBef>
              <a:spcAft>
                <a:spcPts val="0"/>
              </a:spcAft>
              <a:defRPr/>
            </a:pPr>
            <a:r>
              <a:rPr lang="zh-CN" altLang="en-US" sz="2400" b="1" dirty="0">
                <a:solidFill>
                  <a:srgbClr val="002060"/>
                </a:solidFill>
                <a:latin typeface="微软雅黑" panose="020B0503020204020204" pitchFamily="34" charset="-122"/>
                <a:ea typeface="微软雅黑" panose="020B0503020204020204" pitchFamily="34" charset="-122"/>
              </a:rPr>
              <a:t>研究意义：面向人机协作的柔顺安全控制</a:t>
            </a:r>
          </a:p>
        </p:txBody>
      </p:sp>
      <p:sp>
        <p:nvSpPr>
          <p:cNvPr id="11" name="标题 1">
            <a:extLst>
              <a:ext uri="{FF2B5EF4-FFF2-40B4-BE49-F238E27FC236}">
                <a16:creationId xmlns:a16="http://schemas.microsoft.com/office/drawing/2014/main" id="{F2A5CD66-E887-0475-7508-F707054315D9}"/>
              </a:ext>
            </a:extLst>
          </p:cNvPr>
          <p:cNvSpPr txBox="1">
            <a:spLocks/>
          </p:cNvSpPr>
          <p:nvPr/>
        </p:nvSpPr>
        <p:spPr>
          <a:xfrm>
            <a:off x="2462863" y="2548070"/>
            <a:ext cx="5721109" cy="5847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600" b="1" kern="1200">
                <a:solidFill>
                  <a:schemeClr val="bg1"/>
                </a:solidFill>
                <a:latin typeface="+mn-ea"/>
                <a:ea typeface="+mn-ea"/>
                <a:cs typeface="+mj-cs"/>
              </a:defRPr>
            </a:lvl1pPr>
          </a:lstStyle>
          <a:p>
            <a:pPr>
              <a:lnSpc>
                <a:spcPct val="100000"/>
              </a:lnSpc>
            </a:pPr>
            <a:r>
              <a:rPr lang="zh-CN" altLang="en-US" sz="4000" dirty="0">
                <a:latin typeface="微软雅黑" panose="020B0503020204020204" pitchFamily="34" charset="-122"/>
                <a:ea typeface="微软雅黑" panose="020B0503020204020204" pitchFamily="34" charset="-122"/>
              </a:rPr>
              <a:t>具身智能</a:t>
            </a:r>
            <a:r>
              <a:rPr lang="en-US" altLang="zh-CN" sz="4000" dirty="0">
                <a:latin typeface="微软雅黑" panose="020B0503020204020204" pitchFamily="34" charset="-122"/>
                <a:ea typeface="微软雅黑" panose="020B0503020204020204" pitchFamily="34" charset="-122"/>
              </a:rPr>
              <a:t>-</a:t>
            </a:r>
            <a:r>
              <a:rPr lang="zh-CN" altLang="en-US" sz="4000" dirty="0">
                <a:latin typeface="微软雅黑" panose="020B0503020204020204" pitchFamily="34" charset="-122"/>
                <a:ea typeface="微软雅黑" panose="020B0503020204020204" pitchFamily="34" charset="-122"/>
              </a:rPr>
              <a:t>运动控制开发</a:t>
            </a:r>
          </a:p>
        </p:txBody>
      </p:sp>
      <p:sp>
        <p:nvSpPr>
          <p:cNvPr id="21" name="矩形 20">
            <a:extLst>
              <a:ext uri="{FF2B5EF4-FFF2-40B4-BE49-F238E27FC236}">
                <a16:creationId xmlns:a16="http://schemas.microsoft.com/office/drawing/2014/main" id="{E005D220-0972-3FD6-2926-E58BCF7DF09A}"/>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4/13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09CD6A59-A3FC-539C-7484-94BFE59C87B6}"/>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F6A3FB77-1446-B32B-7D4D-6B63CAC723B0}"/>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5" name="文本框 4">
            <a:extLst>
              <a:ext uri="{FF2B5EF4-FFF2-40B4-BE49-F238E27FC236}">
                <a16:creationId xmlns:a16="http://schemas.microsoft.com/office/drawing/2014/main" id="{2CD5B00F-C635-4EE7-4EF4-BAE52C8A1072}"/>
              </a:ext>
            </a:extLst>
          </p:cNvPr>
          <p:cNvSpPr txBox="1"/>
          <p:nvPr/>
        </p:nvSpPr>
        <p:spPr bwMode="auto">
          <a:xfrm>
            <a:off x="187899" y="-57186"/>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1"/>
                </a:solidFill>
                <a:latin typeface="微软雅黑" panose="020B0503020204020204" pitchFamily="34" charset="-122"/>
                <a:ea typeface="微软雅黑" panose="020B0503020204020204" pitchFamily="34" charset="-122"/>
              </a:rPr>
              <a:t>研究背景与意义</a:t>
            </a:r>
          </a:p>
        </p:txBody>
      </p:sp>
      <p:sp>
        <p:nvSpPr>
          <p:cNvPr id="7" name="文本框 6">
            <a:extLst>
              <a:ext uri="{FF2B5EF4-FFF2-40B4-BE49-F238E27FC236}">
                <a16:creationId xmlns:a16="http://schemas.microsoft.com/office/drawing/2014/main" id="{E48EDF3A-A254-F36D-F814-27214B833CD1}"/>
              </a:ext>
            </a:extLst>
          </p:cNvPr>
          <p:cNvSpPr txBox="1"/>
          <p:nvPr/>
        </p:nvSpPr>
        <p:spPr bwMode="auto">
          <a:xfrm>
            <a:off x="3757797" y="-57187"/>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研究目标与内容</a:t>
            </a:r>
          </a:p>
        </p:txBody>
      </p:sp>
      <p:sp>
        <p:nvSpPr>
          <p:cNvPr id="8" name="文本框 7">
            <a:extLst>
              <a:ext uri="{FF2B5EF4-FFF2-40B4-BE49-F238E27FC236}">
                <a16:creationId xmlns:a16="http://schemas.microsoft.com/office/drawing/2014/main" id="{15F242E1-7B3D-12E1-B4B2-EF509C13F62E}"/>
              </a:ext>
            </a:extLst>
          </p:cNvPr>
          <p:cNvSpPr txBox="1"/>
          <p:nvPr/>
        </p:nvSpPr>
        <p:spPr bwMode="auto">
          <a:xfrm>
            <a:off x="7076915" y="-54857"/>
            <a:ext cx="1879186"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预期成果与进度安排</a:t>
            </a:r>
          </a:p>
        </p:txBody>
      </p:sp>
      <p:sp>
        <p:nvSpPr>
          <p:cNvPr id="15" name="文本框 14">
            <a:extLst>
              <a:ext uri="{FF2B5EF4-FFF2-40B4-BE49-F238E27FC236}">
                <a16:creationId xmlns:a16="http://schemas.microsoft.com/office/drawing/2014/main" id="{9516E4BD-AE86-11B0-6D1C-81B6C17A8177}"/>
              </a:ext>
            </a:extLst>
          </p:cNvPr>
          <p:cNvSpPr txBox="1"/>
          <p:nvPr/>
        </p:nvSpPr>
        <p:spPr>
          <a:xfrm>
            <a:off x="738972" y="2279016"/>
            <a:ext cx="3613429" cy="1200329"/>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深入实施“人工智能</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”行动为高质量发展提供强大动能</a:t>
            </a:r>
          </a:p>
        </p:txBody>
      </p:sp>
      <p:sp>
        <p:nvSpPr>
          <p:cNvPr id="16" name="文本框 15">
            <a:extLst>
              <a:ext uri="{FF2B5EF4-FFF2-40B4-BE49-F238E27FC236}">
                <a16:creationId xmlns:a16="http://schemas.microsoft.com/office/drawing/2014/main" id="{025F426E-7553-6499-8133-89BFB65817A3}"/>
              </a:ext>
            </a:extLst>
          </p:cNvPr>
          <p:cNvSpPr txBox="1"/>
          <p:nvPr/>
        </p:nvSpPr>
        <p:spPr>
          <a:xfrm>
            <a:off x="738972" y="3510803"/>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国家发改委</a:t>
            </a:r>
          </a:p>
        </p:txBody>
      </p:sp>
      <p:sp>
        <p:nvSpPr>
          <p:cNvPr id="18" name="文本框 17">
            <a:extLst>
              <a:ext uri="{FF2B5EF4-FFF2-40B4-BE49-F238E27FC236}">
                <a16:creationId xmlns:a16="http://schemas.microsoft.com/office/drawing/2014/main" id="{83562E2C-0887-86AA-FBD1-2027F439D46F}"/>
              </a:ext>
            </a:extLst>
          </p:cNvPr>
          <p:cNvSpPr txBox="1"/>
          <p:nvPr/>
        </p:nvSpPr>
        <p:spPr>
          <a:xfrm>
            <a:off x="4906320" y="2253331"/>
            <a:ext cx="3919569" cy="1200329"/>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中共中央关于制定国民经济和社会发展第十五个五年 规划的建议</a:t>
            </a:r>
          </a:p>
        </p:txBody>
      </p:sp>
      <p:sp>
        <p:nvSpPr>
          <p:cNvPr id="20" name="文本框 19">
            <a:extLst>
              <a:ext uri="{FF2B5EF4-FFF2-40B4-BE49-F238E27FC236}">
                <a16:creationId xmlns:a16="http://schemas.microsoft.com/office/drawing/2014/main" id="{163D3438-0034-D097-FEFD-4D8338AE738F}"/>
              </a:ext>
            </a:extLst>
          </p:cNvPr>
          <p:cNvSpPr txBox="1"/>
          <p:nvPr/>
        </p:nvSpPr>
        <p:spPr>
          <a:xfrm>
            <a:off x="5059391" y="3490576"/>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中国政府网</a:t>
            </a:r>
          </a:p>
        </p:txBody>
      </p:sp>
      <p:sp>
        <p:nvSpPr>
          <p:cNvPr id="12" name="文本框 11">
            <a:extLst>
              <a:ext uri="{FF2B5EF4-FFF2-40B4-BE49-F238E27FC236}">
                <a16:creationId xmlns:a16="http://schemas.microsoft.com/office/drawing/2014/main" id="{F0565B08-AEEC-5300-BF65-568D960868ED}"/>
              </a:ext>
            </a:extLst>
          </p:cNvPr>
          <p:cNvSpPr txBox="1"/>
          <p:nvPr/>
        </p:nvSpPr>
        <p:spPr>
          <a:xfrm>
            <a:off x="187898" y="957930"/>
            <a:ext cx="8924232" cy="961289"/>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提高</a:t>
            </a:r>
            <a:r>
              <a:rPr lang="zh-CN" altLang="en-US" sz="2000" b="1" dirty="0">
                <a:solidFill>
                  <a:srgbClr val="365AF9"/>
                </a:solidFill>
                <a:latin typeface="微软雅黑" panose="020B0503020204020204" pitchFamily="34" charset="-122"/>
                <a:ea typeface="微软雅黑" panose="020B0503020204020204" pitchFamily="34" charset="-122"/>
              </a:rPr>
              <a:t>模型精度</a:t>
            </a:r>
            <a:r>
              <a:rPr lang="zh-CN" altLang="en-US" sz="2000" dirty="0">
                <a:latin typeface="微软雅黑" panose="020B0503020204020204" pitchFamily="34" charset="-122"/>
                <a:ea typeface="微软雅黑" panose="020B0503020204020204" pitchFamily="34" charset="-122"/>
              </a:rPr>
              <a:t>、</a:t>
            </a:r>
            <a:r>
              <a:rPr lang="zh-CN" altLang="en-US" sz="2000" b="1" dirty="0">
                <a:solidFill>
                  <a:srgbClr val="365AF9"/>
                </a:solidFill>
                <a:latin typeface="微软雅黑" panose="020B0503020204020204" pitchFamily="34" charset="-122"/>
                <a:ea typeface="微软雅黑" panose="020B0503020204020204" pitchFamily="34" charset="-122"/>
              </a:rPr>
              <a:t>交互柔顺性</a:t>
            </a:r>
            <a:r>
              <a:rPr lang="zh-CN" altLang="en-US" sz="2000" dirty="0">
                <a:latin typeface="微软雅黑" panose="020B0503020204020204" pitchFamily="34" charset="-122"/>
                <a:ea typeface="微软雅黑" panose="020B0503020204020204" pitchFamily="34" charset="-122"/>
              </a:rPr>
              <a:t>与</a:t>
            </a:r>
            <a:r>
              <a:rPr lang="zh-CN" altLang="en-US" sz="2000" b="1" dirty="0">
                <a:solidFill>
                  <a:srgbClr val="365AF9"/>
                </a:solidFill>
                <a:latin typeface="微软雅黑" panose="020B0503020204020204" pitchFamily="34" charset="-122"/>
                <a:ea typeface="微软雅黑" panose="020B0503020204020204" pitchFamily="34" charset="-122"/>
              </a:rPr>
              <a:t>碰撞检测可靠性</a:t>
            </a:r>
            <a:r>
              <a:rPr lang="zh-CN" altLang="en-US" sz="2000" dirty="0">
                <a:latin typeface="微软雅黑" panose="020B0503020204020204" pitchFamily="34" charset="-122"/>
                <a:ea typeface="微软雅黑" panose="020B0503020204020204" pitchFamily="34" charset="-122"/>
              </a:rPr>
              <a:t>，是协作机械臂走向实际应用的关键支撑</a:t>
            </a:r>
          </a:p>
        </p:txBody>
      </p:sp>
      <p:cxnSp>
        <p:nvCxnSpPr>
          <p:cNvPr id="37" name="直接连接符 36">
            <a:extLst>
              <a:ext uri="{FF2B5EF4-FFF2-40B4-BE49-F238E27FC236}">
                <a16:creationId xmlns:a16="http://schemas.microsoft.com/office/drawing/2014/main" id="{09EDDC38-8BBD-D15C-B8C2-D43CE5168DC8}"/>
              </a:ext>
            </a:extLst>
          </p:cNvPr>
          <p:cNvCxnSpPr>
            <a:cxnSpLocks/>
          </p:cNvCxnSpPr>
          <p:nvPr/>
        </p:nvCxnSpPr>
        <p:spPr>
          <a:xfrm>
            <a:off x="289258" y="3742465"/>
            <a:ext cx="8666527" cy="0"/>
          </a:xfrm>
          <a:prstGeom prst="line">
            <a:avLst/>
          </a:prstGeom>
          <a:ln w="31750">
            <a:solidFill>
              <a:schemeClr val="accent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AA394F9D-D2E6-53DD-BA23-2BF7C161EBE7}"/>
              </a:ext>
            </a:extLst>
          </p:cNvPr>
          <p:cNvSpPr txBox="1"/>
          <p:nvPr/>
        </p:nvSpPr>
        <p:spPr>
          <a:xfrm>
            <a:off x="187897" y="3821472"/>
            <a:ext cx="8924232" cy="2510303"/>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sz="2000" b="1" dirty="0">
                <a:solidFill>
                  <a:srgbClr val="365AF9"/>
                </a:solidFill>
                <a:latin typeface="微软雅黑" panose="020B0503020204020204" pitchFamily="34" charset="-122"/>
                <a:ea typeface="微软雅黑" panose="020B0503020204020204" pitchFamily="34" charset="-122"/>
              </a:rPr>
              <a:t>研究价值</a:t>
            </a:r>
          </a:p>
          <a:p>
            <a:pPr>
              <a:lnSpc>
                <a:spcPct val="250000"/>
              </a:lnSpc>
            </a:pPr>
            <a:r>
              <a:rPr lang="zh-CN" altLang="en-US" b="1" dirty="0">
                <a:solidFill>
                  <a:srgbClr val="FF0000"/>
                </a:solidFill>
                <a:latin typeface="微软雅黑" panose="020B0503020204020204" pitchFamily="34" charset="-122"/>
                <a:ea typeface="微软雅黑" panose="020B0503020204020204" pitchFamily="34" charset="-122"/>
              </a:rPr>
              <a:t>理论意义：</a:t>
            </a:r>
            <a:r>
              <a:rPr lang="zh-CN" altLang="en-US" dirty="0">
                <a:latin typeface="微软雅黑" panose="020B0503020204020204" pitchFamily="34" charset="-122"/>
                <a:ea typeface="微软雅黑" panose="020B0503020204020204" pitchFamily="34" charset="-122"/>
              </a:rPr>
              <a:t>探索冗余机械臂精度、柔顺性与安全性的协同控制机制</a:t>
            </a:r>
            <a:endParaRPr lang="en-US" altLang="zh-CN" b="1" dirty="0">
              <a:solidFill>
                <a:srgbClr val="FF0000"/>
              </a:solidFill>
              <a:latin typeface="微软雅黑" panose="020B0503020204020204" pitchFamily="34" charset="-122"/>
              <a:ea typeface="微软雅黑" panose="020B0503020204020204" pitchFamily="34" charset="-122"/>
            </a:endParaRPr>
          </a:p>
          <a:p>
            <a:pPr>
              <a:lnSpc>
                <a:spcPct val="250000"/>
              </a:lnSpc>
            </a:pPr>
            <a:r>
              <a:rPr lang="zh-CN" altLang="en-US" b="1" dirty="0">
                <a:solidFill>
                  <a:srgbClr val="FF0000"/>
                </a:solidFill>
                <a:latin typeface="微软雅黑" panose="020B0503020204020204" pitchFamily="34" charset="-122"/>
                <a:ea typeface="微软雅黑" panose="020B0503020204020204" pitchFamily="34" charset="-122"/>
              </a:rPr>
              <a:t>方法意义：</a:t>
            </a:r>
            <a:r>
              <a:rPr lang="zh-CN" altLang="en-US" dirty="0">
                <a:latin typeface="微软雅黑" panose="020B0503020204020204" pitchFamily="34" charset="-122"/>
                <a:ea typeface="微软雅黑" panose="020B0503020204020204" pitchFamily="34" charset="-122"/>
              </a:rPr>
              <a:t>形成模型辨识、前馈补偿、分层阻抗与碰撞检测一体化方法</a:t>
            </a:r>
            <a:endParaRPr lang="en-US" altLang="zh-CN" dirty="0">
              <a:latin typeface="微软雅黑" panose="020B0503020204020204" pitchFamily="34" charset="-122"/>
              <a:ea typeface="微软雅黑" panose="020B0503020204020204" pitchFamily="34" charset="-122"/>
            </a:endParaRPr>
          </a:p>
          <a:p>
            <a:pPr>
              <a:lnSpc>
                <a:spcPct val="250000"/>
              </a:lnSpc>
            </a:pPr>
            <a:r>
              <a:rPr lang="zh-CN" altLang="en-US" b="1" dirty="0">
                <a:solidFill>
                  <a:srgbClr val="FF0000"/>
                </a:solidFill>
                <a:latin typeface="微软雅黑" panose="020B0503020204020204" pitchFamily="34" charset="-122"/>
                <a:ea typeface="微软雅黑" panose="020B0503020204020204" pitchFamily="34" charset="-122"/>
              </a:rPr>
              <a:t>工程意义：</a:t>
            </a:r>
            <a:r>
              <a:rPr lang="zh-CN" altLang="en-US" dirty="0">
                <a:latin typeface="微软雅黑" panose="020B0503020204020204" pitchFamily="34" charset="-122"/>
                <a:ea typeface="微软雅黑" panose="020B0503020204020204" pitchFamily="34" charset="-122"/>
              </a:rPr>
              <a:t>提升协作机械臂在接触作业中的稳定性、安全性与环境适应能力</a:t>
            </a:r>
          </a:p>
        </p:txBody>
      </p:sp>
      <p:pic>
        <p:nvPicPr>
          <p:cNvPr id="13" name="图片 12">
            <a:extLst>
              <a:ext uri="{FF2B5EF4-FFF2-40B4-BE49-F238E27FC236}">
                <a16:creationId xmlns:a16="http://schemas.microsoft.com/office/drawing/2014/main" id="{523FAF6E-10FE-A22B-7E31-2026E523F06F}"/>
              </a:ext>
            </a:extLst>
          </p:cNvPr>
          <p:cNvPicPr>
            <a:picLocks/>
          </p:cNvPicPr>
          <p:nvPr/>
        </p:nvPicPr>
        <p:blipFill>
          <a:blip r:embed="rId3">
            <a:extLst>
              <a:ext uri="{28A0092B-C50C-407E-A947-70E740481C1C}">
                <a14:useLocalDpi xmlns:a14="http://schemas.microsoft.com/office/drawing/2010/main" val="0"/>
              </a:ext>
            </a:extLst>
          </a:blip>
          <a:srcRect t="3923" b="3923"/>
          <a:stretch>
            <a:fillRect/>
          </a:stretch>
        </p:blipFill>
        <p:spPr>
          <a:xfrm>
            <a:off x="238736" y="1946651"/>
            <a:ext cx="2769711" cy="1636155"/>
          </a:xfrm>
          <a:prstGeom prst="roundRect">
            <a:avLst/>
          </a:prstGeom>
        </p:spPr>
      </p:pic>
      <p:pic>
        <p:nvPicPr>
          <p:cNvPr id="14" name="图片 13">
            <a:extLst>
              <a:ext uri="{FF2B5EF4-FFF2-40B4-BE49-F238E27FC236}">
                <a16:creationId xmlns:a16="http://schemas.microsoft.com/office/drawing/2014/main" id="{724A0159-7251-FD35-4884-E52AC936BF2D}"/>
              </a:ext>
            </a:extLst>
          </p:cNvPr>
          <p:cNvPicPr>
            <a:picLocks/>
          </p:cNvPicPr>
          <p:nvPr/>
        </p:nvPicPr>
        <p:blipFill>
          <a:blip r:embed="rId4" cstate="print">
            <a:extLst>
              <a:ext uri="{28A0092B-C50C-407E-A947-70E740481C1C}">
                <a14:useLocalDpi xmlns:a14="http://schemas.microsoft.com/office/drawing/2010/main" val="0"/>
              </a:ext>
            </a:extLst>
          </a:blip>
          <a:srcRect l="2400" r="2400"/>
          <a:stretch>
            <a:fillRect/>
          </a:stretch>
        </p:blipFill>
        <p:spPr>
          <a:xfrm>
            <a:off x="3187144" y="1946651"/>
            <a:ext cx="2769711" cy="1636155"/>
          </a:xfrm>
          <a:prstGeom prst="roundRect">
            <a:avLst/>
          </a:prstGeom>
        </p:spPr>
      </p:pic>
      <p:pic>
        <p:nvPicPr>
          <p:cNvPr id="17" name="图片 16">
            <a:extLst>
              <a:ext uri="{FF2B5EF4-FFF2-40B4-BE49-F238E27FC236}">
                <a16:creationId xmlns:a16="http://schemas.microsoft.com/office/drawing/2014/main" id="{B7DDEDE2-AC20-7B9E-7EEB-1A140649A1E2}"/>
              </a:ext>
            </a:extLst>
          </p:cNvPr>
          <p:cNvPicPr>
            <a:picLocks/>
          </p:cNvPicPr>
          <p:nvPr/>
        </p:nvPicPr>
        <p:blipFill>
          <a:blip r:embed="rId5" cstate="print">
            <a:extLst>
              <a:ext uri="{28A0092B-C50C-407E-A947-70E740481C1C}">
                <a14:useLocalDpi xmlns:a14="http://schemas.microsoft.com/office/drawing/2010/main" val="0"/>
              </a:ext>
            </a:extLst>
          </a:blip>
          <a:srcRect l="2391" r="2389"/>
          <a:stretch>
            <a:fillRect/>
          </a:stretch>
        </p:blipFill>
        <p:spPr>
          <a:xfrm>
            <a:off x="6135552" y="1946650"/>
            <a:ext cx="2769711" cy="1636156"/>
          </a:xfrm>
          <a:prstGeom prst="roundRect">
            <a:avLst/>
          </a:prstGeom>
        </p:spPr>
      </p:pic>
    </p:spTree>
    <p:extLst>
      <p:ext uri="{BB962C8B-B14F-4D97-AF65-F5344CB8AC3E}">
        <p14:creationId xmlns:p14="http://schemas.microsoft.com/office/powerpoint/2010/main" val="3213332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19528-AF98-D6EA-8A1F-F0A0E223FC35}"/>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B7DFD7AE-ABF3-4E86-2B78-FDB0F75EABB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ADCB84E5-53AA-ED1A-0780-BC1564869F9D}"/>
              </a:ext>
            </a:extLst>
          </p:cNvPr>
          <p:cNvSpPr>
            <a:spLocks noChangeArrowheads="1"/>
          </p:cNvSpPr>
          <p:nvPr/>
        </p:nvSpPr>
        <p:spPr bwMode="auto">
          <a:xfrm>
            <a:off x="187899" y="3044971"/>
            <a:ext cx="87763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19" name="文本框 18">
            <a:extLst>
              <a:ext uri="{FF2B5EF4-FFF2-40B4-BE49-F238E27FC236}">
                <a16:creationId xmlns:a16="http://schemas.microsoft.com/office/drawing/2014/main" id="{D1B473A6-2523-8260-24A1-F43C0E965635}"/>
              </a:ext>
            </a:extLst>
          </p:cNvPr>
          <p:cNvSpPr txBox="1"/>
          <p:nvPr/>
        </p:nvSpPr>
        <p:spPr>
          <a:xfrm>
            <a:off x="3803213" y="4059171"/>
            <a:ext cx="2158761" cy="830997"/>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defRPr/>
            </a:pPr>
            <a:r>
              <a:rPr lang="zh-CN" altLang="en-US" sz="2400" dirty="0">
                <a:solidFill>
                  <a:prstClr val="white"/>
                </a:solidFill>
                <a:latin typeface="宋体" panose="02010600030101010101" pitchFamily="2" charset="-122"/>
                <a:ea typeface="宋体" panose="02010600030101010101" pitchFamily="2" charset="-122"/>
              </a:rPr>
              <a:t>张世杰</a:t>
            </a:r>
            <a:endParaRPr lang="en-US" altLang="zh-CN" sz="2400" dirty="0">
              <a:solidFill>
                <a:prstClr val="white"/>
              </a:solidFill>
              <a:latin typeface="宋体" panose="02010600030101010101" pitchFamily="2" charset="-122"/>
              <a:ea typeface="宋体" panose="02010600030101010101" pitchFamily="2" charset="-122"/>
            </a:endParaRPr>
          </a:p>
          <a:p>
            <a:pPr marR="0" lvl="0" algn="l" defTabSz="914400" rtl="0" eaLnBrk="1" fontAlgn="auto" latinLnBrk="0" hangingPunct="1">
              <a:lnSpc>
                <a:spcPct val="100000"/>
              </a:lnSpc>
              <a:spcBef>
                <a:spcPts val="0"/>
              </a:spcBef>
              <a:spcAft>
                <a:spcPts val="0"/>
              </a:spcAft>
              <a:buClrTx/>
              <a:buSzTx/>
              <a:defRPr/>
            </a:pPr>
            <a:r>
              <a:rPr lang="en-US" altLang="zh-CN" sz="240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2025.04.13</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157470DC-7949-08EB-3559-70B2E9499E51}"/>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B09442D2-342E-D389-6B4A-D34AB0BF1442}"/>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B0DB13DC-DD8D-A005-D5A7-013731608A5C}"/>
              </a:ext>
            </a:extLst>
          </p:cNvPr>
          <p:cNvSpPr txBox="1"/>
          <p:nvPr/>
        </p:nvSpPr>
        <p:spPr>
          <a:xfrm>
            <a:off x="187899" y="402345"/>
            <a:ext cx="2024062" cy="4616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defRPr/>
            </a:pPr>
            <a:r>
              <a:rPr lang="zh-CN" altLang="en-US" sz="2400" b="1" dirty="0">
                <a:solidFill>
                  <a:srgbClr val="002060"/>
                </a:solidFill>
                <a:latin typeface="微软雅黑" panose="020B0503020204020204" pitchFamily="34" charset="-122"/>
                <a:ea typeface="微软雅黑" panose="020B0503020204020204" pitchFamily="34" charset="-122"/>
              </a:rPr>
              <a:t>目录</a:t>
            </a:r>
          </a:p>
        </p:txBody>
      </p:sp>
      <p:sp>
        <p:nvSpPr>
          <p:cNvPr id="11" name="标题 1">
            <a:extLst>
              <a:ext uri="{FF2B5EF4-FFF2-40B4-BE49-F238E27FC236}">
                <a16:creationId xmlns:a16="http://schemas.microsoft.com/office/drawing/2014/main" id="{AFAB22AF-8A34-D2FA-F676-6E33D27F7822}"/>
              </a:ext>
            </a:extLst>
          </p:cNvPr>
          <p:cNvSpPr txBox="1">
            <a:spLocks/>
          </p:cNvSpPr>
          <p:nvPr/>
        </p:nvSpPr>
        <p:spPr>
          <a:xfrm>
            <a:off x="2462863" y="2548070"/>
            <a:ext cx="5721109" cy="5847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600" b="1" kern="1200">
                <a:solidFill>
                  <a:schemeClr val="bg1"/>
                </a:solidFill>
                <a:latin typeface="+mn-ea"/>
                <a:ea typeface="+mn-ea"/>
                <a:cs typeface="+mj-cs"/>
              </a:defRPr>
            </a:lvl1pPr>
          </a:lstStyle>
          <a:p>
            <a:pPr>
              <a:lnSpc>
                <a:spcPct val="100000"/>
              </a:lnSpc>
            </a:pPr>
            <a:r>
              <a:rPr lang="zh-CN" altLang="en-US" sz="4000" dirty="0">
                <a:latin typeface="微软雅黑" panose="020B0503020204020204" pitchFamily="34" charset="-122"/>
                <a:ea typeface="微软雅黑" panose="020B0503020204020204" pitchFamily="34" charset="-122"/>
              </a:rPr>
              <a:t>具身智能</a:t>
            </a:r>
            <a:r>
              <a:rPr lang="en-US" altLang="zh-CN" sz="4000" dirty="0">
                <a:latin typeface="微软雅黑" panose="020B0503020204020204" pitchFamily="34" charset="-122"/>
                <a:ea typeface="微软雅黑" panose="020B0503020204020204" pitchFamily="34" charset="-122"/>
              </a:rPr>
              <a:t>-</a:t>
            </a:r>
            <a:r>
              <a:rPr lang="zh-CN" altLang="en-US" sz="4000" dirty="0">
                <a:latin typeface="微软雅黑" panose="020B0503020204020204" pitchFamily="34" charset="-122"/>
                <a:ea typeface="微软雅黑" panose="020B0503020204020204" pitchFamily="34" charset="-122"/>
              </a:rPr>
              <a:t>运动控制开发</a:t>
            </a:r>
          </a:p>
        </p:txBody>
      </p:sp>
      <p:sp>
        <p:nvSpPr>
          <p:cNvPr id="21" name="矩形 20">
            <a:extLst>
              <a:ext uri="{FF2B5EF4-FFF2-40B4-BE49-F238E27FC236}">
                <a16:creationId xmlns:a16="http://schemas.microsoft.com/office/drawing/2014/main" id="{5F7FEC48-1B5B-0763-BD68-A8B091435104}"/>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5/13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59A95952-2BBC-49E6-6107-709E33210369}"/>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0FC75E62-BD3B-5B5A-EFEC-224FAF5DB69D}"/>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2" name="文本框 1">
            <a:extLst>
              <a:ext uri="{FF2B5EF4-FFF2-40B4-BE49-F238E27FC236}">
                <a16:creationId xmlns:a16="http://schemas.microsoft.com/office/drawing/2014/main" id="{28FD29D8-0AA0-312F-4476-0099AE08E76E}"/>
              </a:ext>
            </a:extLst>
          </p:cNvPr>
          <p:cNvSpPr txBox="1"/>
          <p:nvPr/>
        </p:nvSpPr>
        <p:spPr>
          <a:xfrm>
            <a:off x="728027" y="1123226"/>
            <a:ext cx="7455945" cy="5013039"/>
          </a:xfrm>
          <a:prstGeom prst="rect">
            <a:avLst/>
          </a:prstGeom>
          <a:noFill/>
        </p:spPr>
        <p:txBody>
          <a:bodyPr wrap="square" rtlCol="0">
            <a:spAutoFit/>
          </a:bodyPr>
          <a:lstStyle/>
          <a:p>
            <a:pPr marL="342900" indent="-342900">
              <a:lnSpc>
                <a:spcPct val="250000"/>
              </a:lnSpc>
              <a:buFont typeface="Wingdings" panose="05000000000000000000" pitchFamily="2" charset="2"/>
              <a:buChar char="n"/>
            </a:pPr>
            <a:r>
              <a:rPr lang="zh-CN" altLang="en-US" sz="2400" b="1" dirty="0">
                <a:solidFill>
                  <a:schemeClr val="accent5">
                    <a:lumMod val="40000"/>
                    <a:lumOff val="60000"/>
                  </a:schemeClr>
                </a:solidFill>
                <a:latin typeface="微软雅黑" panose="020B0503020204020204" pitchFamily="34" charset="-122"/>
                <a:ea typeface="微软雅黑" panose="020B0503020204020204" pitchFamily="34" charset="-122"/>
              </a:rPr>
              <a:t>研究背景与意义</a:t>
            </a:r>
            <a:endParaRPr lang="en-US" altLang="zh-CN" sz="2400" b="1" dirty="0">
              <a:solidFill>
                <a:schemeClr val="accent5">
                  <a:lumMod val="40000"/>
                  <a:lumOff val="60000"/>
                </a:schemeClr>
              </a:solidFill>
              <a:latin typeface="微软雅黑" panose="020B0503020204020204" pitchFamily="34" charset="-122"/>
              <a:ea typeface="微软雅黑" panose="020B0503020204020204" pitchFamily="34" charset="-122"/>
            </a:endParaRPr>
          </a:p>
          <a:p>
            <a:pPr marL="342900" indent="-342900">
              <a:lnSpc>
                <a:spcPct val="250000"/>
              </a:lnSpc>
              <a:buFont typeface="Wingdings" panose="05000000000000000000" pitchFamily="2" charset="2"/>
              <a:buChar char="n"/>
            </a:pPr>
            <a:r>
              <a:rPr lang="zh-CN" altLang="en-US" sz="2400" b="1" dirty="0">
                <a:solidFill>
                  <a:srgbClr val="002060"/>
                </a:solidFill>
                <a:latin typeface="微软雅黑" panose="020B0503020204020204" pitchFamily="34" charset="-122"/>
                <a:ea typeface="微软雅黑" panose="020B0503020204020204" pitchFamily="34" charset="-122"/>
              </a:rPr>
              <a:t>研究目标与内容</a:t>
            </a:r>
            <a:endParaRPr lang="en-US" altLang="zh-CN" sz="2400" b="1" dirty="0">
              <a:solidFill>
                <a:srgbClr val="002060"/>
              </a:solidFill>
              <a:latin typeface="微软雅黑" panose="020B0503020204020204" pitchFamily="34" charset="-122"/>
              <a:ea typeface="微软雅黑" panose="020B0503020204020204" pitchFamily="34" charset="-122"/>
            </a:endParaRPr>
          </a:p>
          <a:p>
            <a:pPr marL="800100" lvl="1" indent="-342900">
              <a:lnSpc>
                <a:spcPct val="250000"/>
              </a:lnSpc>
              <a:buFont typeface="Wingdings" panose="05000000000000000000" pitchFamily="2" charset="2"/>
              <a:buChar char="n"/>
            </a:pPr>
            <a:r>
              <a:rPr lang="zh-CN" altLang="en-US" sz="2000" b="1" dirty="0">
                <a:solidFill>
                  <a:srgbClr val="002060"/>
                </a:solidFill>
                <a:latin typeface="微软雅黑" panose="020B0503020204020204" pitchFamily="34" charset="-122"/>
                <a:ea typeface="微软雅黑" panose="020B0503020204020204" pitchFamily="34" charset="-122"/>
              </a:rPr>
              <a:t>物理一致约束下的动力学参数辨识</a:t>
            </a:r>
            <a:endParaRPr lang="en-US" altLang="zh-CN" sz="2000" b="1" dirty="0">
              <a:solidFill>
                <a:srgbClr val="002060"/>
              </a:solidFill>
              <a:latin typeface="微软雅黑" panose="020B0503020204020204" pitchFamily="34" charset="-122"/>
              <a:ea typeface="微软雅黑" panose="020B0503020204020204" pitchFamily="34" charset="-122"/>
            </a:endParaRPr>
          </a:p>
          <a:p>
            <a:pPr marL="800100" lvl="1" indent="-342900">
              <a:lnSpc>
                <a:spcPct val="250000"/>
              </a:lnSpc>
              <a:buFont typeface="Wingdings" panose="05000000000000000000" pitchFamily="2" charset="2"/>
              <a:buChar char="n"/>
            </a:pPr>
            <a:r>
              <a:rPr lang="zh-CN" altLang="en-US" sz="2000" b="1" dirty="0">
                <a:solidFill>
                  <a:srgbClr val="002060"/>
                </a:solidFill>
                <a:latin typeface="微软雅黑" panose="020B0503020204020204" pitchFamily="34" charset="-122"/>
                <a:ea typeface="微软雅黑" panose="020B0503020204020204" pitchFamily="34" charset="-122"/>
              </a:rPr>
              <a:t>冗余机械臂分层阻抗控制</a:t>
            </a:r>
            <a:endParaRPr lang="en-US" altLang="zh-CN" sz="2000" b="1" dirty="0">
              <a:solidFill>
                <a:srgbClr val="002060"/>
              </a:solidFill>
              <a:latin typeface="微软雅黑" panose="020B0503020204020204" pitchFamily="34" charset="-122"/>
              <a:ea typeface="微软雅黑" panose="020B0503020204020204" pitchFamily="34" charset="-122"/>
            </a:endParaRPr>
          </a:p>
          <a:p>
            <a:pPr marL="800100" lvl="1" indent="-342900">
              <a:lnSpc>
                <a:spcPct val="250000"/>
              </a:lnSpc>
              <a:buFont typeface="Wingdings" panose="05000000000000000000" pitchFamily="2" charset="2"/>
              <a:buChar char="n"/>
            </a:pPr>
            <a:r>
              <a:rPr lang="zh-CN" altLang="en-US" sz="2000" b="1" dirty="0">
                <a:solidFill>
                  <a:srgbClr val="002060"/>
                </a:solidFill>
                <a:latin typeface="微软雅黑" panose="020B0503020204020204" pitchFamily="34" charset="-122"/>
                <a:ea typeface="微软雅黑" panose="020B0503020204020204" pitchFamily="34" charset="-122"/>
              </a:rPr>
              <a:t>碰撞检测与误报抑制</a:t>
            </a:r>
            <a:endParaRPr lang="en-US" altLang="zh-CN" sz="2000" b="1" dirty="0">
              <a:solidFill>
                <a:srgbClr val="002060"/>
              </a:solidFill>
              <a:latin typeface="微软雅黑" panose="020B0503020204020204" pitchFamily="34" charset="-122"/>
              <a:ea typeface="微软雅黑" panose="020B0503020204020204" pitchFamily="34" charset="-122"/>
            </a:endParaRPr>
          </a:p>
          <a:p>
            <a:pPr marL="342900" indent="-342900">
              <a:lnSpc>
                <a:spcPct val="250000"/>
              </a:lnSpc>
              <a:buFont typeface="Wingdings" panose="05000000000000000000" pitchFamily="2" charset="2"/>
              <a:buChar char="n"/>
            </a:pPr>
            <a:r>
              <a:rPr lang="zh-CN" altLang="en-US" sz="2400" b="1" dirty="0">
                <a:solidFill>
                  <a:schemeClr val="accent5">
                    <a:lumMod val="40000"/>
                    <a:lumOff val="60000"/>
                  </a:schemeClr>
                </a:solidFill>
                <a:latin typeface="微软雅黑" panose="020B0503020204020204" pitchFamily="34" charset="-122"/>
                <a:ea typeface="微软雅黑" panose="020B0503020204020204" pitchFamily="34" charset="-122"/>
              </a:rPr>
              <a:t>预期成果与进度安排</a:t>
            </a:r>
            <a:endParaRPr lang="en-US" altLang="zh-CN" sz="2400" b="1" dirty="0">
              <a:solidFill>
                <a:schemeClr val="accent5">
                  <a:lumMod val="40000"/>
                  <a:lumOff val="6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57073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3F82F-402C-0FAA-30ED-8DBD8D1CE2A1}"/>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57801CD9-724A-1F39-CBC7-DFE9049E39E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3" name="矩形 2">
            <a:extLst>
              <a:ext uri="{FF2B5EF4-FFF2-40B4-BE49-F238E27FC236}">
                <a16:creationId xmlns:a16="http://schemas.microsoft.com/office/drawing/2014/main" id="{D3B74006-B3D3-E3AB-9018-84202E6FC457}"/>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773B6A00-B742-0B54-252C-4EDFF3E987F9}"/>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1E1F8CD6-99C1-6EF9-B069-1908C24FF129}"/>
              </a:ext>
            </a:extLst>
          </p:cNvPr>
          <p:cNvSpPr txBox="1"/>
          <p:nvPr/>
        </p:nvSpPr>
        <p:spPr>
          <a:xfrm>
            <a:off x="187898" y="402345"/>
            <a:ext cx="6692962" cy="461665"/>
          </a:xfrm>
          <a:prstGeom prst="rect">
            <a:avLst/>
          </a:prstGeom>
          <a:noFill/>
        </p:spPr>
        <p:txBody>
          <a:bodyPr wrap="square">
            <a:spAutoFit/>
          </a:bodyPr>
          <a:lstStyle/>
          <a:p>
            <a:pPr lvl="0" defTabSz="457200" eaLnBrk="1" fontAlgn="auto" hangingPunct="1">
              <a:spcBef>
                <a:spcPts val="0"/>
              </a:spcBef>
              <a:spcAft>
                <a:spcPts val="0"/>
              </a:spcAft>
              <a:defRPr/>
            </a:pPr>
            <a:r>
              <a:rPr lang="zh-CN" altLang="en-US" sz="2400" b="1" dirty="0">
                <a:solidFill>
                  <a:srgbClr val="002060"/>
                </a:solidFill>
                <a:latin typeface="微软雅黑" panose="020B0503020204020204" pitchFamily="34" charset="-122"/>
                <a:ea typeface="微软雅黑" panose="020B0503020204020204" pitchFamily="34" charset="-122"/>
              </a:rPr>
              <a:t>研究目标与技术思路</a:t>
            </a:r>
          </a:p>
        </p:txBody>
      </p:sp>
      <p:sp>
        <p:nvSpPr>
          <p:cNvPr id="11" name="标题 1">
            <a:extLst>
              <a:ext uri="{FF2B5EF4-FFF2-40B4-BE49-F238E27FC236}">
                <a16:creationId xmlns:a16="http://schemas.microsoft.com/office/drawing/2014/main" id="{95BE55F7-F59C-45A4-9069-844808305A49}"/>
              </a:ext>
            </a:extLst>
          </p:cNvPr>
          <p:cNvSpPr txBox="1">
            <a:spLocks/>
          </p:cNvSpPr>
          <p:nvPr/>
        </p:nvSpPr>
        <p:spPr>
          <a:xfrm>
            <a:off x="2462863" y="2548070"/>
            <a:ext cx="5721109" cy="5847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600" b="1" kern="1200">
                <a:solidFill>
                  <a:schemeClr val="bg1"/>
                </a:solidFill>
                <a:latin typeface="+mn-ea"/>
                <a:ea typeface="+mn-ea"/>
                <a:cs typeface="+mj-cs"/>
              </a:defRPr>
            </a:lvl1pPr>
          </a:lstStyle>
          <a:p>
            <a:pPr>
              <a:lnSpc>
                <a:spcPct val="100000"/>
              </a:lnSpc>
            </a:pPr>
            <a:r>
              <a:rPr lang="zh-CN" altLang="en-US" sz="4000" dirty="0">
                <a:latin typeface="微软雅黑" panose="020B0503020204020204" pitchFamily="34" charset="-122"/>
                <a:ea typeface="微软雅黑" panose="020B0503020204020204" pitchFamily="34" charset="-122"/>
              </a:rPr>
              <a:t>具身智能</a:t>
            </a:r>
            <a:r>
              <a:rPr lang="en-US" altLang="zh-CN" sz="4000" dirty="0">
                <a:latin typeface="微软雅黑" panose="020B0503020204020204" pitchFamily="34" charset="-122"/>
                <a:ea typeface="微软雅黑" panose="020B0503020204020204" pitchFamily="34" charset="-122"/>
              </a:rPr>
              <a:t>-</a:t>
            </a:r>
            <a:r>
              <a:rPr lang="zh-CN" altLang="en-US" sz="4000" dirty="0">
                <a:latin typeface="微软雅黑" panose="020B0503020204020204" pitchFamily="34" charset="-122"/>
                <a:ea typeface="微软雅黑" panose="020B0503020204020204" pitchFamily="34" charset="-122"/>
              </a:rPr>
              <a:t>运动控制开发</a:t>
            </a:r>
          </a:p>
        </p:txBody>
      </p:sp>
      <p:sp>
        <p:nvSpPr>
          <p:cNvPr id="21" name="矩形 20">
            <a:extLst>
              <a:ext uri="{FF2B5EF4-FFF2-40B4-BE49-F238E27FC236}">
                <a16:creationId xmlns:a16="http://schemas.microsoft.com/office/drawing/2014/main" id="{E9741C3B-6D78-B049-C397-0AABA9773DAD}"/>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6/13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4D23AEA0-57CF-FC77-096A-855F4C032E64}"/>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3D5893D5-EFCA-3470-503D-884EEFFA7417}"/>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5" name="文本框 4">
            <a:extLst>
              <a:ext uri="{FF2B5EF4-FFF2-40B4-BE49-F238E27FC236}">
                <a16:creationId xmlns:a16="http://schemas.microsoft.com/office/drawing/2014/main" id="{2FED969A-438B-280F-4C87-41686E68202F}"/>
              </a:ext>
            </a:extLst>
          </p:cNvPr>
          <p:cNvSpPr txBox="1"/>
          <p:nvPr/>
        </p:nvSpPr>
        <p:spPr bwMode="auto">
          <a:xfrm>
            <a:off x="187899" y="-57186"/>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研究背景与意义</a:t>
            </a:r>
          </a:p>
        </p:txBody>
      </p:sp>
      <p:sp>
        <p:nvSpPr>
          <p:cNvPr id="7" name="文本框 6">
            <a:extLst>
              <a:ext uri="{FF2B5EF4-FFF2-40B4-BE49-F238E27FC236}">
                <a16:creationId xmlns:a16="http://schemas.microsoft.com/office/drawing/2014/main" id="{E5DC70AB-D692-8DAD-C344-94FAE0130D39}"/>
              </a:ext>
            </a:extLst>
          </p:cNvPr>
          <p:cNvSpPr txBox="1"/>
          <p:nvPr/>
        </p:nvSpPr>
        <p:spPr bwMode="auto">
          <a:xfrm>
            <a:off x="3757797" y="-57187"/>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1"/>
                </a:solidFill>
                <a:latin typeface="微软雅黑" panose="020B0503020204020204" pitchFamily="34" charset="-122"/>
                <a:ea typeface="微软雅黑" panose="020B0503020204020204" pitchFamily="34" charset="-122"/>
              </a:rPr>
              <a:t>研究目标与内容</a:t>
            </a:r>
          </a:p>
        </p:txBody>
      </p:sp>
      <p:sp>
        <p:nvSpPr>
          <p:cNvPr id="8" name="文本框 7">
            <a:extLst>
              <a:ext uri="{FF2B5EF4-FFF2-40B4-BE49-F238E27FC236}">
                <a16:creationId xmlns:a16="http://schemas.microsoft.com/office/drawing/2014/main" id="{66682692-5105-BF90-4163-1824A19C20AA}"/>
              </a:ext>
            </a:extLst>
          </p:cNvPr>
          <p:cNvSpPr txBox="1"/>
          <p:nvPr/>
        </p:nvSpPr>
        <p:spPr bwMode="auto">
          <a:xfrm>
            <a:off x="7076915" y="-54857"/>
            <a:ext cx="1879186"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预期成果与进度安排</a:t>
            </a:r>
          </a:p>
        </p:txBody>
      </p:sp>
      <p:sp>
        <p:nvSpPr>
          <p:cNvPr id="16" name="文本框 15">
            <a:extLst>
              <a:ext uri="{FF2B5EF4-FFF2-40B4-BE49-F238E27FC236}">
                <a16:creationId xmlns:a16="http://schemas.microsoft.com/office/drawing/2014/main" id="{4BF64539-BD05-C06E-A65C-C688A392AFDB}"/>
              </a:ext>
            </a:extLst>
          </p:cNvPr>
          <p:cNvSpPr txBox="1"/>
          <p:nvPr/>
        </p:nvSpPr>
        <p:spPr>
          <a:xfrm>
            <a:off x="738972" y="3510803"/>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国家发改委</a:t>
            </a:r>
          </a:p>
        </p:txBody>
      </p:sp>
      <p:sp>
        <p:nvSpPr>
          <p:cNvPr id="20" name="文本框 19">
            <a:extLst>
              <a:ext uri="{FF2B5EF4-FFF2-40B4-BE49-F238E27FC236}">
                <a16:creationId xmlns:a16="http://schemas.microsoft.com/office/drawing/2014/main" id="{6F258A0F-B8A1-8A88-2DC9-F1760F71EE4A}"/>
              </a:ext>
            </a:extLst>
          </p:cNvPr>
          <p:cNvSpPr txBox="1"/>
          <p:nvPr/>
        </p:nvSpPr>
        <p:spPr>
          <a:xfrm>
            <a:off x="5059391" y="3490576"/>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中国政府网</a:t>
            </a:r>
          </a:p>
        </p:txBody>
      </p:sp>
      <p:sp>
        <p:nvSpPr>
          <p:cNvPr id="12" name="文本框 11">
            <a:extLst>
              <a:ext uri="{FF2B5EF4-FFF2-40B4-BE49-F238E27FC236}">
                <a16:creationId xmlns:a16="http://schemas.microsoft.com/office/drawing/2014/main" id="{9887F749-5978-E427-F321-D60F031F3E9C}"/>
              </a:ext>
            </a:extLst>
          </p:cNvPr>
          <p:cNvSpPr txBox="1"/>
          <p:nvPr/>
        </p:nvSpPr>
        <p:spPr>
          <a:xfrm>
            <a:off x="187898" y="957930"/>
            <a:ext cx="8924232" cy="499624"/>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sz="2000" b="1" dirty="0">
                <a:solidFill>
                  <a:srgbClr val="365AF9"/>
                </a:solidFill>
                <a:latin typeface="微软雅黑" panose="020B0503020204020204" pitchFamily="34" charset="-122"/>
                <a:ea typeface="微软雅黑" panose="020B0503020204020204" pitchFamily="34" charset="-122"/>
              </a:rPr>
              <a:t>研究目标</a:t>
            </a:r>
          </a:p>
        </p:txBody>
      </p:sp>
      <p:sp>
        <p:nvSpPr>
          <p:cNvPr id="9" name="Shape 17">
            <a:extLst>
              <a:ext uri="{FF2B5EF4-FFF2-40B4-BE49-F238E27FC236}">
                <a16:creationId xmlns:a16="http://schemas.microsoft.com/office/drawing/2014/main" id="{C20BDB86-12F1-E157-2A41-98816FA48F08}"/>
              </a:ext>
            </a:extLst>
          </p:cNvPr>
          <p:cNvSpPr/>
          <p:nvPr/>
        </p:nvSpPr>
        <p:spPr>
          <a:xfrm>
            <a:off x="278846" y="1587418"/>
            <a:ext cx="8666526" cy="1030146"/>
          </a:xfrm>
          <a:prstGeom prst="roundRect">
            <a:avLst>
              <a:gd name="adj" fmla="val 8421"/>
            </a:avLst>
          </a:prstGeom>
          <a:solidFill>
            <a:srgbClr val="FFFFFF"/>
          </a:solidFill>
          <a:ln w="12700">
            <a:solidFill>
              <a:srgbClr val="D9E6F5"/>
            </a:solidFill>
            <a:prstDash val="solid"/>
          </a:ln>
          <a:effectLst>
            <a:outerShdw blurRad="12700" dist="50800" dir="2700000" algn="bl" rotWithShape="0">
              <a:srgbClr val="8EA5C1">
                <a:alpha val="12000"/>
              </a:srgbClr>
            </a:outerShdw>
          </a:effectLst>
        </p:spPr>
        <p:txBody>
          <a:bodyPr/>
          <a:lstStyle/>
          <a:p>
            <a:pPr>
              <a:lnSpc>
                <a:spcPct val="150000"/>
              </a:lnSpc>
            </a:pPr>
            <a:r>
              <a:rPr lang="zh-CN" altLang="en-US" dirty="0">
                <a:latin typeface="微软雅黑" panose="020B0503020204020204" pitchFamily="34" charset="-122"/>
                <a:ea typeface="微软雅黑" panose="020B0503020204020204" pitchFamily="34" charset="-122"/>
              </a:rPr>
              <a:t>面向</a:t>
            </a:r>
            <a:r>
              <a:rPr lang="zh-CN" altLang="en-US" b="1" dirty="0">
                <a:solidFill>
                  <a:srgbClr val="365AF9"/>
                </a:solidFill>
                <a:latin typeface="微软雅黑" panose="020B0503020204020204" pitchFamily="34" charset="-122"/>
                <a:ea typeface="微软雅黑" panose="020B0503020204020204" pitchFamily="34" charset="-122"/>
              </a:rPr>
              <a:t>人机协作接触作业</a:t>
            </a:r>
            <a:r>
              <a:rPr lang="zh-CN" altLang="en-US" dirty="0">
                <a:latin typeface="微软雅黑" panose="020B0503020204020204" pitchFamily="34" charset="-122"/>
                <a:ea typeface="微软雅黑" panose="020B0503020204020204" pitchFamily="34" charset="-122"/>
              </a:rPr>
              <a:t>场景，构建融合动力学参数辨识、分层阻抗控制与碰撞检测的冗余机械臂柔顺安全控制方法，提高</a:t>
            </a:r>
            <a:r>
              <a:rPr lang="zh-CN" altLang="en-US" b="1" dirty="0">
                <a:solidFill>
                  <a:srgbClr val="FF0000"/>
                </a:solidFill>
                <a:latin typeface="微软雅黑" panose="020B0503020204020204" pitchFamily="34" charset="-122"/>
                <a:ea typeface="微软雅黑" panose="020B0503020204020204" pitchFamily="34" charset="-122"/>
              </a:rPr>
              <a:t>控制精度</a:t>
            </a:r>
            <a:r>
              <a:rPr lang="zh-CN" altLang="en-US" dirty="0">
                <a:latin typeface="微软雅黑" panose="020B0503020204020204" pitchFamily="34" charset="-122"/>
                <a:ea typeface="微软雅黑" panose="020B0503020204020204" pitchFamily="34" charset="-122"/>
              </a:rPr>
              <a:t>、</a:t>
            </a:r>
            <a:r>
              <a:rPr lang="zh-CN" altLang="en-US" b="1" dirty="0">
                <a:solidFill>
                  <a:srgbClr val="FF0000"/>
                </a:solidFill>
                <a:latin typeface="微软雅黑" panose="020B0503020204020204" pitchFamily="34" charset="-122"/>
                <a:ea typeface="微软雅黑" panose="020B0503020204020204" pitchFamily="34" charset="-122"/>
              </a:rPr>
              <a:t>柔顺交互能力</a:t>
            </a:r>
            <a:r>
              <a:rPr lang="zh-CN" altLang="en-US" dirty="0">
                <a:latin typeface="微软雅黑" panose="020B0503020204020204" pitchFamily="34" charset="-122"/>
                <a:ea typeface="微软雅黑" panose="020B0503020204020204" pitchFamily="34" charset="-122"/>
              </a:rPr>
              <a:t>与</a:t>
            </a:r>
            <a:r>
              <a:rPr lang="zh-CN" altLang="en-US" b="1" dirty="0">
                <a:solidFill>
                  <a:srgbClr val="FF0000"/>
                </a:solidFill>
                <a:latin typeface="微软雅黑" panose="020B0503020204020204" pitchFamily="34" charset="-122"/>
                <a:ea typeface="微软雅黑" panose="020B0503020204020204" pitchFamily="34" charset="-122"/>
              </a:rPr>
              <a:t>安全检测可靠性</a:t>
            </a:r>
            <a:endParaRPr b="1"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2D5DFE2C-DDE9-2164-6D60-EC0918656F57}"/>
              </a:ext>
            </a:extLst>
          </p:cNvPr>
          <p:cNvSpPr txBox="1"/>
          <p:nvPr/>
        </p:nvSpPr>
        <p:spPr>
          <a:xfrm>
            <a:off x="187897" y="2661736"/>
            <a:ext cx="8924232" cy="499624"/>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sz="2000" b="1" dirty="0">
                <a:solidFill>
                  <a:srgbClr val="365AF9"/>
                </a:solidFill>
                <a:latin typeface="微软雅黑" panose="020B0503020204020204" pitchFamily="34" charset="-122"/>
                <a:ea typeface="微软雅黑" panose="020B0503020204020204" pitchFamily="34" charset="-122"/>
              </a:rPr>
              <a:t>技术思路</a:t>
            </a:r>
          </a:p>
        </p:txBody>
      </p:sp>
      <p:sp>
        <p:nvSpPr>
          <p:cNvPr id="28" name="Shape 13">
            <a:extLst>
              <a:ext uri="{FF2B5EF4-FFF2-40B4-BE49-F238E27FC236}">
                <a16:creationId xmlns:a16="http://schemas.microsoft.com/office/drawing/2014/main" id="{0B614B1A-3360-C0D1-6DC4-A2CB3BDF0257}"/>
              </a:ext>
            </a:extLst>
          </p:cNvPr>
          <p:cNvSpPr/>
          <p:nvPr/>
        </p:nvSpPr>
        <p:spPr>
          <a:xfrm>
            <a:off x="2845683" y="4003660"/>
            <a:ext cx="429768" cy="0"/>
          </a:xfrm>
          <a:prstGeom prst="line">
            <a:avLst/>
          </a:prstGeom>
          <a:noFill/>
          <a:ln w="20320">
            <a:solidFill>
              <a:srgbClr val="64748B"/>
            </a:solidFill>
            <a:prstDash val="solid"/>
            <a:headEnd type="none"/>
            <a:tailEnd type="triangle"/>
          </a:ln>
        </p:spPr>
      </p:sp>
      <p:sp>
        <p:nvSpPr>
          <p:cNvPr id="39" name="Shape 23">
            <a:extLst>
              <a:ext uri="{FF2B5EF4-FFF2-40B4-BE49-F238E27FC236}">
                <a16:creationId xmlns:a16="http://schemas.microsoft.com/office/drawing/2014/main" id="{5F9070E8-3916-9FFD-8277-19A93159AE7C}"/>
              </a:ext>
            </a:extLst>
          </p:cNvPr>
          <p:cNvSpPr/>
          <p:nvPr/>
        </p:nvSpPr>
        <p:spPr>
          <a:xfrm>
            <a:off x="5998550" y="4003660"/>
            <a:ext cx="429768" cy="0"/>
          </a:xfrm>
          <a:prstGeom prst="line">
            <a:avLst/>
          </a:prstGeom>
          <a:noFill/>
          <a:ln w="20320">
            <a:solidFill>
              <a:srgbClr val="64748B"/>
            </a:solidFill>
            <a:prstDash val="solid"/>
            <a:headEnd type="none"/>
            <a:tailEnd type="triangle"/>
          </a:ln>
        </p:spPr>
      </p:sp>
      <p:grpSp>
        <p:nvGrpSpPr>
          <p:cNvPr id="6153" name="组合 6152">
            <a:extLst>
              <a:ext uri="{FF2B5EF4-FFF2-40B4-BE49-F238E27FC236}">
                <a16:creationId xmlns:a16="http://schemas.microsoft.com/office/drawing/2014/main" id="{9B372447-B0AA-4EB2-6BEF-0FBBF131AB83}"/>
              </a:ext>
            </a:extLst>
          </p:cNvPr>
          <p:cNvGrpSpPr/>
          <p:nvPr/>
        </p:nvGrpSpPr>
        <p:grpSpPr>
          <a:xfrm>
            <a:off x="6566646" y="3336505"/>
            <a:ext cx="2377238" cy="1285861"/>
            <a:chOff x="6413863" y="3336506"/>
            <a:chExt cx="2377238" cy="1285861"/>
          </a:xfrm>
        </p:grpSpPr>
        <p:sp>
          <p:nvSpPr>
            <p:cNvPr id="6150" name="Shape 20">
              <a:extLst>
                <a:ext uri="{FF2B5EF4-FFF2-40B4-BE49-F238E27FC236}">
                  <a16:creationId xmlns:a16="http://schemas.microsoft.com/office/drawing/2014/main" id="{62D84D12-4D09-A4EA-B189-9648166CB2D8}"/>
                </a:ext>
              </a:extLst>
            </p:cNvPr>
            <p:cNvSpPr/>
            <p:nvPr/>
          </p:nvSpPr>
          <p:spPr>
            <a:xfrm>
              <a:off x="6413863" y="3336506"/>
              <a:ext cx="2377238" cy="1285861"/>
            </a:xfrm>
            <a:prstGeom prst="roundRect">
              <a:avLst>
                <a:gd name="adj" fmla="val 5517"/>
              </a:avLst>
            </a:prstGeom>
            <a:solidFill>
              <a:srgbClr val="FFFFFF"/>
            </a:solidFill>
            <a:ln w="12700">
              <a:solidFill>
                <a:srgbClr val="D9E6F5"/>
              </a:solidFill>
              <a:prstDash val="solid"/>
            </a:ln>
            <a:effectLst>
              <a:outerShdw blurRad="12700" dist="50800" dir="2700000" algn="bl" rotWithShape="0">
                <a:srgbClr val="8EA5C1">
                  <a:alpha val="12000"/>
                </a:srgbClr>
              </a:outerShdw>
            </a:effectLst>
          </p:spPr>
          <p:txBody>
            <a:bodyPr/>
            <a:lstStyle/>
            <a:p>
              <a:endParaRPr/>
            </a:p>
          </p:txBody>
        </p:sp>
        <p:sp>
          <p:nvSpPr>
            <p:cNvPr id="42" name="Text 26">
              <a:extLst>
                <a:ext uri="{FF2B5EF4-FFF2-40B4-BE49-F238E27FC236}">
                  <a16:creationId xmlns:a16="http://schemas.microsoft.com/office/drawing/2014/main" id="{F6C19BC7-8354-3CA4-7C9E-BF9DC5B53BB9}"/>
                </a:ext>
              </a:extLst>
            </p:cNvPr>
            <p:cNvSpPr/>
            <p:nvPr/>
          </p:nvSpPr>
          <p:spPr>
            <a:xfrm>
              <a:off x="6596642" y="3636342"/>
              <a:ext cx="2011680" cy="219456"/>
            </a:xfrm>
            <a:prstGeom prst="rect">
              <a:avLst/>
            </a:prstGeom>
            <a:noFill/>
            <a:ln/>
          </p:spPr>
          <p:txBody>
            <a:bodyPr wrap="square" lIns="0" tIns="0" rIns="0" bIns="0" rtlCol="0" anchor="ctr"/>
            <a:lstStyle/>
            <a:p>
              <a:pPr marL="0" indent="0" algn="ctr">
                <a:buNone/>
              </a:pPr>
              <a:r>
                <a:rPr lang="en-US" sz="1400" b="1" dirty="0">
                  <a:solidFill>
                    <a:srgbClr val="12355B"/>
                  </a:solidFill>
                  <a:latin typeface="微软雅黑" panose="020B0503020204020204" pitchFamily="34" charset="-122"/>
                  <a:ea typeface="微软雅黑" panose="020B0503020204020204" pitchFamily="34" charset="-122"/>
                </a:rPr>
                <a:t>碰撞检测与误报抑制</a:t>
              </a:r>
              <a:endParaRPr lang="en-US" sz="1400" dirty="0">
                <a:latin typeface="微软雅黑" panose="020B0503020204020204" pitchFamily="34" charset="-122"/>
                <a:ea typeface="微软雅黑" panose="020B0503020204020204" pitchFamily="34" charset="-122"/>
              </a:endParaRPr>
            </a:p>
          </p:txBody>
        </p:sp>
        <p:sp>
          <p:nvSpPr>
            <p:cNvPr id="43" name="Text 27">
              <a:extLst>
                <a:ext uri="{FF2B5EF4-FFF2-40B4-BE49-F238E27FC236}">
                  <a16:creationId xmlns:a16="http://schemas.microsoft.com/office/drawing/2014/main" id="{1B283A9B-8A57-7483-9E00-78381B90AF5C}"/>
                </a:ext>
              </a:extLst>
            </p:cNvPr>
            <p:cNvSpPr/>
            <p:nvPr/>
          </p:nvSpPr>
          <p:spPr>
            <a:xfrm>
              <a:off x="6633218" y="4056966"/>
              <a:ext cx="1920240" cy="256032"/>
            </a:xfrm>
            <a:prstGeom prst="rect">
              <a:avLst/>
            </a:prstGeom>
            <a:noFill/>
            <a:ln/>
          </p:spPr>
          <p:txBody>
            <a:bodyPr wrap="square" lIns="0" tIns="0" rIns="0" bIns="0" rtlCol="0" anchor="ctr">
              <a:normAutofit/>
            </a:bodyPr>
            <a:lstStyle/>
            <a:p>
              <a:pPr marL="0" indent="0" algn="ctr">
                <a:buNone/>
              </a:pPr>
              <a:r>
                <a:rPr lang="en-US" sz="1200" dirty="0">
                  <a:solidFill>
                    <a:srgbClr val="64748B"/>
                  </a:solidFill>
                  <a:latin typeface="微软雅黑" panose="020B0503020204020204" pitchFamily="34" charset="-122"/>
                  <a:ea typeface="微软雅黑" panose="020B0503020204020204" pitchFamily="34" charset="-122"/>
                </a:rPr>
                <a:t>区分任务接触与非预期碰撞</a:t>
              </a:r>
              <a:endParaRPr lang="en-US" sz="1200" dirty="0">
                <a:latin typeface="微软雅黑" panose="020B0503020204020204" pitchFamily="34" charset="-122"/>
                <a:ea typeface="微软雅黑" panose="020B0503020204020204" pitchFamily="34" charset="-122"/>
              </a:endParaRPr>
            </a:p>
          </p:txBody>
        </p:sp>
      </p:grpSp>
      <p:grpSp>
        <p:nvGrpSpPr>
          <p:cNvPr id="6151" name="组合 6150">
            <a:extLst>
              <a:ext uri="{FF2B5EF4-FFF2-40B4-BE49-F238E27FC236}">
                <a16:creationId xmlns:a16="http://schemas.microsoft.com/office/drawing/2014/main" id="{7D555B56-5833-1CCC-1979-301F54B25B24}"/>
              </a:ext>
            </a:extLst>
          </p:cNvPr>
          <p:cNvGrpSpPr/>
          <p:nvPr/>
        </p:nvGrpSpPr>
        <p:grpSpPr>
          <a:xfrm>
            <a:off x="237547" y="3336507"/>
            <a:ext cx="2477176" cy="1285861"/>
            <a:chOff x="237547" y="3336507"/>
            <a:chExt cx="2477176" cy="1285861"/>
          </a:xfrm>
        </p:grpSpPr>
        <p:sp>
          <p:nvSpPr>
            <p:cNvPr id="45" name="Shape 20">
              <a:extLst>
                <a:ext uri="{FF2B5EF4-FFF2-40B4-BE49-F238E27FC236}">
                  <a16:creationId xmlns:a16="http://schemas.microsoft.com/office/drawing/2014/main" id="{5C48817B-9205-EA39-0222-4EF72345E3BA}"/>
                </a:ext>
              </a:extLst>
            </p:cNvPr>
            <p:cNvSpPr/>
            <p:nvPr/>
          </p:nvSpPr>
          <p:spPr>
            <a:xfrm>
              <a:off x="287516" y="3336507"/>
              <a:ext cx="2377238" cy="1285861"/>
            </a:xfrm>
            <a:prstGeom prst="roundRect">
              <a:avLst>
                <a:gd name="adj" fmla="val 5517"/>
              </a:avLst>
            </a:prstGeom>
            <a:solidFill>
              <a:srgbClr val="FFFFFF"/>
            </a:solidFill>
            <a:ln w="12700">
              <a:solidFill>
                <a:srgbClr val="D9E6F5"/>
              </a:solidFill>
              <a:prstDash val="solid"/>
            </a:ln>
            <a:effectLst>
              <a:outerShdw blurRad="12700" dist="50800" dir="2700000" algn="bl" rotWithShape="0">
                <a:srgbClr val="8EA5C1">
                  <a:alpha val="12000"/>
                </a:srgbClr>
              </a:outerShdw>
            </a:effectLst>
          </p:spPr>
          <p:txBody>
            <a:bodyPr/>
            <a:lstStyle/>
            <a:p>
              <a:endParaRPr/>
            </a:p>
          </p:txBody>
        </p:sp>
        <p:sp>
          <p:nvSpPr>
            <p:cNvPr id="46" name="Text 11">
              <a:extLst>
                <a:ext uri="{FF2B5EF4-FFF2-40B4-BE49-F238E27FC236}">
                  <a16:creationId xmlns:a16="http://schemas.microsoft.com/office/drawing/2014/main" id="{AAD17FE3-ACE8-5DDF-406E-0CE48900D07E}"/>
                </a:ext>
              </a:extLst>
            </p:cNvPr>
            <p:cNvSpPr/>
            <p:nvPr/>
          </p:nvSpPr>
          <p:spPr>
            <a:xfrm>
              <a:off x="237547" y="3644664"/>
              <a:ext cx="2477176" cy="255063"/>
            </a:xfrm>
            <a:prstGeom prst="rect">
              <a:avLst/>
            </a:prstGeom>
            <a:noFill/>
            <a:ln/>
          </p:spPr>
          <p:txBody>
            <a:bodyPr wrap="square" lIns="0" tIns="0" rIns="0" bIns="0" rtlCol="0" anchor="ctr"/>
            <a:lstStyle/>
            <a:p>
              <a:pPr marL="0" indent="0" algn="ctr">
                <a:buNone/>
              </a:pPr>
              <a:r>
                <a:rPr lang="en-US" sz="1400" b="1" dirty="0" err="1">
                  <a:solidFill>
                    <a:srgbClr val="12355B"/>
                  </a:solidFill>
                  <a:latin typeface="微软雅黑" panose="020B0503020204020204" pitchFamily="34" charset="-122"/>
                  <a:ea typeface="微软雅黑" panose="020B0503020204020204" pitchFamily="34" charset="-122"/>
                </a:rPr>
                <a:t>动力学参数辨识</a:t>
              </a:r>
              <a:r>
                <a:rPr lang="en-US" sz="1400" b="1" dirty="0">
                  <a:solidFill>
                    <a:srgbClr val="12355B"/>
                  </a:solidFill>
                  <a:latin typeface="微软雅黑" panose="020B0503020204020204" pitchFamily="34" charset="-122"/>
                  <a:ea typeface="微软雅黑" panose="020B0503020204020204" pitchFamily="34" charset="-122"/>
                </a:rPr>
                <a:t>/</a:t>
              </a:r>
              <a:r>
                <a:rPr lang="zh-CN" altLang="en-US" sz="1400" b="1" dirty="0">
                  <a:solidFill>
                    <a:srgbClr val="12355B"/>
                  </a:solidFill>
                  <a:latin typeface="微软雅黑" panose="020B0503020204020204" pitchFamily="34" charset="-122"/>
                  <a:ea typeface="微软雅黑" panose="020B0503020204020204" pitchFamily="34" charset="-122"/>
                </a:rPr>
                <a:t>前馈补偿</a:t>
              </a:r>
              <a:endParaRPr lang="en-US" sz="1400" dirty="0">
                <a:latin typeface="微软雅黑" panose="020B0503020204020204" pitchFamily="34" charset="-122"/>
                <a:ea typeface="微软雅黑" panose="020B0503020204020204" pitchFamily="34" charset="-122"/>
              </a:endParaRPr>
            </a:p>
          </p:txBody>
        </p:sp>
        <p:sp>
          <p:nvSpPr>
            <p:cNvPr id="47" name="Text 12">
              <a:extLst>
                <a:ext uri="{FF2B5EF4-FFF2-40B4-BE49-F238E27FC236}">
                  <a16:creationId xmlns:a16="http://schemas.microsoft.com/office/drawing/2014/main" id="{BA038FC0-D229-9942-6A19-D92A3E20F4C8}"/>
                </a:ext>
              </a:extLst>
            </p:cNvPr>
            <p:cNvSpPr/>
            <p:nvPr/>
          </p:nvSpPr>
          <p:spPr>
            <a:xfrm>
              <a:off x="466983" y="4053359"/>
              <a:ext cx="1920240" cy="256032"/>
            </a:xfrm>
            <a:prstGeom prst="rect">
              <a:avLst/>
            </a:prstGeom>
            <a:noFill/>
            <a:ln/>
          </p:spPr>
          <p:txBody>
            <a:bodyPr wrap="square" lIns="0" tIns="0" rIns="0" bIns="0" rtlCol="0" anchor="ctr">
              <a:normAutofit/>
            </a:bodyPr>
            <a:lstStyle/>
            <a:p>
              <a:pPr marL="0" indent="0" algn="ctr">
                <a:buNone/>
              </a:pPr>
              <a:r>
                <a:rPr lang="en-US" sz="1200" dirty="0">
                  <a:solidFill>
                    <a:srgbClr val="64748B"/>
                  </a:solidFill>
                  <a:latin typeface="微软雅黑" panose="020B0503020204020204" pitchFamily="34" charset="-122"/>
                  <a:ea typeface="微软雅黑" panose="020B0503020204020204" pitchFamily="34" charset="-122"/>
                </a:rPr>
                <a:t>获得更接近真实系统的模型</a:t>
              </a:r>
              <a:endParaRPr lang="en-US" sz="1200" dirty="0">
                <a:latin typeface="微软雅黑" panose="020B0503020204020204" pitchFamily="34" charset="-122"/>
                <a:ea typeface="微软雅黑" panose="020B0503020204020204" pitchFamily="34" charset="-122"/>
              </a:endParaRPr>
            </a:p>
          </p:txBody>
        </p:sp>
      </p:grpSp>
      <p:grpSp>
        <p:nvGrpSpPr>
          <p:cNvPr id="6152" name="组合 6151">
            <a:extLst>
              <a:ext uri="{FF2B5EF4-FFF2-40B4-BE49-F238E27FC236}">
                <a16:creationId xmlns:a16="http://schemas.microsoft.com/office/drawing/2014/main" id="{AA11D3A0-3932-DB3F-427C-8AD3F3850ED6}"/>
              </a:ext>
            </a:extLst>
          </p:cNvPr>
          <p:cNvGrpSpPr/>
          <p:nvPr/>
        </p:nvGrpSpPr>
        <p:grpSpPr>
          <a:xfrm>
            <a:off x="3457230" y="3336815"/>
            <a:ext cx="2377238" cy="1285861"/>
            <a:chOff x="3482418" y="3336505"/>
            <a:chExt cx="2377238" cy="1285861"/>
          </a:xfrm>
        </p:grpSpPr>
        <p:sp>
          <p:nvSpPr>
            <p:cNvPr id="6149" name="Shape 20">
              <a:extLst>
                <a:ext uri="{FF2B5EF4-FFF2-40B4-BE49-F238E27FC236}">
                  <a16:creationId xmlns:a16="http://schemas.microsoft.com/office/drawing/2014/main" id="{80AC1FAE-8C14-F9E6-6DF4-30F80FC82D52}"/>
                </a:ext>
              </a:extLst>
            </p:cNvPr>
            <p:cNvSpPr/>
            <p:nvPr/>
          </p:nvSpPr>
          <p:spPr>
            <a:xfrm>
              <a:off x="3482418" y="3336505"/>
              <a:ext cx="2377238" cy="1285861"/>
            </a:xfrm>
            <a:prstGeom prst="roundRect">
              <a:avLst>
                <a:gd name="adj" fmla="val 5517"/>
              </a:avLst>
            </a:prstGeom>
            <a:solidFill>
              <a:srgbClr val="FFFFFF"/>
            </a:solidFill>
            <a:ln w="12700">
              <a:solidFill>
                <a:srgbClr val="D9E6F5"/>
              </a:solidFill>
              <a:prstDash val="solid"/>
            </a:ln>
            <a:effectLst>
              <a:outerShdw blurRad="12700" dist="50800" dir="2700000" algn="bl" rotWithShape="0">
                <a:srgbClr val="8EA5C1">
                  <a:alpha val="12000"/>
                </a:srgbClr>
              </a:outerShdw>
            </a:effectLst>
          </p:spPr>
          <p:txBody>
            <a:bodyPr/>
            <a:lstStyle/>
            <a:p>
              <a:endParaRPr/>
            </a:p>
          </p:txBody>
        </p:sp>
        <p:sp>
          <p:nvSpPr>
            <p:cNvPr id="62" name="Text 11">
              <a:extLst>
                <a:ext uri="{FF2B5EF4-FFF2-40B4-BE49-F238E27FC236}">
                  <a16:creationId xmlns:a16="http://schemas.microsoft.com/office/drawing/2014/main" id="{503AEA24-82C3-187C-02BA-8E0DA5D4CE11}"/>
                </a:ext>
              </a:extLst>
            </p:cNvPr>
            <p:cNvSpPr/>
            <p:nvPr/>
          </p:nvSpPr>
          <p:spPr>
            <a:xfrm>
              <a:off x="3665197" y="3604715"/>
              <a:ext cx="2011680" cy="219456"/>
            </a:xfrm>
            <a:prstGeom prst="rect">
              <a:avLst/>
            </a:prstGeom>
            <a:noFill/>
            <a:ln/>
          </p:spPr>
          <p:txBody>
            <a:bodyPr wrap="square" lIns="0" tIns="0" rIns="0" bIns="0" rtlCol="0" anchor="ctr"/>
            <a:lstStyle/>
            <a:p>
              <a:pPr algn="ctr"/>
              <a:r>
                <a:rPr lang="zh-CN" altLang="en-US" sz="1400" b="1" dirty="0">
                  <a:solidFill>
                    <a:srgbClr val="12355B"/>
                  </a:solidFill>
                  <a:latin typeface="微软雅黑" panose="020B0503020204020204" pitchFamily="34" charset="-122"/>
                  <a:ea typeface="微软雅黑" panose="020B0503020204020204" pitchFamily="34" charset="-122"/>
                </a:rPr>
                <a:t>分层阻抗控制</a:t>
              </a:r>
              <a:endParaRPr lang="en-US" altLang="zh-CN" sz="1400" b="1" dirty="0">
                <a:solidFill>
                  <a:srgbClr val="12355B"/>
                </a:solidFill>
                <a:latin typeface="微软雅黑" panose="020B0503020204020204" pitchFamily="34" charset="-122"/>
                <a:ea typeface="微软雅黑" panose="020B0503020204020204" pitchFamily="34" charset="-122"/>
              </a:endParaRPr>
            </a:p>
          </p:txBody>
        </p:sp>
        <p:sp>
          <p:nvSpPr>
            <p:cNvPr id="63" name="Text 12">
              <a:extLst>
                <a:ext uri="{FF2B5EF4-FFF2-40B4-BE49-F238E27FC236}">
                  <a16:creationId xmlns:a16="http://schemas.microsoft.com/office/drawing/2014/main" id="{CC5FEC0A-94BB-66B9-9136-C2EFCA2F440D}"/>
                </a:ext>
              </a:extLst>
            </p:cNvPr>
            <p:cNvSpPr/>
            <p:nvPr/>
          </p:nvSpPr>
          <p:spPr>
            <a:xfrm>
              <a:off x="3711039" y="4058305"/>
              <a:ext cx="1920240" cy="256032"/>
            </a:xfrm>
            <a:prstGeom prst="rect">
              <a:avLst/>
            </a:prstGeom>
            <a:noFill/>
            <a:ln/>
          </p:spPr>
          <p:txBody>
            <a:bodyPr wrap="square" lIns="0" tIns="0" rIns="0" bIns="0" rtlCol="0" anchor="ctr">
              <a:normAutofit/>
            </a:bodyPr>
            <a:lstStyle/>
            <a:p>
              <a:pPr algn="ctr"/>
              <a:r>
                <a:rPr lang="en-US" altLang="zh-CN" sz="1200" dirty="0" err="1">
                  <a:solidFill>
                    <a:srgbClr val="64748B"/>
                  </a:solidFill>
                  <a:latin typeface="微软雅黑" panose="020B0503020204020204" pitchFamily="34" charset="-122"/>
                  <a:ea typeface="微软雅黑" panose="020B0503020204020204" pitchFamily="34" charset="-122"/>
                </a:rPr>
                <a:t>任务空间柔顺</a:t>
              </a:r>
              <a:r>
                <a:rPr lang="en-US" altLang="zh-CN" sz="1200" dirty="0">
                  <a:solidFill>
                    <a:srgbClr val="64748B"/>
                  </a:solidFill>
                  <a:latin typeface="微软雅黑" panose="020B0503020204020204" pitchFamily="34" charset="-122"/>
                  <a:ea typeface="微软雅黑" panose="020B0503020204020204" pitchFamily="34" charset="-122"/>
                </a:rPr>
                <a:t> + </a:t>
              </a:r>
              <a:r>
                <a:rPr lang="en-US" altLang="zh-CN" sz="1200" dirty="0" err="1">
                  <a:solidFill>
                    <a:srgbClr val="64748B"/>
                  </a:solidFill>
                  <a:latin typeface="微软雅黑" panose="020B0503020204020204" pitchFamily="34" charset="-122"/>
                  <a:ea typeface="微软雅黑" panose="020B0503020204020204" pitchFamily="34" charset="-122"/>
                </a:rPr>
                <a:t>零空间</a:t>
              </a:r>
              <a:r>
                <a:rPr lang="zh-CN" altLang="en-US" sz="1200" dirty="0">
                  <a:solidFill>
                    <a:srgbClr val="64748B"/>
                  </a:solidFill>
                  <a:latin typeface="微软雅黑" panose="020B0503020204020204" pitchFamily="34" charset="-122"/>
                  <a:ea typeface="微软雅黑" panose="020B0503020204020204" pitchFamily="34" charset="-122"/>
                </a:rPr>
                <a:t>优化</a:t>
              </a:r>
              <a:endParaRPr lang="en-US" altLang="zh-CN" sz="1200" dirty="0">
                <a:latin typeface="微软雅黑" panose="020B0503020204020204" pitchFamily="34" charset="-122"/>
                <a:ea typeface="微软雅黑" panose="020B0503020204020204" pitchFamily="34" charset="-122"/>
              </a:endParaRPr>
            </a:p>
          </p:txBody>
        </p:sp>
      </p:grpSp>
      <p:sp>
        <p:nvSpPr>
          <p:cNvPr id="6147" name="Shape 17">
            <a:extLst>
              <a:ext uri="{FF2B5EF4-FFF2-40B4-BE49-F238E27FC236}">
                <a16:creationId xmlns:a16="http://schemas.microsoft.com/office/drawing/2014/main" id="{4E9BDC76-EE09-4918-4D21-33DCD4D31446}"/>
              </a:ext>
            </a:extLst>
          </p:cNvPr>
          <p:cNvSpPr/>
          <p:nvPr/>
        </p:nvSpPr>
        <p:spPr>
          <a:xfrm>
            <a:off x="278846" y="4964473"/>
            <a:ext cx="8666526" cy="1030146"/>
          </a:xfrm>
          <a:prstGeom prst="roundRect">
            <a:avLst>
              <a:gd name="adj" fmla="val 8421"/>
            </a:avLst>
          </a:prstGeom>
          <a:solidFill>
            <a:srgbClr val="FFFFFF"/>
          </a:solidFill>
          <a:ln w="12700">
            <a:solidFill>
              <a:srgbClr val="D9E6F5"/>
            </a:solidFill>
            <a:prstDash val="solid"/>
          </a:ln>
          <a:effectLst>
            <a:outerShdw blurRad="12700" dist="50800" dir="2700000" algn="bl" rotWithShape="0">
              <a:srgbClr val="8EA5C1">
                <a:alpha val="12000"/>
              </a:srgbClr>
            </a:outerShdw>
          </a:effectLst>
        </p:spPr>
        <p:txBody>
          <a:bodyPr/>
          <a:lstStyle/>
          <a:p>
            <a:pPr>
              <a:lnSpc>
                <a:spcPct val="150000"/>
              </a:lnSpc>
            </a:pPr>
            <a:r>
              <a:rPr lang="zh-CN" altLang="en-US" b="1" dirty="0">
                <a:solidFill>
                  <a:srgbClr val="365AF9"/>
                </a:solidFill>
                <a:latin typeface="微软雅黑" panose="020B0503020204020204" pitchFamily="34" charset="-122"/>
                <a:ea typeface="微软雅黑" panose="020B0503020204020204" pitchFamily="34" charset="-122"/>
              </a:rPr>
              <a:t>逻辑关系</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准确模型是柔顺控制与碰撞残差估计的基础；阻抗控制降低接触冲击；碰撞检测保障交互安全</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0714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D6AF8-C087-15D3-D282-6AA82D93ABED}"/>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4030A5A4-F7EA-E00D-31EE-BE0DDABE41D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68BFAD14-9F3A-D36E-F8AC-3A0FF777DB90}"/>
              </a:ext>
            </a:extLst>
          </p:cNvPr>
          <p:cNvSpPr>
            <a:spLocks noChangeArrowheads="1"/>
          </p:cNvSpPr>
          <p:nvPr/>
        </p:nvSpPr>
        <p:spPr bwMode="auto">
          <a:xfrm>
            <a:off x="278847" y="3044971"/>
            <a:ext cx="86665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3" name="矩形 2">
            <a:extLst>
              <a:ext uri="{FF2B5EF4-FFF2-40B4-BE49-F238E27FC236}">
                <a16:creationId xmlns:a16="http://schemas.microsoft.com/office/drawing/2014/main" id="{60ED2909-BA2D-A798-4181-3E0AE875BD49}"/>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7C04089A-74D3-A301-46DA-AACAC1302917}"/>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FF812BF-A818-069D-C7E2-9418C9FFA2C5}"/>
              </a:ext>
            </a:extLst>
          </p:cNvPr>
          <p:cNvSpPr txBox="1"/>
          <p:nvPr/>
        </p:nvSpPr>
        <p:spPr>
          <a:xfrm>
            <a:off x="187898" y="402345"/>
            <a:ext cx="6692962" cy="461665"/>
          </a:xfrm>
          <a:prstGeom prst="rect">
            <a:avLst/>
          </a:prstGeom>
          <a:noFill/>
        </p:spPr>
        <p:txBody>
          <a:bodyPr wrap="square">
            <a:spAutoFit/>
          </a:bodyPr>
          <a:lstStyle/>
          <a:p>
            <a:pPr lvl="0" defTabSz="457200" eaLnBrk="1" fontAlgn="auto" hangingPunct="1">
              <a:spcBef>
                <a:spcPts val="0"/>
              </a:spcBef>
              <a:spcAft>
                <a:spcPts val="0"/>
              </a:spcAft>
              <a:defRPr/>
            </a:pPr>
            <a:r>
              <a:rPr lang="zh-CN" altLang="en-US" sz="2400" b="1" dirty="0">
                <a:solidFill>
                  <a:srgbClr val="002060"/>
                </a:solidFill>
                <a:latin typeface="微软雅黑" panose="020B0503020204020204" pitchFamily="34" charset="-122"/>
                <a:ea typeface="微软雅黑" panose="020B0503020204020204" pitchFamily="34" charset="-122"/>
              </a:rPr>
              <a:t>研究内容一：</a:t>
            </a:r>
            <a:r>
              <a:rPr lang="en-US" altLang="zh-CN" sz="2400" b="1" dirty="0">
                <a:solidFill>
                  <a:srgbClr val="002060"/>
                </a:solidFill>
                <a:latin typeface="微软雅黑" panose="020B0503020204020204" pitchFamily="34" charset="-122"/>
                <a:ea typeface="微软雅黑" panose="020B0503020204020204" pitchFamily="34" charset="-122"/>
              </a:rPr>
              <a:t> </a:t>
            </a:r>
            <a:r>
              <a:rPr lang="en-US" altLang="zh-CN" sz="2400" b="1" dirty="0" err="1">
                <a:solidFill>
                  <a:srgbClr val="002060"/>
                </a:solidFill>
                <a:latin typeface="微软雅黑" panose="020B0503020204020204" pitchFamily="34" charset="-122"/>
                <a:ea typeface="微软雅黑" panose="020B0503020204020204" pitchFamily="34" charset="-122"/>
              </a:rPr>
              <a:t>物理一致约束下的动力学参数辨识</a:t>
            </a:r>
            <a:endParaRPr lang="zh-CN" altLang="en-US" sz="2400" b="1" dirty="0">
              <a:solidFill>
                <a:srgbClr val="002060"/>
              </a:solidFill>
              <a:latin typeface="微软雅黑" panose="020B0503020204020204" pitchFamily="34" charset="-122"/>
              <a:ea typeface="微软雅黑" panose="020B0503020204020204" pitchFamily="34" charset="-122"/>
            </a:endParaRPr>
          </a:p>
        </p:txBody>
      </p:sp>
      <p:sp>
        <p:nvSpPr>
          <p:cNvPr id="11" name="标题 1">
            <a:extLst>
              <a:ext uri="{FF2B5EF4-FFF2-40B4-BE49-F238E27FC236}">
                <a16:creationId xmlns:a16="http://schemas.microsoft.com/office/drawing/2014/main" id="{CEE670B6-1DBE-A1BC-73EF-D401C01528CA}"/>
              </a:ext>
            </a:extLst>
          </p:cNvPr>
          <p:cNvSpPr txBox="1">
            <a:spLocks/>
          </p:cNvSpPr>
          <p:nvPr/>
        </p:nvSpPr>
        <p:spPr>
          <a:xfrm>
            <a:off x="2462863" y="2548070"/>
            <a:ext cx="5721109" cy="5847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600" b="1" kern="1200">
                <a:solidFill>
                  <a:schemeClr val="bg1"/>
                </a:solidFill>
                <a:latin typeface="+mn-ea"/>
                <a:ea typeface="+mn-ea"/>
                <a:cs typeface="+mj-cs"/>
              </a:defRPr>
            </a:lvl1pPr>
          </a:lstStyle>
          <a:p>
            <a:pPr>
              <a:lnSpc>
                <a:spcPct val="100000"/>
              </a:lnSpc>
            </a:pPr>
            <a:r>
              <a:rPr lang="zh-CN" altLang="en-US" sz="4000" dirty="0">
                <a:latin typeface="微软雅黑" panose="020B0503020204020204" pitchFamily="34" charset="-122"/>
                <a:ea typeface="微软雅黑" panose="020B0503020204020204" pitchFamily="34" charset="-122"/>
              </a:rPr>
              <a:t>具身智能</a:t>
            </a:r>
            <a:r>
              <a:rPr lang="en-US" altLang="zh-CN" sz="4000" dirty="0">
                <a:latin typeface="微软雅黑" panose="020B0503020204020204" pitchFamily="34" charset="-122"/>
                <a:ea typeface="微软雅黑" panose="020B0503020204020204" pitchFamily="34" charset="-122"/>
              </a:rPr>
              <a:t>-</a:t>
            </a:r>
            <a:r>
              <a:rPr lang="zh-CN" altLang="en-US" sz="4000" dirty="0">
                <a:latin typeface="微软雅黑" panose="020B0503020204020204" pitchFamily="34" charset="-122"/>
                <a:ea typeface="微软雅黑" panose="020B0503020204020204" pitchFamily="34" charset="-122"/>
              </a:rPr>
              <a:t>运动控制开发</a:t>
            </a:r>
          </a:p>
        </p:txBody>
      </p:sp>
      <p:sp>
        <p:nvSpPr>
          <p:cNvPr id="21" name="矩形 20">
            <a:extLst>
              <a:ext uri="{FF2B5EF4-FFF2-40B4-BE49-F238E27FC236}">
                <a16:creationId xmlns:a16="http://schemas.microsoft.com/office/drawing/2014/main" id="{0881083B-8DE9-1DED-BD02-7DDF78EAD79A}"/>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7/13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2F6C4ED2-6C98-755A-56F0-B4B68DEB5907}"/>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AE97D33C-248E-A24C-CB79-4DF4023911D4}"/>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5" name="文本框 4">
            <a:extLst>
              <a:ext uri="{FF2B5EF4-FFF2-40B4-BE49-F238E27FC236}">
                <a16:creationId xmlns:a16="http://schemas.microsoft.com/office/drawing/2014/main" id="{6F4FB0B1-FAAF-16BE-16E1-5A46546F9391}"/>
              </a:ext>
            </a:extLst>
          </p:cNvPr>
          <p:cNvSpPr txBox="1"/>
          <p:nvPr/>
        </p:nvSpPr>
        <p:spPr bwMode="auto">
          <a:xfrm>
            <a:off x="187899" y="-57186"/>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研究背景与意义</a:t>
            </a:r>
          </a:p>
        </p:txBody>
      </p:sp>
      <p:sp>
        <p:nvSpPr>
          <p:cNvPr id="7" name="文本框 6">
            <a:extLst>
              <a:ext uri="{FF2B5EF4-FFF2-40B4-BE49-F238E27FC236}">
                <a16:creationId xmlns:a16="http://schemas.microsoft.com/office/drawing/2014/main" id="{2B93D803-DB5D-4A8B-6304-7B0B28777FE5}"/>
              </a:ext>
            </a:extLst>
          </p:cNvPr>
          <p:cNvSpPr txBox="1"/>
          <p:nvPr/>
        </p:nvSpPr>
        <p:spPr bwMode="auto">
          <a:xfrm>
            <a:off x="3757797" y="-57187"/>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1"/>
                </a:solidFill>
                <a:latin typeface="微软雅黑" panose="020B0503020204020204" pitchFamily="34" charset="-122"/>
                <a:ea typeface="微软雅黑" panose="020B0503020204020204" pitchFamily="34" charset="-122"/>
              </a:rPr>
              <a:t>研究目标与内容</a:t>
            </a:r>
          </a:p>
        </p:txBody>
      </p:sp>
      <p:sp>
        <p:nvSpPr>
          <p:cNvPr id="8" name="文本框 7">
            <a:extLst>
              <a:ext uri="{FF2B5EF4-FFF2-40B4-BE49-F238E27FC236}">
                <a16:creationId xmlns:a16="http://schemas.microsoft.com/office/drawing/2014/main" id="{F15ADEC7-0758-5519-EE94-0937F88B630F}"/>
              </a:ext>
            </a:extLst>
          </p:cNvPr>
          <p:cNvSpPr txBox="1"/>
          <p:nvPr/>
        </p:nvSpPr>
        <p:spPr bwMode="auto">
          <a:xfrm>
            <a:off x="7076915" y="-54857"/>
            <a:ext cx="1879186"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预期成果与进度安排</a:t>
            </a:r>
          </a:p>
        </p:txBody>
      </p:sp>
      <p:sp>
        <p:nvSpPr>
          <p:cNvPr id="15" name="文本框 14">
            <a:extLst>
              <a:ext uri="{FF2B5EF4-FFF2-40B4-BE49-F238E27FC236}">
                <a16:creationId xmlns:a16="http://schemas.microsoft.com/office/drawing/2014/main" id="{37258C6B-0074-85D8-16E5-7ED91B03E453}"/>
              </a:ext>
            </a:extLst>
          </p:cNvPr>
          <p:cNvSpPr txBox="1"/>
          <p:nvPr/>
        </p:nvSpPr>
        <p:spPr>
          <a:xfrm>
            <a:off x="738972" y="2279016"/>
            <a:ext cx="3613429" cy="1200329"/>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深入实施“人工智能</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”行动为高质量发展提供强大动能</a:t>
            </a:r>
          </a:p>
        </p:txBody>
      </p:sp>
      <p:sp>
        <p:nvSpPr>
          <p:cNvPr id="16" name="文本框 15">
            <a:extLst>
              <a:ext uri="{FF2B5EF4-FFF2-40B4-BE49-F238E27FC236}">
                <a16:creationId xmlns:a16="http://schemas.microsoft.com/office/drawing/2014/main" id="{BBDE6FE2-B3A4-5386-887F-1A3EF7904E04}"/>
              </a:ext>
            </a:extLst>
          </p:cNvPr>
          <p:cNvSpPr txBox="1"/>
          <p:nvPr/>
        </p:nvSpPr>
        <p:spPr>
          <a:xfrm>
            <a:off x="738972" y="3510803"/>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国家发改委</a:t>
            </a:r>
          </a:p>
        </p:txBody>
      </p:sp>
      <p:sp>
        <p:nvSpPr>
          <p:cNvPr id="20" name="文本框 19">
            <a:extLst>
              <a:ext uri="{FF2B5EF4-FFF2-40B4-BE49-F238E27FC236}">
                <a16:creationId xmlns:a16="http://schemas.microsoft.com/office/drawing/2014/main" id="{4F1BD0E1-D201-16B8-3CB2-EA029DD0D37E}"/>
              </a:ext>
            </a:extLst>
          </p:cNvPr>
          <p:cNvSpPr txBox="1"/>
          <p:nvPr/>
        </p:nvSpPr>
        <p:spPr>
          <a:xfrm>
            <a:off x="5059391" y="3490576"/>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中国政府网</a:t>
            </a:r>
          </a:p>
        </p:txBody>
      </p:sp>
      <p:sp>
        <p:nvSpPr>
          <p:cNvPr id="12" name="文本框 11">
            <a:extLst>
              <a:ext uri="{FF2B5EF4-FFF2-40B4-BE49-F238E27FC236}">
                <a16:creationId xmlns:a16="http://schemas.microsoft.com/office/drawing/2014/main" id="{468D88BC-4296-685B-F409-C516C2910B4B}"/>
              </a:ext>
            </a:extLst>
          </p:cNvPr>
          <p:cNvSpPr txBox="1"/>
          <p:nvPr/>
        </p:nvSpPr>
        <p:spPr>
          <a:xfrm>
            <a:off x="187898" y="957930"/>
            <a:ext cx="8924232" cy="499624"/>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en-US" altLang="zh-CN" sz="2000" dirty="0" err="1">
                <a:latin typeface="微软雅黑" panose="020B0503020204020204" pitchFamily="34" charset="-122"/>
                <a:ea typeface="微软雅黑" panose="020B0503020204020204" pitchFamily="34" charset="-122"/>
              </a:rPr>
              <a:t>提高动力学模型精度，为前馈补偿、阻抗控制和外力估计提供模型基础</a:t>
            </a:r>
            <a:endParaRPr lang="en-US" altLang="zh-CN" sz="2000" dirty="0">
              <a:latin typeface="微软雅黑" panose="020B0503020204020204" pitchFamily="34" charset="-122"/>
              <a:ea typeface="微软雅黑" panose="020B0503020204020204" pitchFamily="34" charset="-122"/>
            </a:endParaRPr>
          </a:p>
        </p:txBody>
      </p:sp>
      <p:sp>
        <p:nvSpPr>
          <p:cNvPr id="6147" name="Shape 17">
            <a:extLst>
              <a:ext uri="{FF2B5EF4-FFF2-40B4-BE49-F238E27FC236}">
                <a16:creationId xmlns:a16="http://schemas.microsoft.com/office/drawing/2014/main" id="{DEF147A0-D779-2201-C9D1-940B5663FE5A}"/>
              </a:ext>
            </a:extLst>
          </p:cNvPr>
          <p:cNvSpPr/>
          <p:nvPr/>
        </p:nvSpPr>
        <p:spPr>
          <a:xfrm>
            <a:off x="278845" y="1587948"/>
            <a:ext cx="4190284" cy="4698552"/>
          </a:xfrm>
          <a:prstGeom prst="roundRect">
            <a:avLst>
              <a:gd name="adj" fmla="val 8421"/>
            </a:avLst>
          </a:prstGeom>
          <a:solidFill>
            <a:srgbClr val="FFFFFF"/>
          </a:solidFill>
          <a:ln w="12700">
            <a:solidFill>
              <a:srgbClr val="D9E6F5"/>
            </a:solidFill>
            <a:prstDash val="solid"/>
          </a:ln>
          <a:effectLst>
            <a:outerShdw blurRad="12700" dist="50800" dir="2700000" algn="bl" rotWithShape="0">
              <a:srgbClr val="8EA5C1">
                <a:alpha val="12000"/>
              </a:srgbClr>
            </a:outerShdw>
          </a:effectLst>
        </p:spPr>
        <p:txBody>
          <a:bodyPr/>
          <a:lstStyle/>
          <a:p>
            <a:pPr>
              <a:lnSpc>
                <a:spcPct val="150000"/>
              </a:lnSpc>
            </a:pPr>
            <a:endParaRPr dirty="0">
              <a:latin typeface="宋体" panose="02010600030101010101" pitchFamily="2" charset="-122"/>
            </a:endParaRPr>
          </a:p>
        </p:txBody>
      </p:sp>
      <p:sp>
        <p:nvSpPr>
          <p:cNvPr id="2" name="Shape 17">
            <a:extLst>
              <a:ext uri="{FF2B5EF4-FFF2-40B4-BE49-F238E27FC236}">
                <a16:creationId xmlns:a16="http://schemas.microsoft.com/office/drawing/2014/main" id="{F0D8B48B-0A4A-4B2B-4874-6DCB442B0979}"/>
              </a:ext>
            </a:extLst>
          </p:cNvPr>
          <p:cNvSpPr/>
          <p:nvPr/>
        </p:nvSpPr>
        <p:spPr>
          <a:xfrm>
            <a:off x="4674873" y="1591969"/>
            <a:ext cx="4190284" cy="4691052"/>
          </a:xfrm>
          <a:prstGeom prst="roundRect">
            <a:avLst>
              <a:gd name="adj" fmla="val 8421"/>
            </a:avLst>
          </a:prstGeom>
          <a:solidFill>
            <a:srgbClr val="FFFFFF"/>
          </a:solidFill>
          <a:ln w="12700">
            <a:solidFill>
              <a:srgbClr val="D9E6F5"/>
            </a:solidFill>
            <a:prstDash val="solid"/>
          </a:ln>
          <a:effectLst>
            <a:outerShdw blurRad="12700" dist="50800" dir="2700000" algn="bl" rotWithShape="0">
              <a:srgbClr val="8EA5C1">
                <a:alpha val="12000"/>
              </a:srgbClr>
            </a:outerShdw>
          </a:effectLst>
        </p:spPr>
        <p:txBody>
          <a:bodyPr/>
          <a:lstStyle/>
          <a:p>
            <a:pPr>
              <a:lnSpc>
                <a:spcPct val="150000"/>
              </a:lnSpc>
            </a:pPr>
            <a:endParaRPr dirty="0">
              <a:latin typeface="宋体" panose="02010600030101010101" pitchFamily="2" charset="-122"/>
            </a:endParaRPr>
          </a:p>
        </p:txBody>
      </p:sp>
      <p:sp>
        <p:nvSpPr>
          <p:cNvPr id="13" name="Shape 7">
            <a:extLst>
              <a:ext uri="{FF2B5EF4-FFF2-40B4-BE49-F238E27FC236}">
                <a16:creationId xmlns:a16="http://schemas.microsoft.com/office/drawing/2014/main" id="{F426D101-52A9-886E-592F-22F5A7EC95FA}"/>
              </a:ext>
            </a:extLst>
          </p:cNvPr>
          <p:cNvSpPr/>
          <p:nvPr/>
        </p:nvSpPr>
        <p:spPr>
          <a:xfrm>
            <a:off x="1234441" y="1700046"/>
            <a:ext cx="2194560" cy="415190"/>
          </a:xfrm>
          <a:prstGeom prst="roundRect">
            <a:avLst>
              <a:gd name="adj" fmla="val 8000"/>
            </a:avLst>
          </a:prstGeom>
          <a:solidFill>
            <a:schemeClr val="bg1">
              <a:lumMod val="85000"/>
            </a:schemeClr>
          </a:solidFill>
          <a:ln w="12700">
            <a:solidFill>
              <a:srgbClr val="CFE3FF"/>
            </a:solidFill>
            <a:prstDash val="solid"/>
          </a:ln>
          <a:effectLst>
            <a:outerShdw blurRad="12700" dist="50800" dir="2700000" algn="bl" rotWithShape="0">
              <a:srgbClr val="94A3B8">
                <a:alpha val="12000"/>
              </a:srgbClr>
            </a:outerShdw>
          </a:effectLst>
        </p:spPr>
        <p:txBody>
          <a:bodyPr/>
          <a:lstStyle/>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研究问题</a:t>
            </a:r>
          </a:p>
        </p:txBody>
      </p:sp>
      <p:sp>
        <p:nvSpPr>
          <p:cNvPr id="14" name="Shape 7">
            <a:extLst>
              <a:ext uri="{FF2B5EF4-FFF2-40B4-BE49-F238E27FC236}">
                <a16:creationId xmlns:a16="http://schemas.microsoft.com/office/drawing/2014/main" id="{E332F361-92E4-4824-CCAD-2D99B4EE8D04}"/>
              </a:ext>
            </a:extLst>
          </p:cNvPr>
          <p:cNvSpPr/>
          <p:nvPr/>
        </p:nvSpPr>
        <p:spPr>
          <a:xfrm>
            <a:off x="5714999" y="1738670"/>
            <a:ext cx="2194560" cy="415190"/>
          </a:xfrm>
          <a:prstGeom prst="roundRect">
            <a:avLst>
              <a:gd name="adj" fmla="val 8000"/>
            </a:avLst>
          </a:prstGeom>
          <a:solidFill>
            <a:schemeClr val="bg1">
              <a:lumMod val="85000"/>
            </a:schemeClr>
          </a:solidFill>
          <a:ln w="12700">
            <a:solidFill>
              <a:srgbClr val="CFE3FF"/>
            </a:solidFill>
            <a:prstDash val="solid"/>
          </a:ln>
          <a:effectLst>
            <a:outerShdw blurRad="12700" dist="50800" dir="2700000" algn="bl" rotWithShape="0">
              <a:srgbClr val="94A3B8">
                <a:alpha val="12000"/>
              </a:srgbClr>
            </a:outerShdw>
          </a:effectLst>
        </p:spPr>
        <p:txBody>
          <a:bodyPr/>
          <a:lstStyle/>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研究方案</a:t>
            </a:r>
          </a:p>
        </p:txBody>
      </p:sp>
      <p:sp>
        <p:nvSpPr>
          <p:cNvPr id="18" name="文本框 17">
            <a:extLst>
              <a:ext uri="{FF2B5EF4-FFF2-40B4-BE49-F238E27FC236}">
                <a16:creationId xmlns:a16="http://schemas.microsoft.com/office/drawing/2014/main" id="{7EAEB3A1-8E27-744F-ACEE-D7FA41235254}"/>
              </a:ext>
            </a:extLst>
          </p:cNvPr>
          <p:cNvSpPr txBox="1"/>
          <p:nvPr/>
        </p:nvSpPr>
        <p:spPr bwMode="auto">
          <a:xfrm>
            <a:off x="630436" y="2407072"/>
            <a:ext cx="3402569" cy="369332"/>
          </a:xfrm>
          <a:prstGeom prst="rect">
            <a:avLst/>
          </a:prstGeom>
          <a:noFill/>
          <a:ln w="9525">
            <a:noFill/>
            <a:miter lim="800000"/>
          </a:ln>
        </p:spPr>
        <p:txBody>
          <a:bodyPr wrap="square">
            <a:spAutoFit/>
          </a:bodyPr>
          <a:lstStyle/>
          <a:p>
            <a:pPr marL="0" indent="0" algn="ctr">
              <a:buNone/>
            </a:pPr>
            <a:r>
              <a:rPr lang="en-US" altLang="zh-CN" dirty="0" err="1">
                <a:latin typeface="微软雅黑" panose="020B0503020204020204" pitchFamily="34" charset="-122"/>
                <a:ea typeface="微软雅黑" panose="020B0503020204020204" pitchFamily="34" charset="-122"/>
              </a:rPr>
              <a:t>名义模型与真实机器人存在偏差</a:t>
            </a:r>
            <a:endParaRPr lang="en-US" altLang="zh-CN"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808B1339-3E94-051D-BEE4-8A9F41330691}"/>
              </a:ext>
            </a:extLst>
          </p:cNvPr>
          <p:cNvSpPr txBox="1"/>
          <p:nvPr/>
        </p:nvSpPr>
        <p:spPr bwMode="auto">
          <a:xfrm>
            <a:off x="302974" y="2833045"/>
            <a:ext cx="4131865" cy="3065070"/>
          </a:xfrm>
          <a:prstGeom prst="rect">
            <a:avLst/>
          </a:prstGeom>
          <a:noFill/>
          <a:ln w="9525">
            <a:noFill/>
            <a:miter lim="800000"/>
          </a:ln>
        </p:spPr>
        <p:txBody>
          <a:bodyPr wrap="square">
            <a:spAutoFit/>
          </a:bodyPr>
          <a:lstStyle/>
          <a:p>
            <a:pPr marL="342900" indent="-342900">
              <a:lnSpc>
                <a:spcPct val="250000"/>
              </a:lnSpc>
              <a:buFont typeface="+mj-lt"/>
              <a:buAutoNum type="arabicPeriod"/>
            </a:pPr>
            <a:r>
              <a:rPr lang="en-US" altLang="zh-CN" sz="1600" dirty="0" err="1">
                <a:solidFill>
                  <a:srgbClr val="172033"/>
                </a:solidFill>
                <a:latin typeface="微软雅黑" panose="020B0503020204020204" pitchFamily="34" charset="-122"/>
                <a:ea typeface="微软雅黑" panose="020B0503020204020204" pitchFamily="34" charset="-122"/>
              </a:rPr>
              <a:t>连杆</a:t>
            </a:r>
            <a:r>
              <a:rPr lang="zh-CN" altLang="en-US" sz="1600" dirty="0">
                <a:solidFill>
                  <a:srgbClr val="172033"/>
                </a:solidFill>
                <a:latin typeface="微软雅黑" panose="020B0503020204020204" pitchFamily="34" charset="-122"/>
                <a:ea typeface="微软雅黑" panose="020B0503020204020204" pitchFamily="34" charset="-122"/>
              </a:rPr>
              <a:t>质量、质心位置、</a:t>
            </a:r>
            <a:r>
              <a:rPr lang="en-US" altLang="zh-CN" sz="1600" dirty="0" err="1">
                <a:solidFill>
                  <a:srgbClr val="172033"/>
                </a:solidFill>
                <a:latin typeface="微软雅黑" panose="020B0503020204020204" pitchFamily="34" charset="-122"/>
                <a:ea typeface="微软雅黑" panose="020B0503020204020204" pitchFamily="34" charset="-122"/>
              </a:rPr>
              <a:t>惯量与关节摩擦难以准确获得</a:t>
            </a:r>
            <a:endParaRPr lang="en-US" altLang="zh-CN" sz="1600" dirty="0">
              <a:solidFill>
                <a:srgbClr val="172033"/>
              </a:solidFill>
              <a:latin typeface="微软雅黑" panose="020B0503020204020204" pitchFamily="34" charset="-122"/>
              <a:ea typeface="微软雅黑" panose="020B0503020204020204" pitchFamily="34" charset="-122"/>
            </a:endParaRPr>
          </a:p>
          <a:p>
            <a:pPr marL="342900" indent="-342900">
              <a:lnSpc>
                <a:spcPct val="250000"/>
              </a:lnSpc>
              <a:buFont typeface="+mj-lt"/>
              <a:buAutoNum type="arabicPeriod"/>
            </a:pPr>
            <a:r>
              <a:rPr lang="zh-CN" altLang="en-US" sz="1600" dirty="0">
                <a:solidFill>
                  <a:srgbClr val="172033"/>
                </a:solidFill>
                <a:latin typeface="微软雅黑" panose="020B0503020204020204" pitchFamily="34" charset="-122"/>
                <a:ea typeface="微软雅黑" panose="020B0503020204020204" pitchFamily="34" charset="-122"/>
              </a:rPr>
              <a:t>关节位置、速度、加速度、力矩数据</a:t>
            </a:r>
            <a:r>
              <a:rPr lang="en-US" altLang="zh-CN" sz="1600" dirty="0" err="1">
                <a:solidFill>
                  <a:srgbClr val="172033"/>
                </a:solidFill>
                <a:latin typeface="微软雅黑" panose="020B0503020204020204" pitchFamily="34" charset="-122"/>
                <a:ea typeface="微软雅黑" panose="020B0503020204020204" pitchFamily="34" charset="-122"/>
              </a:rPr>
              <a:t>噪声会影响回归矩阵质量</a:t>
            </a:r>
            <a:endParaRPr lang="en-US" altLang="zh-CN" sz="1600" dirty="0">
              <a:latin typeface="微软雅黑" panose="020B0503020204020204" pitchFamily="34" charset="-122"/>
              <a:ea typeface="微软雅黑" panose="020B0503020204020204" pitchFamily="34" charset="-122"/>
            </a:endParaRPr>
          </a:p>
          <a:p>
            <a:pPr marL="342900" indent="-342900">
              <a:lnSpc>
                <a:spcPct val="250000"/>
              </a:lnSpc>
              <a:buFont typeface="+mj-lt"/>
              <a:buAutoNum type="arabicPeriod"/>
            </a:pPr>
            <a:r>
              <a:rPr lang="en-US" altLang="zh-CN" sz="1600" dirty="0" err="1">
                <a:solidFill>
                  <a:srgbClr val="172033"/>
                </a:solidFill>
                <a:latin typeface="微软雅黑" panose="020B0503020204020204" pitchFamily="34" charset="-122"/>
                <a:ea typeface="微软雅黑" panose="020B0503020204020204" pitchFamily="34" charset="-122"/>
              </a:rPr>
              <a:t>无约束辨识可能出现不合理物理参数</a:t>
            </a:r>
            <a:endParaRPr lang="en-US" altLang="zh-CN" sz="1600" dirty="0">
              <a:latin typeface="微软雅黑" panose="020B0503020204020204" pitchFamily="34" charset="-122"/>
              <a:ea typeface="微软雅黑" panose="020B0503020204020204" pitchFamily="34" charset="-122"/>
            </a:endParaRPr>
          </a:p>
        </p:txBody>
      </p:sp>
      <p:sp>
        <p:nvSpPr>
          <p:cNvPr id="27" name="Shape 30">
            <a:extLst>
              <a:ext uri="{FF2B5EF4-FFF2-40B4-BE49-F238E27FC236}">
                <a16:creationId xmlns:a16="http://schemas.microsoft.com/office/drawing/2014/main" id="{29DA7452-A72E-6EFE-F4F3-34C9D0D18948}"/>
              </a:ext>
            </a:extLst>
          </p:cNvPr>
          <p:cNvSpPr/>
          <p:nvPr/>
        </p:nvSpPr>
        <p:spPr>
          <a:xfrm>
            <a:off x="5132176" y="2558680"/>
            <a:ext cx="886965" cy="369332"/>
          </a:xfrm>
          <a:prstGeom prst="roundRect">
            <a:avLst>
              <a:gd name="adj" fmla="val 15625"/>
            </a:avLst>
          </a:prstGeom>
          <a:solidFill>
            <a:srgbClr val="EFF6FF"/>
          </a:solidFill>
          <a:ln w="12700">
            <a:solidFill>
              <a:srgbClr val="EFF6FF"/>
            </a:solidFill>
            <a:prstDash val="solid"/>
          </a:ln>
        </p:spPr>
        <p:txBody>
          <a:bodyPr/>
          <a:lstStyle/>
          <a:p>
            <a:endParaRPr/>
          </a:p>
        </p:txBody>
      </p:sp>
      <p:sp>
        <p:nvSpPr>
          <p:cNvPr id="29" name="Text 31">
            <a:extLst>
              <a:ext uri="{FF2B5EF4-FFF2-40B4-BE49-F238E27FC236}">
                <a16:creationId xmlns:a16="http://schemas.microsoft.com/office/drawing/2014/main" id="{5D086F9C-752F-D34A-4E70-273380774EF2}"/>
              </a:ext>
            </a:extLst>
          </p:cNvPr>
          <p:cNvSpPr/>
          <p:nvPr/>
        </p:nvSpPr>
        <p:spPr>
          <a:xfrm>
            <a:off x="5255618" y="2641284"/>
            <a:ext cx="640080" cy="232612"/>
          </a:xfrm>
          <a:prstGeom prst="rect">
            <a:avLst/>
          </a:prstGeom>
          <a:noFill/>
          <a:ln/>
        </p:spPr>
        <p:txBody>
          <a:bodyPr wrap="square" lIns="0" tIns="0" rIns="0" bIns="0" rtlCol="0" anchor="ctr"/>
          <a:lstStyle/>
          <a:p>
            <a:pPr marL="0" indent="0" algn="ctr">
              <a:buNone/>
            </a:pPr>
            <a:r>
              <a:rPr lang="en-US" sz="1600" b="1" dirty="0">
                <a:solidFill>
                  <a:srgbClr val="1F5FAE"/>
                </a:solidFill>
                <a:latin typeface="微软雅黑" panose="020B0503020204020204" pitchFamily="34" charset="-122"/>
                <a:ea typeface="微软雅黑" panose="020B0503020204020204" pitchFamily="34" charset="-122"/>
              </a:rPr>
              <a:t>建模</a:t>
            </a:r>
            <a:endParaRPr lang="en-US" sz="1600" dirty="0">
              <a:latin typeface="微软雅黑" panose="020B0503020204020204" pitchFamily="34" charset="-122"/>
              <a:ea typeface="微软雅黑" panose="020B0503020204020204" pitchFamily="34" charset="-122"/>
            </a:endParaRPr>
          </a:p>
        </p:txBody>
      </p:sp>
      <p:sp>
        <p:nvSpPr>
          <p:cNvPr id="30" name="Text 32">
            <a:extLst>
              <a:ext uri="{FF2B5EF4-FFF2-40B4-BE49-F238E27FC236}">
                <a16:creationId xmlns:a16="http://schemas.microsoft.com/office/drawing/2014/main" id="{E4A40E70-5C92-44B0-BE27-8076CA0B4171}"/>
              </a:ext>
            </a:extLst>
          </p:cNvPr>
          <p:cNvSpPr/>
          <p:nvPr/>
        </p:nvSpPr>
        <p:spPr>
          <a:xfrm>
            <a:off x="6620255" y="2599080"/>
            <a:ext cx="1563717" cy="274816"/>
          </a:xfrm>
          <a:prstGeom prst="rect">
            <a:avLst/>
          </a:prstGeom>
          <a:noFill/>
          <a:ln/>
        </p:spPr>
        <p:txBody>
          <a:bodyPr wrap="square" lIns="0" tIns="0" rIns="0" bIns="0" rtlCol="0" anchor="ctr"/>
          <a:lstStyle/>
          <a:p>
            <a:pPr marL="0" indent="0">
              <a:buNone/>
            </a:pPr>
            <a:r>
              <a:rPr lang="en-US" sz="1600" dirty="0">
                <a:solidFill>
                  <a:srgbClr val="172033"/>
                </a:solidFill>
                <a:latin typeface="微软雅黑" panose="020B0503020204020204" pitchFamily="34" charset="-122"/>
                <a:ea typeface="微软雅黑" panose="020B0503020204020204" pitchFamily="34" charset="-122"/>
              </a:rPr>
              <a:t>动力学回归模型</a:t>
            </a:r>
            <a:endParaRPr lang="en-US" sz="1600" dirty="0">
              <a:latin typeface="微软雅黑" panose="020B0503020204020204" pitchFamily="34" charset="-122"/>
              <a:ea typeface="微软雅黑" panose="020B0503020204020204" pitchFamily="34" charset="-122"/>
            </a:endParaRPr>
          </a:p>
        </p:txBody>
      </p:sp>
      <p:sp>
        <p:nvSpPr>
          <p:cNvPr id="31" name="Shape 33">
            <a:extLst>
              <a:ext uri="{FF2B5EF4-FFF2-40B4-BE49-F238E27FC236}">
                <a16:creationId xmlns:a16="http://schemas.microsoft.com/office/drawing/2014/main" id="{20ECAD16-316E-632B-32B6-EECBA99D63FA}"/>
              </a:ext>
            </a:extLst>
          </p:cNvPr>
          <p:cNvSpPr/>
          <p:nvPr/>
        </p:nvSpPr>
        <p:spPr>
          <a:xfrm>
            <a:off x="5538245" y="2928012"/>
            <a:ext cx="0" cy="336231"/>
          </a:xfrm>
          <a:prstGeom prst="line">
            <a:avLst/>
          </a:prstGeom>
          <a:noFill/>
          <a:ln w="13970">
            <a:solidFill>
              <a:srgbClr val="4BA3E3"/>
            </a:solidFill>
            <a:prstDash val="solid"/>
            <a:tailEnd type="triangle"/>
          </a:ln>
        </p:spPr>
        <p:txBody>
          <a:bodyPr/>
          <a:lstStyle/>
          <a:p>
            <a:endParaRPr/>
          </a:p>
        </p:txBody>
      </p:sp>
      <p:sp>
        <p:nvSpPr>
          <p:cNvPr id="48" name="Text 43">
            <a:extLst>
              <a:ext uri="{FF2B5EF4-FFF2-40B4-BE49-F238E27FC236}">
                <a16:creationId xmlns:a16="http://schemas.microsoft.com/office/drawing/2014/main" id="{63393CCB-51C8-FAC8-28C7-A5F8FED5B617}"/>
              </a:ext>
            </a:extLst>
          </p:cNvPr>
          <p:cNvSpPr/>
          <p:nvPr/>
        </p:nvSpPr>
        <p:spPr>
          <a:xfrm>
            <a:off x="5489966" y="5231317"/>
            <a:ext cx="640080" cy="73152"/>
          </a:xfrm>
          <a:prstGeom prst="rect">
            <a:avLst/>
          </a:prstGeom>
          <a:noFill/>
          <a:ln/>
        </p:spPr>
        <p:txBody>
          <a:bodyPr wrap="square" lIns="0" tIns="0" rIns="0" bIns="0" rtlCol="0" anchor="ctr"/>
          <a:lstStyle/>
          <a:p>
            <a:pPr marL="0" indent="0" algn="ctr">
              <a:buNone/>
            </a:pPr>
            <a:r>
              <a:rPr lang="en-US" sz="750" b="1" dirty="0">
                <a:solidFill>
                  <a:srgbClr val="FFFFFF"/>
                </a:solidFill>
                <a:latin typeface="微软雅黑" panose="020B0503020204020204" pitchFamily="34" charset="-122"/>
                <a:ea typeface="微软雅黑" panose="020B0503020204020204" pitchFamily="34" charset="-122"/>
              </a:rPr>
              <a:t>求解</a:t>
            </a:r>
            <a:endParaRPr lang="en-US" sz="750" dirty="0">
              <a:latin typeface="微软雅黑" panose="020B0503020204020204" pitchFamily="34" charset="-122"/>
              <a:ea typeface="微软雅黑" panose="020B0503020204020204" pitchFamily="34" charset="-122"/>
            </a:endParaRPr>
          </a:p>
        </p:txBody>
      </p:sp>
      <p:sp>
        <p:nvSpPr>
          <p:cNvPr id="59" name="Shape 30">
            <a:extLst>
              <a:ext uri="{FF2B5EF4-FFF2-40B4-BE49-F238E27FC236}">
                <a16:creationId xmlns:a16="http://schemas.microsoft.com/office/drawing/2014/main" id="{2D6D8CD7-BEDE-E983-A044-63E4771D5D5B}"/>
              </a:ext>
            </a:extLst>
          </p:cNvPr>
          <p:cNvSpPr/>
          <p:nvPr/>
        </p:nvSpPr>
        <p:spPr>
          <a:xfrm>
            <a:off x="5132176" y="3282887"/>
            <a:ext cx="886965" cy="369332"/>
          </a:xfrm>
          <a:prstGeom prst="roundRect">
            <a:avLst>
              <a:gd name="adj" fmla="val 15625"/>
            </a:avLst>
          </a:prstGeom>
          <a:solidFill>
            <a:srgbClr val="EFF6FF"/>
          </a:solidFill>
          <a:ln w="12700">
            <a:solidFill>
              <a:srgbClr val="EFF6FF"/>
            </a:solidFill>
            <a:prstDash val="solid"/>
          </a:ln>
        </p:spPr>
        <p:txBody>
          <a:bodyPr/>
          <a:lstStyle/>
          <a:p>
            <a:endParaRPr/>
          </a:p>
        </p:txBody>
      </p:sp>
      <p:sp>
        <p:nvSpPr>
          <p:cNvPr id="60" name="Text 31">
            <a:extLst>
              <a:ext uri="{FF2B5EF4-FFF2-40B4-BE49-F238E27FC236}">
                <a16:creationId xmlns:a16="http://schemas.microsoft.com/office/drawing/2014/main" id="{E99EB068-17CD-FD7B-7CFF-8D4F53397CDA}"/>
              </a:ext>
            </a:extLst>
          </p:cNvPr>
          <p:cNvSpPr/>
          <p:nvPr/>
        </p:nvSpPr>
        <p:spPr>
          <a:xfrm>
            <a:off x="5255618" y="3365491"/>
            <a:ext cx="640080" cy="232612"/>
          </a:xfrm>
          <a:prstGeom prst="rect">
            <a:avLst/>
          </a:prstGeom>
          <a:noFill/>
          <a:ln/>
        </p:spPr>
        <p:txBody>
          <a:bodyPr wrap="square" lIns="0" tIns="0" rIns="0" bIns="0" rtlCol="0" anchor="ctr"/>
          <a:lstStyle/>
          <a:p>
            <a:pPr marL="0" indent="0" algn="ctr">
              <a:buNone/>
            </a:pPr>
            <a:r>
              <a:rPr lang="zh-CN" altLang="en-US" sz="1600" b="1" dirty="0">
                <a:solidFill>
                  <a:srgbClr val="1F5FAE"/>
                </a:solidFill>
                <a:latin typeface="微软雅黑" panose="020B0503020204020204" pitchFamily="34" charset="-122"/>
                <a:ea typeface="微软雅黑" panose="020B0503020204020204" pitchFamily="34" charset="-122"/>
              </a:rPr>
              <a:t>采集</a:t>
            </a:r>
            <a:endParaRPr lang="en-US" sz="1600" dirty="0">
              <a:latin typeface="微软雅黑" panose="020B0503020204020204" pitchFamily="34" charset="-122"/>
              <a:ea typeface="微软雅黑" panose="020B0503020204020204" pitchFamily="34" charset="-122"/>
            </a:endParaRPr>
          </a:p>
        </p:txBody>
      </p:sp>
      <p:sp>
        <p:nvSpPr>
          <p:cNvPr id="6144" name="Text 32">
            <a:extLst>
              <a:ext uri="{FF2B5EF4-FFF2-40B4-BE49-F238E27FC236}">
                <a16:creationId xmlns:a16="http://schemas.microsoft.com/office/drawing/2014/main" id="{8AE774BB-4646-AFC8-2282-0312EDAB0F0F}"/>
              </a:ext>
            </a:extLst>
          </p:cNvPr>
          <p:cNvSpPr/>
          <p:nvPr/>
        </p:nvSpPr>
        <p:spPr>
          <a:xfrm>
            <a:off x="6620255" y="3323287"/>
            <a:ext cx="1756765" cy="270901"/>
          </a:xfrm>
          <a:prstGeom prst="rect">
            <a:avLst/>
          </a:prstGeom>
          <a:noFill/>
          <a:ln/>
        </p:spPr>
        <p:txBody>
          <a:bodyPr wrap="square" lIns="0" tIns="0" rIns="0" bIns="0" rtlCol="0" anchor="ctr"/>
          <a:lstStyle/>
          <a:p>
            <a:pPr marL="0" indent="0">
              <a:buNone/>
            </a:pPr>
            <a:r>
              <a:rPr lang="zh-CN" altLang="en-US" sz="1600" dirty="0">
                <a:solidFill>
                  <a:srgbClr val="172033"/>
                </a:solidFill>
                <a:latin typeface="微软雅黑" panose="020B0503020204020204" pitchFamily="34" charset="-122"/>
                <a:ea typeface="微软雅黑" panose="020B0503020204020204" pitchFamily="34" charset="-122"/>
              </a:rPr>
              <a:t>激励轨迹</a:t>
            </a:r>
            <a:r>
              <a:rPr lang="en-US" altLang="zh-CN" sz="1600" dirty="0">
                <a:solidFill>
                  <a:srgbClr val="172033"/>
                </a:solidFill>
                <a:latin typeface="微软雅黑" panose="020B0503020204020204" pitchFamily="34" charset="-122"/>
                <a:ea typeface="微软雅黑" panose="020B0503020204020204" pitchFamily="34" charset="-122"/>
              </a:rPr>
              <a:t>/</a:t>
            </a:r>
            <a:r>
              <a:rPr lang="zh-CN" altLang="en-US" sz="1600" dirty="0">
                <a:solidFill>
                  <a:srgbClr val="172033"/>
                </a:solidFill>
                <a:latin typeface="微软雅黑" panose="020B0503020204020204" pitchFamily="34" charset="-122"/>
                <a:ea typeface="微软雅黑" panose="020B0503020204020204" pitchFamily="34" charset="-122"/>
              </a:rPr>
              <a:t>力矩数据</a:t>
            </a:r>
            <a:endParaRPr lang="en-US" sz="1600" dirty="0">
              <a:latin typeface="微软雅黑" panose="020B0503020204020204" pitchFamily="34" charset="-122"/>
              <a:ea typeface="微软雅黑" panose="020B0503020204020204" pitchFamily="34" charset="-122"/>
            </a:endParaRPr>
          </a:p>
        </p:txBody>
      </p:sp>
      <p:sp>
        <p:nvSpPr>
          <p:cNvPr id="6145" name="Shape 33">
            <a:extLst>
              <a:ext uri="{FF2B5EF4-FFF2-40B4-BE49-F238E27FC236}">
                <a16:creationId xmlns:a16="http://schemas.microsoft.com/office/drawing/2014/main" id="{F1CA8743-B21B-2A7A-F740-813F1D27C44E}"/>
              </a:ext>
            </a:extLst>
          </p:cNvPr>
          <p:cNvSpPr/>
          <p:nvPr/>
        </p:nvSpPr>
        <p:spPr>
          <a:xfrm>
            <a:off x="5538245" y="3652219"/>
            <a:ext cx="0" cy="336231"/>
          </a:xfrm>
          <a:prstGeom prst="line">
            <a:avLst/>
          </a:prstGeom>
          <a:noFill/>
          <a:ln w="13970">
            <a:solidFill>
              <a:srgbClr val="4BA3E3"/>
            </a:solidFill>
            <a:prstDash val="solid"/>
            <a:tailEnd type="triangle"/>
          </a:ln>
        </p:spPr>
        <p:txBody>
          <a:bodyPr/>
          <a:lstStyle/>
          <a:p>
            <a:endParaRPr/>
          </a:p>
        </p:txBody>
      </p:sp>
      <p:sp>
        <p:nvSpPr>
          <p:cNvPr id="6149" name="Shape 30">
            <a:extLst>
              <a:ext uri="{FF2B5EF4-FFF2-40B4-BE49-F238E27FC236}">
                <a16:creationId xmlns:a16="http://schemas.microsoft.com/office/drawing/2014/main" id="{5650DADF-5B4E-7E3E-1ED5-C46768C67E0F}"/>
              </a:ext>
            </a:extLst>
          </p:cNvPr>
          <p:cNvSpPr/>
          <p:nvPr/>
        </p:nvSpPr>
        <p:spPr>
          <a:xfrm>
            <a:off x="5132176" y="3996090"/>
            <a:ext cx="886965" cy="369332"/>
          </a:xfrm>
          <a:prstGeom prst="roundRect">
            <a:avLst>
              <a:gd name="adj" fmla="val 15625"/>
            </a:avLst>
          </a:prstGeom>
          <a:solidFill>
            <a:srgbClr val="EFF6FF"/>
          </a:solidFill>
          <a:ln w="12700">
            <a:solidFill>
              <a:srgbClr val="EFF6FF"/>
            </a:solidFill>
            <a:prstDash val="solid"/>
          </a:ln>
        </p:spPr>
        <p:txBody>
          <a:bodyPr/>
          <a:lstStyle/>
          <a:p>
            <a:endParaRPr/>
          </a:p>
        </p:txBody>
      </p:sp>
      <p:sp>
        <p:nvSpPr>
          <p:cNvPr id="6150" name="Text 31">
            <a:extLst>
              <a:ext uri="{FF2B5EF4-FFF2-40B4-BE49-F238E27FC236}">
                <a16:creationId xmlns:a16="http://schemas.microsoft.com/office/drawing/2014/main" id="{84CA9533-7046-3E4C-186C-D8FE82A0250C}"/>
              </a:ext>
            </a:extLst>
          </p:cNvPr>
          <p:cNvSpPr/>
          <p:nvPr/>
        </p:nvSpPr>
        <p:spPr>
          <a:xfrm>
            <a:off x="5255618" y="4078694"/>
            <a:ext cx="640080" cy="232612"/>
          </a:xfrm>
          <a:prstGeom prst="rect">
            <a:avLst/>
          </a:prstGeom>
          <a:noFill/>
          <a:ln/>
        </p:spPr>
        <p:txBody>
          <a:bodyPr wrap="square" lIns="0" tIns="0" rIns="0" bIns="0" rtlCol="0" anchor="ctr"/>
          <a:lstStyle/>
          <a:p>
            <a:pPr marL="0" indent="0" algn="ctr">
              <a:buNone/>
            </a:pPr>
            <a:r>
              <a:rPr lang="zh-CN" altLang="en-US" sz="1600" b="1" dirty="0">
                <a:solidFill>
                  <a:srgbClr val="1F5FAE"/>
                </a:solidFill>
                <a:latin typeface="微软雅黑" panose="020B0503020204020204" pitchFamily="34" charset="-122"/>
                <a:ea typeface="微软雅黑" panose="020B0503020204020204" pitchFamily="34" charset="-122"/>
              </a:rPr>
              <a:t>处理</a:t>
            </a:r>
            <a:endParaRPr lang="en-US" sz="1600" dirty="0">
              <a:latin typeface="微软雅黑" panose="020B0503020204020204" pitchFamily="34" charset="-122"/>
              <a:ea typeface="微软雅黑" panose="020B0503020204020204" pitchFamily="34" charset="-122"/>
            </a:endParaRPr>
          </a:p>
        </p:txBody>
      </p:sp>
      <p:sp>
        <p:nvSpPr>
          <p:cNvPr id="6151" name="Text 32">
            <a:extLst>
              <a:ext uri="{FF2B5EF4-FFF2-40B4-BE49-F238E27FC236}">
                <a16:creationId xmlns:a16="http://schemas.microsoft.com/office/drawing/2014/main" id="{ED69766C-E403-FEF6-525F-25327509D473}"/>
              </a:ext>
            </a:extLst>
          </p:cNvPr>
          <p:cNvSpPr/>
          <p:nvPr/>
        </p:nvSpPr>
        <p:spPr>
          <a:xfrm>
            <a:off x="6620255" y="4036490"/>
            <a:ext cx="1756765" cy="270901"/>
          </a:xfrm>
          <a:prstGeom prst="rect">
            <a:avLst/>
          </a:prstGeom>
          <a:noFill/>
          <a:ln/>
        </p:spPr>
        <p:txBody>
          <a:bodyPr wrap="square" lIns="0" tIns="0" rIns="0" bIns="0" rtlCol="0" anchor="ctr"/>
          <a:lstStyle/>
          <a:p>
            <a:pPr marL="0" indent="0">
              <a:buNone/>
            </a:pPr>
            <a:r>
              <a:rPr lang="zh-CN" altLang="en-US" sz="1600" dirty="0">
                <a:solidFill>
                  <a:srgbClr val="172033"/>
                </a:solidFill>
                <a:latin typeface="微软雅黑" panose="020B0503020204020204" pitchFamily="34" charset="-122"/>
                <a:ea typeface="微软雅黑" panose="020B0503020204020204" pitchFamily="34" charset="-122"/>
              </a:rPr>
              <a:t>滤波</a:t>
            </a:r>
            <a:r>
              <a:rPr lang="en-US" altLang="zh-CN" sz="1600" dirty="0">
                <a:solidFill>
                  <a:srgbClr val="172033"/>
                </a:solidFill>
                <a:latin typeface="微软雅黑" panose="020B0503020204020204" pitchFamily="34" charset="-122"/>
                <a:ea typeface="微软雅黑" panose="020B0503020204020204" pitchFamily="34" charset="-122"/>
              </a:rPr>
              <a:t>/</a:t>
            </a:r>
            <a:r>
              <a:rPr lang="zh-CN" altLang="en-US" sz="1600" dirty="0">
                <a:solidFill>
                  <a:srgbClr val="172033"/>
                </a:solidFill>
                <a:latin typeface="微软雅黑" panose="020B0503020204020204" pitchFamily="34" charset="-122"/>
                <a:ea typeface="微软雅黑" panose="020B0503020204020204" pitchFamily="34" charset="-122"/>
              </a:rPr>
              <a:t>加速度估计</a:t>
            </a:r>
            <a:endParaRPr lang="en-US" sz="1600" dirty="0">
              <a:latin typeface="微软雅黑" panose="020B0503020204020204" pitchFamily="34" charset="-122"/>
              <a:ea typeface="微软雅黑" panose="020B0503020204020204" pitchFamily="34" charset="-122"/>
            </a:endParaRPr>
          </a:p>
        </p:txBody>
      </p:sp>
      <p:sp>
        <p:nvSpPr>
          <p:cNvPr id="6152" name="Shape 33">
            <a:extLst>
              <a:ext uri="{FF2B5EF4-FFF2-40B4-BE49-F238E27FC236}">
                <a16:creationId xmlns:a16="http://schemas.microsoft.com/office/drawing/2014/main" id="{C6813BFE-51C8-97CD-6B46-89FEAA4DE2FF}"/>
              </a:ext>
            </a:extLst>
          </p:cNvPr>
          <p:cNvSpPr/>
          <p:nvPr/>
        </p:nvSpPr>
        <p:spPr>
          <a:xfrm>
            <a:off x="5538245" y="4365422"/>
            <a:ext cx="0" cy="336231"/>
          </a:xfrm>
          <a:prstGeom prst="line">
            <a:avLst/>
          </a:prstGeom>
          <a:noFill/>
          <a:ln w="13970">
            <a:solidFill>
              <a:srgbClr val="4BA3E3"/>
            </a:solidFill>
            <a:prstDash val="solid"/>
            <a:tailEnd type="triangle"/>
          </a:ln>
        </p:spPr>
        <p:txBody>
          <a:bodyPr/>
          <a:lstStyle/>
          <a:p>
            <a:endParaRPr/>
          </a:p>
        </p:txBody>
      </p:sp>
      <p:sp>
        <p:nvSpPr>
          <p:cNvPr id="6153" name="Shape 30">
            <a:extLst>
              <a:ext uri="{FF2B5EF4-FFF2-40B4-BE49-F238E27FC236}">
                <a16:creationId xmlns:a16="http://schemas.microsoft.com/office/drawing/2014/main" id="{6F039735-12E4-C83B-B865-4318BE2A6ABF}"/>
              </a:ext>
            </a:extLst>
          </p:cNvPr>
          <p:cNvSpPr/>
          <p:nvPr/>
        </p:nvSpPr>
        <p:spPr>
          <a:xfrm>
            <a:off x="5132176" y="4704565"/>
            <a:ext cx="886965" cy="369332"/>
          </a:xfrm>
          <a:prstGeom prst="roundRect">
            <a:avLst>
              <a:gd name="adj" fmla="val 15625"/>
            </a:avLst>
          </a:prstGeom>
          <a:solidFill>
            <a:srgbClr val="EFF6FF"/>
          </a:solidFill>
          <a:ln w="12700">
            <a:solidFill>
              <a:srgbClr val="EFF6FF"/>
            </a:solidFill>
            <a:prstDash val="solid"/>
          </a:ln>
        </p:spPr>
        <p:txBody>
          <a:bodyPr/>
          <a:lstStyle/>
          <a:p>
            <a:endParaRPr/>
          </a:p>
        </p:txBody>
      </p:sp>
      <p:sp>
        <p:nvSpPr>
          <p:cNvPr id="6154" name="Text 31">
            <a:extLst>
              <a:ext uri="{FF2B5EF4-FFF2-40B4-BE49-F238E27FC236}">
                <a16:creationId xmlns:a16="http://schemas.microsoft.com/office/drawing/2014/main" id="{C04F3B97-ABB6-FC88-0D6A-3313210FDE37}"/>
              </a:ext>
            </a:extLst>
          </p:cNvPr>
          <p:cNvSpPr/>
          <p:nvPr/>
        </p:nvSpPr>
        <p:spPr>
          <a:xfrm>
            <a:off x="5255618" y="4787169"/>
            <a:ext cx="640080" cy="232612"/>
          </a:xfrm>
          <a:prstGeom prst="rect">
            <a:avLst/>
          </a:prstGeom>
          <a:noFill/>
          <a:ln/>
        </p:spPr>
        <p:txBody>
          <a:bodyPr wrap="square" lIns="0" tIns="0" rIns="0" bIns="0" rtlCol="0" anchor="ctr"/>
          <a:lstStyle/>
          <a:p>
            <a:pPr marL="0" indent="0" algn="ctr">
              <a:buNone/>
            </a:pPr>
            <a:r>
              <a:rPr lang="zh-CN" altLang="en-US" sz="1600" b="1" dirty="0">
                <a:solidFill>
                  <a:srgbClr val="1F5FAE"/>
                </a:solidFill>
                <a:latin typeface="微软雅黑" panose="020B0503020204020204" pitchFamily="34" charset="-122"/>
                <a:ea typeface="微软雅黑" panose="020B0503020204020204" pitchFamily="34" charset="-122"/>
              </a:rPr>
              <a:t>求解</a:t>
            </a:r>
            <a:endParaRPr lang="en-US" sz="1600" b="1" dirty="0">
              <a:solidFill>
                <a:srgbClr val="1F5FAE"/>
              </a:solidFill>
              <a:latin typeface="微软雅黑" panose="020B0503020204020204" pitchFamily="34" charset="-122"/>
              <a:ea typeface="微软雅黑" panose="020B0503020204020204" pitchFamily="34" charset="-122"/>
            </a:endParaRPr>
          </a:p>
        </p:txBody>
      </p:sp>
      <p:sp>
        <p:nvSpPr>
          <p:cNvPr id="6155" name="Text 32">
            <a:extLst>
              <a:ext uri="{FF2B5EF4-FFF2-40B4-BE49-F238E27FC236}">
                <a16:creationId xmlns:a16="http://schemas.microsoft.com/office/drawing/2014/main" id="{6098BC1A-2307-BF5D-3B38-4CA2A8CA1983}"/>
              </a:ext>
            </a:extLst>
          </p:cNvPr>
          <p:cNvSpPr/>
          <p:nvPr/>
        </p:nvSpPr>
        <p:spPr>
          <a:xfrm>
            <a:off x="6620255" y="4744966"/>
            <a:ext cx="1927311" cy="247818"/>
          </a:xfrm>
          <a:prstGeom prst="rect">
            <a:avLst/>
          </a:prstGeom>
          <a:noFill/>
          <a:ln/>
        </p:spPr>
        <p:txBody>
          <a:bodyPr wrap="square" lIns="0" tIns="0" rIns="0" bIns="0" rtlCol="0" anchor="ctr"/>
          <a:lstStyle/>
          <a:p>
            <a:pPr marL="0" indent="0">
              <a:buNone/>
            </a:pPr>
            <a:r>
              <a:rPr lang="en-US" altLang="zh-CN" sz="1600" dirty="0">
                <a:solidFill>
                  <a:srgbClr val="172033"/>
                </a:solidFill>
                <a:latin typeface="Times New Roman" panose="02020603050405020304" pitchFamily="18" charset="0"/>
                <a:ea typeface="微软雅黑" panose="020B0503020204020204" pitchFamily="34" charset="-122"/>
                <a:cs typeface="Times New Roman" panose="02020603050405020304" pitchFamily="18" charset="0"/>
              </a:rPr>
              <a:t>WLS</a:t>
            </a:r>
            <a:r>
              <a:rPr lang="en-US" altLang="zh-CN" sz="1600" dirty="0">
                <a:solidFill>
                  <a:srgbClr val="172033"/>
                </a:solidFill>
                <a:latin typeface="微软雅黑" panose="020B0503020204020204" pitchFamily="34" charset="-122"/>
                <a:ea typeface="微软雅黑" panose="020B0503020204020204" pitchFamily="34" charset="-122"/>
              </a:rPr>
              <a:t>+</a:t>
            </a:r>
            <a:r>
              <a:rPr lang="zh-CN" altLang="en-US" sz="1600" dirty="0">
                <a:solidFill>
                  <a:srgbClr val="172033"/>
                </a:solidFill>
                <a:latin typeface="微软雅黑" panose="020B0503020204020204" pitchFamily="34" charset="-122"/>
                <a:ea typeface="微软雅黑" panose="020B0503020204020204" pitchFamily="34" charset="-122"/>
              </a:rPr>
              <a:t>物理一致约束</a:t>
            </a:r>
            <a:endParaRPr lang="en-US" sz="1600" dirty="0">
              <a:latin typeface="微软雅黑" panose="020B0503020204020204" pitchFamily="34" charset="-122"/>
              <a:ea typeface="微软雅黑" panose="020B0503020204020204" pitchFamily="34" charset="-122"/>
            </a:endParaRPr>
          </a:p>
        </p:txBody>
      </p:sp>
      <p:sp>
        <p:nvSpPr>
          <p:cNvPr id="6156" name="Shape 33">
            <a:extLst>
              <a:ext uri="{FF2B5EF4-FFF2-40B4-BE49-F238E27FC236}">
                <a16:creationId xmlns:a16="http://schemas.microsoft.com/office/drawing/2014/main" id="{036F3A36-93B3-A9ED-D753-CE30E2D93F39}"/>
              </a:ext>
            </a:extLst>
          </p:cNvPr>
          <p:cNvSpPr/>
          <p:nvPr/>
        </p:nvSpPr>
        <p:spPr>
          <a:xfrm>
            <a:off x="5538245" y="5073897"/>
            <a:ext cx="0" cy="336231"/>
          </a:xfrm>
          <a:prstGeom prst="line">
            <a:avLst/>
          </a:prstGeom>
          <a:noFill/>
          <a:ln w="13970">
            <a:solidFill>
              <a:srgbClr val="4BA3E3"/>
            </a:solidFill>
            <a:prstDash val="solid"/>
            <a:tailEnd type="triangle"/>
          </a:ln>
        </p:spPr>
        <p:txBody>
          <a:bodyPr/>
          <a:lstStyle/>
          <a:p>
            <a:endParaRPr/>
          </a:p>
        </p:txBody>
      </p:sp>
      <p:sp>
        <p:nvSpPr>
          <p:cNvPr id="6157" name="Shape 30">
            <a:extLst>
              <a:ext uri="{FF2B5EF4-FFF2-40B4-BE49-F238E27FC236}">
                <a16:creationId xmlns:a16="http://schemas.microsoft.com/office/drawing/2014/main" id="{8B7FC838-8265-7FAA-B48A-47C83ED15D4B}"/>
              </a:ext>
            </a:extLst>
          </p:cNvPr>
          <p:cNvSpPr/>
          <p:nvPr/>
        </p:nvSpPr>
        <p:spPr>
          <a:xfrm>
            <a:off x="5132176" y="5399344"/>
            <a:ext cx="886965" cy="369332"/>
          </a:xfrm>
          <a:prstGeom prst="roundRect">
            <a:avLst>
              <a:gd name="adj" fmla="val 15625"/>
            </a:avLst>
          </a:prstGeom>
          <a:solidFill>
            <a:srgbClr val="EFF6FF"/>
          </a:solidFill>
          <a:ln w="12700">
            <a:solidFill>
              <a:srgbClr val="EFF6FF"/>
            </a:solidFill>
            <a:prstDash val="solid"/>
          </a:ln>
        </p:spPr>
        <p:txBody>
          <a:bodyPr/>
          <a:lstStyle/>
          <a:p>
            <a:endParaRPr/>
          </a:p>
        </p:txBody>
      </p:sp>
      <p:sp>
        <p:nvSpPr>
          <p:cNvPr id="6158" name="Text 31">
            <a:extLst>
              <a:ext uri="{FF2B5EF4-FFF2-40B4-BE49-F238E27FC236}">
                <a16:creationId xmlns:a16="http://schemas.microsoft.com/office/drawing/2014/main" id="{C6FD23F8-6493-798A-39FC-C1FC1BF30350}"/>
              </a:ext>
            </a:extLst>
          </p:cNvPr>
          <p:cNvSpPr/>
          <p:nvPr/>
        </p:nvSpPr>
        <p:spPr>
          <a:xfrm>
            <a:off x="5255618" y="5481948"/>
            <a:ext cx="640080" cy="232612"/>
          </a:xfrm>
          <a:prstGeom prst="rect">
            <a:avLst/>
          </a:prstGeom>
          <a:noFill/>
          <a:ln/>
        </p:spPr>
        <p:txBody>
          <a:bodyPr wrap="square" lIns="0" tIns="0" rIns="0" bIns="0" rtlCol="0" anchor="ctr"/>
          <a:lstStyle/>
          <a:p>
            <a:pPr marL="0" indent="0" algn="ctr">
              <a:buNone/>
            </a:pPr>
            <a:r>
              <a:rPr lang="zh-CN" altLang="en-US" sz="1600" b="1" dirty="0">
                <a:solidFill>
                  <a:srgbClr val="1F5FAE"/>
                </a:solidFill>
                <a:latin typeface="微软雅黑" panose="020B0503020204020204" pitchFamily="34" charset="-122"/>
                <a:ea typeface="微软雅黑" panose="020B0503020204020204" pitchFamily="34" charset="-122"/>
              </a:rPr>
              <a:t>验证</a:t>
            </a:r>
            <a:endParaRPr lang="en-US" sz="1600" dirty="0">
              <a:latin typeface="微软雅黑" panose="020B0503020204020204" pitchFamily="34" charset="-122"/>
              <a:ea typeface="微软雅黑" panose="020B0503020204020204" pitchFamily="34" charset="-122"/>
            </a:endParaRPr>
          </a:p>
        </p:txBody>
      </p:sp>
      <p:sp>
        <p:nvSpPr>
          <p:cNvPr id="6159" name="Text 32">
            <a:extLst>
              <a:ext uri="{FF2B5EF4-FFF2-40B4-BE49-F238E27FC236}">
                <a16:creationId xmlns:a16="http://schemas.microsoft.com/office/drawing/2014/main" id="{9CCA5B74-1269-C013-1FE9-B86F9E021763}"/>
              </a:ext>
            </a:extLst>
          </p:cNvPr>
          <p:cNvSpPr/>
          <p:nvPr/>
        </p:nvSpPr>
        <p:spPr>
          <a:xfrm>
            <a:off x="6620255" y="5439744"/>
            <a:ext cx="1756765" cy="270901"/>
          </a:xfrm>
          <a:prstGeom prst="rect">
            <a:avLst/>
          </a:prstGeom>
          <a:noFill/>
          <a:ln/>
        </p:spPr>
        <p:txBody>
          <a:bodyPr wrap="square" lIns="0" tIns="0" rIns="0" bIns="0" rtlCol="0" anchor="ctr"/>
          <a:lstStyle/>
          <a:p>
            <a:pPr marL="0" indent="0">
              <a:buNone/>
            </a:pPr>
            <a:r>
              <a:rPr lang="zh-CN" altLang="en-US" sz="1600" dirty="0">
                <a:solidFill>
                  <a:srgbClr val="172033"/>
                </a:solidFill>
                <a:latin typeface="微软雅黑" panose="020B0503020204020204" pitchFamily="34" charset="-122"/>
                <a:ea typeface="微软雅黑" panose="020B0503020204020204" pitchFamily="34" charset="-122"/>
              </a:rPr>
              <a:t>力矩预测</a:t>
            </a:r>
            <a:r>
              <a:rPr lang="en-US" altLang="zh-CN" sz="1600" dirty="0">
                <a:solidFill>
                  <a:srgbClr val="172033"/>
                </a:solidFill>
                <a:latin typeface="微软雅黑" panose="020B0503020204020204" pitchFamily="34" charset="-122"/>
                <a:ea typeface="微软雅黑" panose="020B0503020204020204" pitchFamily="34" charset="-122"/>
              </a:rPr>
              <a:t>/</a:t>
            </a:r>
            <a:r>
              <a:rPr lang="zh-CN" altLang="en-US" sz="1600" dirty="0">
                <a:solidFill>
                  <a:srgbClr val="172033"/>
                </a:solidFill>
                <a:latin typeface="微软雅黑" panose="020B0503020204020204" pitchFamily="34" charset="-122"/>
                <a:ea typeface="微软雅黑" panose="020B0503020204020204" pitchFamily="34" charset="-122"/>
              </a:rPr>
              <a:t>前馈补偿</a:t>
            </a:r>
            <a:endParaRPr 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81364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B3222-0981-B7BA-6E53-FAA2E4A8D1C7}"/>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EA3890BF-68D3-C44D-AA07-03451D0865F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9366666C-4765-8E55-3B9C-3DAAE3AED416}"/>
              </a:ext>
            </a:extLst>
          </p:cNvPr>
          <p:cNvSpPr>
            <a:spLocks noChangeArrowheads="1"/>
          </p:cNvSpPr>
          <p:nvPr/>
        </p:nvSpPr>
        <p:spPr bwMode="auto">
          <a:xfrm>
            <a:off x="278847" y="3044971"/>
            <a:ext cx="86665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3" name="矩形 2">
            <a:extLst>
              <a:ext uri="{FF2B5EF4-FFF2-40B4-BE49-F238E27FC236}">
                <a16:creationId xmlns:a16="http://schemas.microsoft.com/office/drawing/2014/main" id="{A028A8B4-1CED-521E-8FDA-BA9DFCAF0946}"/>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A922AE9B-697A-2CF1-BCD3-721F267DD52F}"/>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178075E2-2F0E-3C3A-CF0E-A92421260BAC}"/>
              </a:ext>
            </a:extLst>
          </p:cNvPr>
          <p:cNvSpPr txBox="1"/>
          <p:nvPr/>
        </p:nvSpPr>
        <p:spPr>
          <a:xfrm>
            <a:off x="187898" y="402345"/>
            <a:ext cx="6692962" cy="461665"/>
          </a:xfrm>
          <a:prstGeom prst="rect">
            <a:avLst/>
          </a:prstGeom>
          <a:noFill/>
        </p:spPr>
        <p:txBody>
          <a:bodyPr wrap="square">
            <a:spAutoFit/>
          </a:bodyPr>
          <a:lstStyle/>
          <a:p>
            <a:pPr lvl="0" defTabSz="457200" eaLnBrk="1" fontAlgn="auto" hangingPunct="1">
              <a:spcBef>
                <a:spcPts val="0"/>
              </a:spcBef>
              <a:spcAft>
                <a:spcPts val="0"/>
              </a:spcAft>
              <a:defRPr/>
            </a:pPr>
            <a:r>
              <a:rPr lang="zh-CN" altLang="en-US" sz="2400" b="1" dirty="0">
                <a:solidFill>
                  <a:srgbClr val="002060"/>
                </a:solidFill>
                <a:latin typeface="微软雅黑" panose="020B0503020204020204" pitchFamily="34" charset="-122"/>
                <a:ea typeface="微软雅黑" panose="020B0503020204020204" pitchFamily="34" charset="-122"/>
              </a:rPr>
              <a:t>研究内容二：</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b="1" dirty="0">
                <a:solidFill>
                  <a:srgbClr val="002060"/>
                </a:solidFill>
                <a:latin typeface="微软雅黑" panose="020B0503020204020204" pitchFamily="34" charset="-122"/>
                <a:ea typeface="微软雅黑" panose="020B0503020204020204" pitchFamily="34" charset="-122"/>
              </a:rPr>
              <a:t>冗余机械臂分层阻抗控制</a:t>
            </a:r>
          </a:p>
        </p:txBody>
      </p:sp>
      <p:sp>
        <p:nvSpPr>
          <p:cNvPr id="21" name="矩形 20">
            <a:extLst>
              <a:ext uri="{FF2B5EF4-FFF2-40B4-BE49-F238E27FC236}">
                <a16:creationId xmlns:a16="http://schemas.microsoft.com/office/drawing/2014/main" id="{5441B53A-AF75-2116-C219-FD56D14D9AB2}"/>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8/13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2EF66821-020B-DBE7-134C-A49FADA48135}"/>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D09EDB90-7D41-1E86-0EDC-3A0DE51CD3A4}"/>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5" name="文本框 4">
            <a:extLst>
              <a:ext uri="{FF2B5EF4-FFF2-40B4-BE49-F238E27FC236}">
                <a16:creationId xmlns:a16="http://schemas.microsoft.com/office/drawing/2014/main" id="{52E95ADB-7131-14C6-E49D-46E88B3A8A0A}"/>
              </a:ext>
            </a:extLst>
          </p:cNvPr>
          <p:cNvSpPr txBox="1"/>
          <p:nvPr/>
        </p:nvSpPr>
        <p:spPr bwMode="auto">
          <a:xfrm>
            <a:off x="187899" y="-57186"/>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研究背景与意义</a:t>
            </a:r>
          </a:p>
        </p:txBody>
      </p:sp>
      <p:sp>
        <p:nvSpPr>
          <p:cNvPr id="7" name="文本框 6">
            <a:extLst>
              <a:ext uri="{FF2B5EF4-FFF2-40B4-BE49-F238E27FC236}">
                <a16:creationId xmlns:a16="http://schemas.microsoft.com/office/drawing/2014/main" id="{0910ACEE-6067-831D-EC2C-6EAA0205ED09}"/>
              </a:ext>
            </a:extLst>
          </p:cNvPr>
          <p:cNvSpPr txBox="1"/>
          <p:nvPr/>
        </p:nvSpPr>
        <p:spPr bwMode="auto">
          <a:xfrm>
            <a:off x="3757797" y="-57187"/>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1"/>
                </a:solidFill>
                <a:latin typeface="微软雅黑" panose="020B0503020204020204" pitchFamily="34" charset="-122"/>
                <a:ea typeface="微软雅黑" panose="020B0503020204020204" pitchFamily="34" charset="-122"/>
              </a:rPr>
              <a:t>研究目标与内容</a:t>
            </a:r>
          </a:p>
        </p:txBody>
      </p:sp>
      <p:sp>
        <p:nvSpPr>
          <p:cNvPr id="8" name="文本框 7">
            <a:extLst>
              <a:ext uri="{FF2B5EF4-FFF2-40B4-BE49-F238E27FC236}">
                <a16:creationId xmlns:a16="http://schemas.microsoft.com/office/drawing/2014/main" id="{B7B121DA-1ED9-BCE0-6E34-12AE650F4438}"/>
              </a:ext>
            </a:extLst>
          </p:cNvPr>
          <p:cNvSpPr txBox="1"/>
          <p:nvPr/>
        </p:nvSpPr>
        <p:spPr bwMode="auto">
          <a:xfrm>
            <a:off x="7076915" y="-54857"/>
            <a:ext cx="1879186"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预期成果与进度安排</a:t>
            </a:r>
          </a:p>
        </p:txBody>
      </p:sp>
      <p:sp>
        <p:nvSpPr>
          <p:cNvPr id="15" name="文本框 14">
            <a:extLst>
              <a:ext uri="{FF2B5EF4-FFF2-40B4-BE49-F238E27FC236}">
                <a16:creationId xmlns:a16="http://schemas.microsoft.com/office/drawing/2014/main" id="{8FAF3DA2-A660-55F0-7AD7-D5CAFBF14E9F}"/>
              </a:ext>
            </a:extLst>
          </p:cNvPr>
          <p:cNvSpPr txBox="1"/>
          <p:nvPr/>
        </p:nvSpPr>
        <p:spPr>
          <a:xfrm>
            <a:off x="738972" y="2279016"/>
            <a:ext cx="3613429" cy="1200329"/>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深入实施“人工智能</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”行动为高质量发展提供强大动能</a:t>
            </a:r>
          </a:p>
        </p:txBody>
      </p:sp>
      <p:sp>
        <p:nvSpPr>
          <p:cNvPr id="16" name="文本框 15">
            <a:extLst>
              <a:ext uri="{FF2B5EF4-FFF2-40B4-BE49-F238E27FC236}">
                <a16:creationId xmlns:a16="http://schemas.microsoft.com/office/drawing/2014/main" id="{6ED13FFE-1574-045B-6753-607E57C1E45A}"/>
              </a:ext>
            </a:extLst>
          </p:cNvPr>
          <p:cNvSpPr txBox="1"/>
          <p:nvPr/>
        </p:nvSpPr>
        <p:spPr>
          <a:xfrm>
            <a:off x="738972" y="3510803"/>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国家发改委</a:t>
            </a:r>
          </a:p>
        </p:txBody>
      </p:sp>
      <p:sp>
        <p:nvSpPr>
          <p:cNvPr id="20" name="文本框 19">
            <a:extLst>
              <a:ext uri="{FF2B5EF4-FFF2-40B4-BE49-F238E27FC236}">
                <a16:creationId xmlns:a16="http://schemas.microsoft.com/office/drawing/2014/main" id="{DCDD5ADF-C00D-1B0A-028A-5DBA78EB6CC3}"/>
              </a:ext>
            </a:extLst>
          </p:cNvPr>
          <p:cNvSpPr txBox="1"/>
          <p:nvPr/>
        </p:nvSpPr>
        <p:spPr>
          <a:xfrm>
            <a:off x="5059391" y="3490576"/>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中国政府网</a:t>
            </a:r>
          </a:p>
        </p:txBody>
      </p:sp>
      <p:sp>
        <p:nvSpPr>
          <p:cNvPr id="12" name="文本框 11">
            <a:extLst>
              <a:ext uri="{FF2B5EF4-FFF2-40B4-BE49-F238E27FC236}">
                <a16:creationId xmlns:a16="http://schemas.microsoft.com/office/drawing/2014/main" id="{E6512756-CC34-0210-E675-DE9BC5956531}"/>
              </a:ext>
            </a:extLst>
          </p:cNvPr>
          <p:cNvSpPr txBox="1"/>
          <p:nvPr/>
        </p:nvSpPr>
        <p:spPr>
          <a:xfrm>
            <a:off x="187898" y="957930"/>
            <a:ext cx="8924232" cy="496290"/>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en-US" altLang="zh-CN" sz="2000" dirty="0" err="1">
                <a:latin typeface="微软雅黑" panose="020B0503020204020204" pitchFamily="34" charset="-122"/>
                <a:ea typeface="微软雅黑" panose="020B0503020204020204" pitchFamily="34" charset="-122"/>
              </a:rPr>
              <a:t>在保证末端任务精度的同时，使机器人对外部接触呈现可调的柔顺响应</a:t>
            </a:r>
            <a:endParaRPr lang="en-US" altLang="zh-CN" sz="2000" dirty="0">
              <a:latin typeface="微软雅黑" panose="020B0503020204020204" pitchFamily="34" charset="-122"/>
              <a:ea typeface="微软雅黑" panose="020B0503020204020204" pitchFamily="34" charset="-122"/>
            </a:endParaRPr>
          </a:p>
        </p:txBody>
      </p:sp>
      <p:sp>
        <p:nvSpPr>
          <p:cNvPr id="26" name="Shape 8">
            <a:extLst>
              <a:ext uri="{FF2B5EF4-FFF2-40B4-BE49-F238E27FC236}">
                <a16:creationId xmlns:a16="http://schemas.microsoft.com/office/drawing/2014/main" id="{CD581D51-6837-4908-A2FA-DC1B36FA0C96}"/>
              </a:ext>
            </a:extLst>
          </p:cNvPr>
          <p:cNvSpPr/>
          <p:nvPr/>
        </p:nvSpPr>
        <p:spPr>
          <a:xfrm>
            <a:off x="420237" y="4449111"/>
            <a:ext cx="3337560" cy="1005840"/>
          </a:xfrm>
          <a:prstGeom prst="roundRect">
            <a:avLst>
              <a:gd name="adj" fmla="val 7273"/>
            </a:avLst>
          </a:prstGeom>
          <a:solidFill>
            <a:srgbClr val="EAF3FF"/>
          </a:solidFill>
          <a:ln w="12700">
            <a:solidFill>
              <a:srgbClr val="CFE3FF"/>
            </a:solidFill>
            <a:prstDash val="solid"/>
          </a:ln>
          <a:effectLst>
            <a:outerShdw blurRad="12700" dist="50800" dir="2700000" algn="bl" rotWithShape="0">
              <a:srgbClr val="94A3B8">
                <a:alpha val="12000"/>
              </a:srgbClr>
            </a:outerShdw>
          </a:effectLst>
        </p:spPr>
      </p:sp>
      <p:sp>
        <p:nvSpPr>
          <p:cNvPr id="28" name="Text 9">
            <a:extLst>
              <a:ext uri="{FF2B5EF4-FFF2-40B4-BE49-F238E27FC236}">
                <a16:creationId xmlns:a16="http://schemas.microsoft.com/office/drawing/2014/main" id="{D2736C0F-46BD-5C4C-358B-E40E094C954E}"/>
              </a:ext>
            </a:extLst>
          </p:cNvPr>
          <p:cNvSpPr/>
          <p:nvPr/>
        </p:nvSpPr>
        <p:spPr>
          <a:xfrm>
            <a:off x="740277" y="4659423"/>
            <a:ext cx="2743200" cy="201168"/>
          </a:xfrm>
          <a:prstGeom prst="rect">
            <a:avLst/>
          </a:prstGeom>
          <a:noFill/>
          <a:ln/>
        </p:spPr>
        <p:txBody>
          <a:bodyPr wrap="square" lIns="0" tIns="0" rIns="0" bIns="0" rtlCol="0" anchor="ctr"/>
          <a:lstStyle/>
          <a:p>
            <a:pPr marL="0" indent="0" algn="ctr">
              <a:buNone/>
            </a:pPr>
            <a:r>
              <a:rPr lang="en-US" sz="1600" b="1" dirty="0">
                <a:solidFill>
                  <a:srgbClr val="1E5AA8"/>
                </a:solidFill>
                <a:latin typeface="微软雅黑" panose="020B0503020204020204" pitchFamily="34" charset="-122"/>
                <a:ea typeface="微软雅黑" panose="020B0503020204020204" pitchFamily="34" charset="-122"/>
              </a:rPr>
              <a:t>任务空间阻抗主任务</a:t>
            </a:r>
            <a:endParaRPr lang="en-US" sz="1600" dirty="0">
              <a:latin typeface="微软雅黑" panose="020B0503020204020204" pitchFamily="34" charset="-122"/>
              <a:ea typeface="微软雅黑" panose="020B0503020204020204" pitchFamily="34" charset="-122"/>
            </a:endParaRPr>
          </a:p>
        </p:txBody>
      </p:sp>
      <p:sp>
        <p:nvSpPr>
          <p:cNvPr id="39" name="Text 10">
            <a:extLst>
              <a:ext uri="{FF2B5EF4-FFF2-40B4-BE49-F238E27FC236}">
                <a16:creationId xmlns:a16="http://schemas.microsoft.com/office/drawing/2014/main" id="{CED4E316-4AC4-6AB6-EBB7-933BAF8428F6}"/>
              </a:ext>
            </a:extLst>
          </p:cNvPr>
          <p:cNvSpPr/>
          <p:nvPr/>
        </p:nvSpPr>
        <p:spPr>
          <a:xfrm>
            <a:off x="740277" y="5025183"/>
            <a:ext cx="2743200" cy="164592"/>
          </a:xfrm>
          <a:prstGeom prst="rect">
            <a:avLst/>
          </a:prstGeom>
          <a:noFill/>
          <a:ln/>
        </p:spPr>
        <p:txBody>
          <a:bodyPr wrap="square" lIns="0" tIns="0" rIns="0" bIns="0" rtlCol="0" anchor="ctr"/>
          <a:lstStyle/>
          <a:p>
            <a:pPr marL="0" indent="0" algn="ctr">
              <a:buNone/>
            </a:pPr>
            <a:r>
              <a:rPr lang="en-US" sz="1200" dirty="0">
                <a:solidFill>
                  <a:srgbClr val="64748B"/>
                </a:solidFill>
                <a:latin typeface="微软雅黑" panose="020B0503020204020204" pitchFamily="34" charset="-122"/>
                <a:ea typeface="微软雅黑" panose="020B0503020204020204" pitchFamily="34" charset="-122"/>
              </a:rPr>
              <a:t>末端位姿跟踪 / 接触柔顺</a:t>
            </a:r>
            <a:endParaRPr lang="en-US" sz="1200" dirty="0">
              <a:latin typeface="微软雅黑" panose="020B0503020204020204" pitchFamily="34" charset="-122"/>
              <a:ea typeface="微软雅黑" panose="020B0503020204020204" pitchFamily="34" charset="-122"/>
            </a:endParaRPr>
          </a:p>
        </p:txBody>
      </p:sp>
      <p:sp>
        <p:nvSpPr>
          <p:cNvPr id="40" name="Shape 11">
            <a:extLst>
              <a:ext uri="{FF2B5EF4-FFF2-40B4-BE49-F238E27FC236}">
                <a16:creationId xmlns:a16="http://schemas.microsoft.com/office/drawing/2014/main" id="{28BB00B7-2BFE-FC1E-64AC-25C26714587C}"/>
              </a:ext>
            </a:extLst>
          </p:cNvPr>
          <p:cNvSpPr/>
          <p:nvPr/>
        </p:nvSpPr>
        <p:spPr>
          <a:xfrm>
            <a:off x="5424219" y="4445462"/>
            <a:ext cx="3337560" cy="1005840"/>
          </a:xfrm>
          <a:prstGeom prst="roundRect">
            <a:avLst>
              <a:gd name="adj" fmla="val 7273"/>
            </a:avLst>
          </a:prstGeom>
          <a:solidFill>
            <a:srgbClr val="ECFDF5"/>
          </a:solidFill>
          <a:ln w="12700">
            <a:solidFill>
              <a:srgbClr val="BBF7D0"/>
            </a:solidFill>
            <a:prstDash val="solid"/>
          </a:ln>
          <a:effectLst>
            <a:outerShdw blurRad="12700" dist="50800" dir="2700000" algn="bl" rotWithShape="0">
              <a:srgbClr val="94A3B8">
                <a:alpha val="12000"/>
              </a:srgbClr>
            </a:outerShdw>
          </a:effectLst>
        </p:spPr>
      </p:sp>
      <p:sp>
        <p:nvSpPr>
          <p:cNvPr id="42" name="Text 12">
            <a:extLst>
              <a:ext uri="{FF2B5EF4-FFF2-40B4-BE49-F238E27FC236}">
                <a16:creationId xmlns:a16="http://schemas.microsoft.com/office/drawing/2014/main" id="{AE8B06D7-7B35-930F-843F-4767DFC717DB}"/>
              </a:ext>
            </a:extLst>
          </p:cNvPr>
          <p:cNvSpPr/>
          <p:nvPr/>
        </p:nvSpPr>
        <p:spPr>
          <a:xfrm>
            <a:off x="5680251" y="4655774"/>
            <a:ext cx="2834640" cy="201168"/>
          </a:xfrm>
          <a:prstGeom prst="rect">
            <a:avLst/>
          </a:prstGeom>
          <a:noFill/>
          <a:ln/>
        </p:spPr>
        <p:txBody>
          <a:bodyPr wrap="square" lIns="0" tIns="0" rIns="0" bIns="0" rtlCol="0" anchor="ctr"/>
          <a:lstStyle/>
          <a:p>
            <a:pPr marL="0" indent="0" algn="ctr">
              <a:buNone/>
            </a:pPr>
            <a:r>
              <a:rPr lang="en-US" sz="1600" b="1" dirty="0">
                <a:solidFill>
                  <a:srgbClr val="17A398"/>
                </a:solidFill>
                <a:latin typeface="微软雅黑" panose="020B0503020204020204" pitchFamily="34" charset="-122"/>
                <a:ea typeface="微软雅黑" panose="020B0503020204020204" pitchFamily="34" charset="-122"/>
              </a:rPr>
              <a:t>零空间关节阻抗次任务</a:t>
            </a:r>
            <a:endParaRPr lang="en-US" sz="1600" dirty="0">
              <a:latin typeface="微软雅黑" panose="020B0503020204020204" pitchFamily="34" charset="-122"/>
              <a:ea typeface="微软雅黑" panose="020B0503020204020204" pitchFamily="34" charset="-122"/>
            </a:endParaRPr>
          </a:p>
        </p:txBody>
      </p:sp>
      <p:sp>
        <p:nvSpPr>
          <p:cNvPr id="43" name="Text 13">
            <a:extLst>
              <a:ext uri="{FF2B5EF4-FFF2-40B4-BE49-F238E27FC236}">
                <a16:creationId xmlns:a16="http://schemas.microsoft.com/office/drawing/2014/main" id="{9B44EA1B-9F50-F3CA-683B-22FC9C9A4552}"/>
              </a:ext>
            </a:extLst>
          </p:cNvPr>
          <p:cNvSpPr/>
          <p:nvPr/>
        </p:nvSpPr>
        <p:spPr>
          <a:xfrm>
            <a:off x="5680251" y="5021534"/>
            <a:ext cx="2834640" cy="164592"/>
          </a:xfrm>
          <a:prstGeom prst="rect">
            <a:avLst/>
          </a:prstGeom>
          <a:noFill/>
          <a:ln/>
        </p:spPr>
        <p:txBody>
          <a:bodyPr wrap="square" lIns="0" tIns="0" rIns="0" bIns="0" rtlCol="0" anchor="ctr"/>
          <a:lstStyle/>
          <a:p>
            <a:pPr marL="0" indent="0" algn="ctr">
              <a:buNone/>
            </a:pPr>
            <a:r>
              <a:rPr lang="en-US" sz="1200" dirty="0">
                <a:solidFill>
                  <a:srgbClr val="64748B"/>
                </a:solidFill>
                <a:latin typeface="微软雅黑" panose="020B0503020204020204" pitchFamily="34" charset="-122"/>
                <a:ea typeface="微软雅黑" panose="020B0503020204020204" pitchFamily="34" charset="-122"/>
              </a:rPr>
              <a:t>姿态优化 / 关节限位远离 / 运动稳定</a:t>
            </a:r>
            <a:endParaRPr lang="en-US" sz="1200" dirty="0">
              <a:latin typeface="微软雅黑" panose="020B0503020204020204" pitchFamily="34" charset="-122"/>
              <a:ea typeface="微软雅黑" panose="020B0503020204020204" pitchFamily="34" charset="-122"/>
            </a:endParaRPr>
          </a:p>
        </p:txBody>
      </p:sp>
      <p:sp>
        <p:nvSpPr>
          <p:cNvPr id="45" name="Shape 21">
            <a:extLst>
              <a:ext uri="{FF2B5EF4-FFF2-40B4-BE49-F238E27FC236}">
                <a16:creationId xmlns:a16="http://schemas.microsoft.com/office/drawing/2014/main" id="{A77025A1-3A31-2C99-B125-3E880BA2AE54}"/>
              </a:ext>
            </a:extLst>
          </p:cNvPr>
          <p:cNvSpPr/>
          <p:nvPr/>
        </p:nvSpPr>
        <p:spPr>
          <a:xfrm>
            <a:off x="3978907" y="5021534"/>
            <a:ext cx="1301037" cy="0"/>
          </a:xfrm>
          <a:prstGeom prst="line">
            <a:avLst/>
          </a:prstGeom>
          <a:noFill/>
          <a:ln w="19050">
            <a:solidFill>
              <a:srgbClr val="1E5AA8"/>
            </a:solidFill>
            <a:prstDash val="solid"/>
            <a:headEnd type="none"/>
            <a:tailEnd type="triangle"/>
          </a:ln>
        </p:spPr>
      </p:sp>
      <p:sp>
        <p:nvSpPr>
          <p:cNvPr id="46" name="文本框 45">
            <a:extLst>
              <a:ext uri="{FF2B5EF4-FFF2-40B4-BE49-F238E27FC236}">
                <a16:creationId xmlns:a16="http://schemas.microsoft.com/office/drawing/2014/main" id="{DE132111-4B68-13CE-A9CB-D2EEF5E36A2D}"/>
              </a:ext>
            </a:extLst>
          </p:cNvPr>
          <p:cNvSpPr txBox="1"/>
          <p:nvPr/>
        </p:nvSpPr>
        <p:spPr bwMode="auto">
          <a:xfrm>
            <a:off x="4153658" y="4678633"/>
            <a:ext cx="996241" cy="336695"/>
          </a:xfrm>
          <a:prstGeom prst="rect">
            <a:avLst/>
          </a:prstGeom>
          <a:noFill/>
          <a:ln w="9525">
            <a:noFill/>
            <a:miter lim="800000"/>
          </a:ln>
        </p:spPr>
        <p:txBody>
          <a:bodyPr wrap="square" rtlCol="0">
            <a:spAutoFit/>
          </a:bodyPr>
          <a:lstStyle/>
          <a:p>
            <a:pPr algn="ctr">
              <a:lnSpc>
                <a:spcPct val="150000"/>
              </a:lnSpc>
              <a:spcAft>
                <a:spcPts val="0"/>
              </a:spcAft>
              <a:buNone/>
            </a:pPr>
            <a:r>
              <a:rPr lang="zh-CN" altLang="en-US" sz="1200" dirty="0">
                <a:latin typeface="微软雅黑" panose="020B0503020204020204" pitchFamily="34" charset="-122"/>
                <a:ea typeface="微软雅黑" panose="020B0503020204020204" pitchFamily="34" charset="-122"/>
              </a:rPr>
              <a:t>严格优先级</a:t>
            </a:r>
          </a:p>
        </p:txBody>
      </p:sp>
      <p:pic>
        <p:nvPicPr>
          <p:cNvPr id="54" name="图片 53">
            <a:extLst>
              <a:ext uri="{FF2B5EF4-FFF2-40B4-BE49-F238E27FC236}">
                <a16:creationId xmlns:a16="http://schemas.microsoft.com/office/drawing/2014/main" id="{8FEC54EE-6EAC-1126-3F4E-B8450D393D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18" y="1673001"/>
            <a:ext cx="4421418" cy="2443729"/>
          </a:xfrm>
          <a:prstGeom prst="rect">
            <a:avLst/>
          </a:prstGeom>
        </p:spPr>
      </p:pic>
      <p:pic>
        <p:nvPicPr>
          <p:cNvPr id="56" name="图片 55">
            <a:extLst>
              <a:ext uri="{FF2B5EF4-FFF2-40B4-BE49-F238E27FC236}">
                <a16:creationId xmlns:a16="http://schemas.microsoft.com/office/drawing/2014/main" id="{F5909259-E7EC-4761-6455-DDF9685FC1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42064" y="1649367"/>
            <a:ext cx="4549818" cy="2492142"/>
          </a:xfrm>
          <a:prstGeom prst="rect">
            <a:avLst/>
          </a:prstGeom>
        </p:spPr>
      </p:pic>
      <p:sp>
        <p:nvSpPr>
          <p:cNvPr id="58" name="Shape 34">
            <a:extLst>
              <a:ext uri="{FF2B5EF4-FFF2-40B4-BE49-F238E27FC236}">
                <a16:creationId xmlns:a16="http://schemas.microsoft.com/office/drawing/2014/main" id="{9DF117B6-EA95-8E74-AEDE-29E14EC01F28}"/>
              </a:ext>
            </a:extLst>
          </p:cNvPr>
          <p:cNvSpPr/>
          <p:nvPr/>
        </p:nvSpPr>
        <p:spPr>
          <a:xfrm>
            <a:off x="187898" y="5826471"/>
            <a:ext cx="8757476" cy="475488"/>
          </a:xfrm>
          <a:prstGeom prst="roundRect">
            <a:avLst>
              <a:gd name="adj" fmla="val 15385"/>
            </a:avLst>
          </a:prstGeom>
          <a:solidFill>
            <a:srgbClr val="F8FAFC"/>
          </a:solidFill>
          <a:ln w="12700">
            <a:solidFill>
              <a:srgbClr val="CBD5E1"/>
            </a:solidFill>
            <a:prstDash val="solid"/>
          </a:ln>
        </p:spPr>
        <p:txBody>
          <a:bodyPr/>
          <a:lstStyle/>
          <a:p>
            <a:endParaRPr lang="zh-CN" altLang="en-US" sz="1600" dirty="0">
              <a:latin typeface="微软雅黑" panose="020B0503020204020204" pitchFamily="34" charset="-122"/>
              <a:ea typeface="微软雅黑" panose="020B0503020204020204" pitchFamily="34" charset="-122"/>
            </a:endParaRPr>
          </a:p>
        </p:txBody>
      </p:sp>
      <p:sp>
        <p:nvSpPr>
          <p:cNvPr id="59" name="文本框 58">
            <a:extLst>
              <a:ext uri="{FF2B5EF4-FFF2-40B4-BE49-F238E27FC236}">
                <a16:creationId xmlns:a16="http://schemas.microsoft.com/office/drawing/2014/main" id="{1B1A91CD-6EC7-E467-C1F6-9A476F5A1945}"/>
              </a:ext>
            </a:extLst>
          </p:cNvPr>
          <p:cNvSpPr txBox="1"/>
          <p:nvPr/>
        </p:nvSpPr>
        <p:spPr bwMode="auto">
          <a:xfrm>
            <a:off x="198626" y="5830120"/>
            <a:ext cx="8746748" cy="418191"/>
          </a:xfrm>
          <a:prstGeom prst="rect">
            <a:avLst/>
          </a:prstGeom>
          <a:noFill/>
          <a:ln w="9525">
            <a:noFill/>
            <a:miter lim="800000"/>
          </a:ln>
        </p:spPr>
        <p:txBody>
          <a:bodyPr wrap="square" rtlCol="0">
            <a:spAutoFit/>
          </a:bodyPr>
          <a:lstStyle/>
          <a:p>
            <a:pPr algn="ctr">
              <a:lnSpc>
                <a:spcPct val="150000"/>
              </a:lnSpc>
              <a:spcAft>
                <a:spcPts val="0"/>
              </a:spcAft>
            </a:pPr>
            <a:r>
              <a:rPr lang="zh-CN" altLang="en-US" sz="1600" dirty="0">
                <a:latin typeface="微软雅黑" panose="020B0503020204020204" pitchFamily="34" charset="-122"/>
                <a:ea typeface="微软雅黑" panose="020B0503020204020204" pitchFamily="34" charset="-122"/>
              </a:rPr>
              <a:t>控制逻辑：主任务保证末端位姿跟踪与接触柔顺，次任务在零空间内实现姿态优化与运动稳定</a:t>
            </a:r>
          </a:p>
        </p:txBody>
      </p:sp>
    </p:spTree>
    <p:extLst>
      <p:ext uri="{BB962C8B-B14F-4D97-AF65-F5344CB8AC3E}">
        <p14:creationId xmlns:p14="http://schemas.microsoft.com/office/powerpoint/2010/main" val="2032070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0B325-AC11-B087-3A31-FFBC00929D3B}"/>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7F0BC67D-A016-8D0C-503B-A12F5C99674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F3C5187A-3F65-F40E-F8A1-52B5022987FB}"/>
              </a:ext>
            </a:extLst>
          </p:cNvPr>
          <p:cNvSpPr>
            <a:spLocks noChangeArrowheads="1"/>
          </p:cNvSpPr>
          <p:nvPr/>
        </p:nvSpPr>
        <p:spPr bwMode="auto">
          <a:xfrm>
            <a:off x="278847" y="3044971"/>
            <a:ext cx="86665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3" name="矩形 2">
            <a:extLst>
              <a:ext uri="{FF2B5EF4-FFF2-40B4-BE49-F238E27FC236}">
                <a16:creationId xmlns:a16="http://schemas.microsoft.com/office/drawing/2014/main" id="{E1E3EEAE-6DBA-BAB1-5C70-E92A8B274151}"/>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70506246-1DBA-BEB0-E59A-81DD0E7A0989}"/>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FF012DBF-1CBB-8AA9-BBAC-8C84BA72831B}"/>
              </a:ext>
            </a:extLst>
          </p:cNvPr>
          <p:cNvSpPr txBox="1"/>
          <p:nvPr/>
        </p:nvSpPr>
        <p:spPr>
          <a:xfrm>
            <a:off x="187898" y="402345"/>
            <a:ext cx="6692962" cy="461665"/>
          </a:xfrm>
          <a:prstGeom prst="rect">
            <a:avLst/>
          </a:prstGeom>
          <a:noFill/>
        </p:spPr>
        <p:txBody>
          <a:bodyPr wrap="square">
            <a:spAutoFit/>
          </a:bodyPr>
          <a:lstStyle/>
          <a:p>
            <a:pPr lvl="0" defTabSz="457200" eaLnBrk="1" fontAlgn="auto" hangingPunct="1">
              <a:spcBef>
                <a:spcPts val="0"/>
              </a:spcBef>
              <a:spcAft>
                <a:spcPts val="0"/>
              </a:spcAft>
              <a:defRPr/>
            </a:pPr>
            <a:r>
              <a:rPr lang="zh-CN" altLang="en-US" sz="2400" b="1" dirty="0">
                <a:solidFill>
                  <a:srgbClr val="002060"/>
                </a:solidFill>
                <a:latin typeface="微软雅黑" panose="020B0503020204020204" pitchFamily="34" charset="-122"/>
                <a:ea typeface="微软雅黑" panose="020B0503020204020204" pitchFamily="34" charset="-122"/>
              </a:rPr>
              <a:t>研究内容三：</a:t>
            </a:r>
            <a:r>
              <a:rPr lang="en-US" altLang="zh-CN" sz="2400" b="1" dirty="0">
                <a:solidFill>
                  <a:srgbClr val="002060"/>
                </a:solidFill>
                <a:latin typeface="微软雅黑" panose="020B0503020204020204" pitchFamily="34" charset="-122"/>
                <a:ea typeface="微软雅黑" panose="020B0503020204020204" pitchFamily="34" charset="-122"/>
              </a:rPr>
              <a:t> </a:t>
            </a:r>
            <a:r>
              <a:rPr lang="zh-CN" altLang="en-US" sz="2400" b="1" dirty="0">
                <a:solidFill>
                  <a:srgbClr val="002060"/>
                </a:solidFill>
                <a:latin typeface="微软雅黑" panose="020B0503020204020204" pitchFamily="34" charset="-122"/>
                <a:ea typeface="微软雅黑" panose="020B0503020204020204" pitchFamily="34" charset="-122"/>
              </a:rPr>
              <a:t>碰撞检测与误报抑制</a:t>
            </a:r>
          </a:p>
        </p:txBody>
      </p:sp>
      <p:sp>
        <p:nvSpPr>
          <p:cNvPr id="21" name="矩形 20">
            <a:extLst>
              <a:ext uri="{FF2B5EF4-FFF2-40B4-BE49-F238E27FC236}">
                <a16:creationId xmlns:a16="http://schemas.microsoft.com/office/drawing/2014/main" id="{A8E07248-3459-E782-9E7C-D0A100F366A2}"/>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9/13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CA2B9155-5952-6781-A5ED-B8F8EA7FFA0C}"/>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605C9BEB-2DEE-AD70-B7E7-2BB529450EE7}"/>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5" name="文本框 4">
            <a:extLst>
              <a:ext uri="{FF2B5EF4-FFF2-40B4-BE49-F238E27FC236}">
                <a16:creationId xmlns:a16="http://schemas.microsoft.com/office/drawing/2014/main" id="{C5542520-3E7C-AB08-19FA-432E0592D8A1}"/>
              </a:ext>
            </a:extLst>
          </p:cNvPr>
          <p:cNvSpPr txBox="1"/>
          <p:nvPr/>
        </p:nvSpPr>
        <p:spPr bwMode="auto">
          <a:xfrm>
            <a:off x="187899" y="-57186"/>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研究背景与意义</a:t>
            </a:r>
          </a:p>
        </p:txBody>
      </p:sp>
      <p:sp>
        <p:nvSpPr>
          <p:cNvPr id="7" name="文本框 6">
            <a:extLst>
              <a:ext uri="{FF2B5EF4-FFF2-40B4-BE49-F238E27FC236}">
                <a16:creationId xmlns:a16="http://schemas.microsoft.com/office/drawing/2014/main" id="{562B9792-49A7-F920-F1CD-371270620C87}"/>
              </a:ext>
            </a:extLst>
          </p:cNvPr>
          <p:cNvSpPr txBox="1"/>
          <p:nvPr/>
        </p:nvSpPr>
        <p:spPr bwMode="auto">
          <a:xfrm>
            <a:off x="3757797" y="-57187"/>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1"/>
                </a:solidFill>
                <a:latin typeface="微软雅黑" panose="020B0503020204020204" pitchFamily="34" charset="-122"/>
                <a:ea typeface="微软雅黑" panose="020B0503020204020204" pitchFamily="34" charset="-122"/>
              </a:rPr>
              <a:t>研究目标与内容</a:t>
            </a:r>
          </a:p>
        </p:txBody>
      </p:sp>
      <p:sp>
        <p:nvSpPr>
          <p:cNvPr id="8" name="文本框 7">
            <a:extLst>
              <a:ext uri="{FF2B5EF4-FFF2-40B4-BE49-F238E27FC236}">
                <a16:creationId xmlns:a16="http://schemas.microsoft.com/office/drawing/2014/main" id="{3F4B22F6-9DD8-0F5D-9916-FB8F4BC98A8D}"/>
              </a:ext>
            </a:extLst>
          </p:cNvPr>
          <p:cNvSpPr txBox="1"/>
          <p:nvPr/>
        </p:nvSpPr>
        <p:spPr bwMode="auto">
          <a:xfrm>
            <a:off x="7076915" y="-54857"/>
            <a:ext cx="1879186"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预期成果与进度安排</a:t>
            </a:r>
          </a:p>
        </p:txBody>
      </p:sp>
      <p:sp>
        <p:nvSpPr>
          <p:cNvPr id="15" name="文本框 14">
            <a:extLst>
              <a:ext uri="{FF2B5EF4-FFF2-40B4-BE49-F238E27FC236}">
                <a16:creationId xmlns:a16="http://schemas.microsoft.com/office/drawing/2014/main" id="{5CB3243D-8B3D-F032-16BF-D26972F0D0A8}"/>
              </a:ext>
            </a:extLst>
          </p:cNvPr>
          <p:cNvSpPr txBox="1"/>
          <p:nvPr/>
        </p:nvSpPr>
        <p:spPr>
          <a:xfrm>
            <a:off x="738972" y="2279016"/>
            <a:ext cx="3613429" cy="1200329"/>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深入实施“人工智能</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”行动为高质量发展提供强大动能</a:t>
            </a:r>
          </a:p>
        </p:txBody>
      </p:sp>
      <p:sp>
        <p:nvSpPr>
          <p:cNvPr id="16" name="文本框 15">
            <a:extLst>
              <a:ext uri="{FF2B5EF4-FFF2-40B4-BE49-F238E27FC236}">
                <a16:creationId xmlns:a16="http://schemas.microsoft.com/office/drawing/2014/main" id="{B15ED12E-CCCF-3F8D-0E89-AD43EE7CAA9C}"/>
              </a:ext>
            </a:extLst>
          </p:cNvPr>
          <p:cNvSpPr txBox="1"/>
          <p:nvPr/>
        </p:nvSpPr>
        <p:spPr>
          <a:xfrm>
            <a:off x="738972" y="3510803"/>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国家发改委</a:t>
            </a:r>
          </a:p>
        </p:txBody>
      </p:sp>
      <p:sp>
        <p:nvSpPr>
          <p:cNvPr id="20" name="文本框 19">
            <a:extLst>
              <a:ext uri="{FF2B5EF4-FFF2-40B4-BE49-F238E27FC236}">
                <a16:creationId xmlns:a16="http://schemas.microsoft.com/office/drawing/2014/main" id="{08DE7A6F-77D4-DFF6-808C-C4235504B979}"/>
              </a:ext>
            </a:extLst>
          </p:cNvPr>
          <p:cNvSpPr txBox="1"/>
          <p:nvPr/>
        </p:nvSpPr>
        <p:spPr>
          <a:xfrm>
            <a:off x="5059391" y="3490576"/>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中国政府网</a:t>
            </a:r>
          </a:p>
        </p:txBody>
      </p:sp>
      <p:sp>
        <p:nvSpPr>
          <p:cNvPr id="12" name="文本框 11">
            <a:extLst>
              <a:ext uri="{FF2B5EF4-FFF2-40B4-BE49-F238E27FC236}">
                <a16:creationId xmlns:a16="http://schemas.microsoft.com/office/drawing/2014/main" id="{1764F19F-BEC5-CC84-F129-FB9541F63B84}"/>
              </a:ext>
            </a:extLst>
          </p:cNvPr>
          <p:cNvSpPr txBox="1"/>
          <p:nvPr/>
        </p:nvSpPr>
        <p:spPr>
          <a:xfrm>
            <a:off x="187898" y="957930"/>
            <a:ext cx="8924232" cy="496290"/>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en-US" altLang="zh-CN" sz="2000" dirty="0" err="1">
                <a:latin typeface="微软雅黑" panose="020B0503020204020204" pitchFamily="34" charset="-122"/>
                <a:ea typeface="微软雅黑" panose="020B0503020204020204" pitchFamily="34" charset="-122"/>
              </a:rPr>
              <a:t>提高</a:t>
            </a:r>
            <a:r>
              <a:rPr lang="en-US" altLang="zh-CN" sz="2000" b="1" dirty="0" err="1">
                <a:solidFill>
                  <a:srgbClr val="365AF9"/>
                </a:solidFill>
                <a:latin typeface="微软雅黑" panose="020B0503020204020204" pitchFamily="34" charset="-122"/>
                <a:ea typeface="微软雅黑" panose="020B0503020204020204" pitchFamily="34" charset="-122"/>
              </a:rPr>
              <a:t>非预期接触</a:t>
            </a:r>
            <a:r>
              <a:rPr lang="en-US" altLang="zh-CN" sz="2000" dirty="0" err="1">
                <a:latin typeface="微软雅黑" panose="020B0503020204020204" pitchFamily="34" charset="-122"/>
                <a:ea typeface="微软雅黑" panose="020B0503020204020204" pitchFamily="34" charset="-122"/>
              </a:rPr>
              <a:t>检测可靠性，同时降低</a:t>
            </a:r>
            <a:r>
              <a:rPr lang="en-US" altLang="zh-CN" sz="2000" b="1" dirty="0" err="1">
                <a:solidFill>
                  <a:srgbClr val="FF0000"/>
                </a:solidFill>
                <a:latin typeface="微软雅黑" panose="020B0503020204020204" pitchFamily="34" charset="-122"/>
                <a:ea typeface="微软雅黑" panose="020B0503020204020204" pitchFamily="34" charset="-122"/>
              </a:rPr>
              <a:t>正常末端作业接触</a:t>
            </a:r>
            <a:r>
              <a:rPr lang="en-US" altLang="zh-CN" sz="2000" dirty="0" err="1">
                <a:latin typeface="微软雅黑" panose="020B0503020204020204" pitchFamily="34" charset="-122"/>
                <a:ea typeface="微软雅黑" panose="020B0503020204020204" pitchFamily="34" charset="-122"/>
              </a:rPr>
              <a:t>造成的误报</a:t>
            </a:r>
            <a:endParaRPr lang="en-US" altLang="zh-CN" sz="2000" dirty="0">
              <a:latin typeface="微软雅黑" panose="020B0503020204020204" pitchFamily="34" charset="-122"/>
              <a:ea typeface="微软雅黑" panose="020B0503020204020204" pitchFamily="34" charset="-122"/>
            </a:endParaRPr>
          </a:p>
        </p:txBody>
      </p:sp>
      <p:sp>
        <p:nvSpPr>
          <p:cNvPr id="2" name="Shape 8">
            <a:extLst>
              <a:ext uri="{FF2B5EF4-FFF2-40B4-BE49-F238E27FC236}">
                <a16:creationId xmlns:a16="http://schemas.microsoft.com/office/drawing/2014/main" id="{D5D408EA-4404-8600-02B6-62D64BD030AC}"/>
              </a:ext>
            </a:extLst>
          </p:cNvPr>
          <p:cNvSpPr/>
          <p:nvPr/>
        </p:nvSpPr>
        <p:spPr>
          <a:xfrm>
            <a:off x="161960" y="1817239"/>
            <a:ext cx="2532872" cy="2788920"/>
          </a:xfrm>
          <a:prstGeom prst="roundRect">
            <a:avLst>
              <a:gd name="adj" fmla="val 2623"/>
            </a:avLst>
          </a:prstGeom>
          <a:solidFill>
            <a:srgbClr val="FFFFFF"/>
          </a:solidFill>
          <a:ln w="12700">
            <a:solidFill>
              <a:srgbClr val="E5EDF6"/>
            </a:solidFill>
            <a:prstDash val="solid"/>
          </a:ln>
          <a:effectLst>
            <a:outerShdw blurRad="12700" dist="50800" dir="2700000" algn="bl" rotWithShape="0">
              <a:srgbClr val="94A3B8">
                <a:alpha val="12000"/>
              </a:srgbClr>
            </a:outerShdw>
          </a:effectLst>
        </p:spPr>
      </p:sp>
      <p:sp>
        <p:nvSpPr>
          <p:cNvPr id="11" name="Shape 10">
            <a:extLst>
              <a:ext uri="{FF2B5EF4-FFF2-40B4-BE49-F238E27FC236}">
                <a16:creationId xmlns:a16="http://schemas.microsoft.com/office/drawing/2014/main" id="{774E6905-17D0-2DDB-B934-F17B28D979E1}"/>
              </a:ext>
            </a:extLst>
          </p:cNvPr>
          <p:cNvSpPr/>
          <p:nvPr/>
        </p:nvSpPr>
        <p:spPr>
          <a:xfrm>
            <a:off x="271288" y="2621911"/>
            <a:ext cx="2331720" cy="384048"/>
          </a:xfrm>
          <a:prstGeom prst="rect">
            <a:avLst/>
          </a:prstGeom>
          <a:solidFill>
            <a:srgbClr val="EAF3FF"/>
          </a:solidFill>
          <a:ln w="12700">
            <a:solidFill>
              <a:srgbClr val="CFE3FF"/>
            </a:solidFill>
            <a:prstDash val="solid"/>
          </a:ln>
        </p:spPr>
      </p:sp>
      <p:sp>
        <p:nvSpPr>
          <p:cNvPr id="13" name="Shape 12">
            <a:extLst>
              <a:ext uri="{FF2B5EF4-FFF2-40B4-BE49-F238E27FC236}">
                <a16:creationId xmlns:a16="http://schemas.microsoft.com/office/drawing/2014/main" id="{E58A6855-0221-08A0-3652-2503A5823816}"/>
              </a:ext>
            </a:extLst>
          </p:cNvPr>
          <p:cNvSpPr/>
          <p:nvPr/>
        </p:nvSpPr>
        <p:spPr>
          <a:xfrm>
            <a:off x="1432576" y="3079111"/>
            <a:ext cx="0" cy="438912"/>
          </a:xfrm>
          <a:prstGeom prst="line">
            <a:avLst/>
          </a:prstGeom>
          <a:noFill/>
          <a:ln w="17780">
            <a:solidFill>
              <a:srgbClr val="64748B"/>
            </a:solidFill>
            <a:prstDash val="solid"/>
            <a:tailEnd type="triangle"/>
          </a:ln>
        </p:spPr>
      </p:sp>
      <p:sp>
        <p:nvSpPr>
          <p:cNvPr id="14" name="Shape 13">
            <a:extLst>
              <a:ext uri="{FF2B5EF4-FFF2-40B4-BE49-F238E27FC236}">
                <a16:creationId xmlns:a16="http://schemas.microsoft.com/office/drawing/2014/main" id="{6FD9D83B-AC16-857A-0824-5064882D61B2}"/>
              </a:ext>
            </a:extLst>
          </p:cNvPr>
          <p:cNvSpPr/>
          <p:nvPr/>
        </p:nvSpPr>
        <p:spPr>
          <a:xfrm>
            <a:off x="271288" y="3627751"/>
            <a:ext cx="2331720" cy="384048"/>
          </a:xfrm>
          <a:prstGeom prst="rect">
            <a:avLst/>
          </a:prstGeom>
          <a:solidFill>
            <a:srgbClr val="FFF7ED"/>
          </a:solidFill>
          <a:ln w="12700">
            <a:solidFill>
              <a:srgbClr val="FED7AA"/>
            </a:solidFill>
            <a:prstDash val="solid"/>
          </a:ln>
        </p:spPr>
      </p:sp>
      <p:sp>
        <p:nvSpPr>
          <p:cNvPr id="18" name="Text 14">
            <a:extLst>
              <a:ext uri="{FF2B5EF4-FFF2-40B4-BE49-F238E27FC236}">
                <a16:creationId xmlns:a16="http://schemas.microsoft.com/office/drawing/2014/main" id="{30E3EE3E-A2D8-C9B9-74AE-791DEBB149C1}"/>
              </a:ext>
            </a:extLst>
          </p:cNvPr>
          <p:cNvSpPr/>
          <p:nvPr/>
        </p:nvSpPr>
        <p:spPr>
          <a:xfrm>
            <a:off x="396846" y="3634971"/>
            <a:ext cx="2148840" cy="362495"/>
          </a:xfrm>
          <a:prstGeom prst="rect">
            <a:avLst/>
          </a:prstGeom>
          <a:noFill/>
          <a:ln/>
        </p:spPr>
        <p:txBody>
          <a:bodyPr wrap="square" lIns="0" tIns="0" rIns="0" bIns="0" rtlCol="0" anchor="ctr"/>
          <a:lstStyle/>
          <a:p>
            <a:pPr marL="0" indent="0" algn="ctr">
              <a:buNone/>
            </a:pPr>
            <a:r>
              <a:rPr lang="en-US" sz="1600" b="1" dirty="0">
                <a:solidFill>
                  <a:srgbClr val="9A3412"/>
                </a:solidFill>
                <a:latin typeface="Times New Roman" panose="02020603050405020304" pitchFamily="18" charset="0"/>
                <a:cs typeface="Times New Roman" panose="02020603050405020304" pitchFamily="18" charset="0"/>
              </a:rPr>
              <a:t>|τ_ext| &gt; threshold ?</a:t>
            </a:r>
            <a:endParaRPr lang="en-US" sz="1600" dirty="0">
              <a:latin typeface="Times New Roman" panose="02020603050405020304" pitchFamily="18" charset="0"/>
              <a:cs typeface="Times New Roman" panose="02020603050405020304" pitchFamily="18" charset="0"/>
            </a:endParaRPr>
          </a:p>
        </p:txBody>
      </p:sp>
      <p:sp>
        <p:nvSpPr>
          <p:cNvPr id="25" name="Shape 15">
            <a:extLst>
              <a:ext uri="{FF2B5EF4-FFF2-40B4-BE49-F238E27FC236}">
                <a16:creationId xmlns:a16="http://schemas.microsoft.com/office/drawing/2014/main" id="{C9A35772-00B6-BC73-DF41-F821B8886486}"/>
              </a:ext>
            </a:extLst>
          </p:cNvPr>
          <p:cNvSpPr/>
          <p:nvPr/>
        </p:nvSpPr>
        <p:spPr>
          <a:xfrm>
            <a:off x="3340949" y="1817239"/>
            <a:ext cx="2623928" cy="2788920"/>
          </a:xfrm>
          <a:prstGeom prst="roundRect">
            <a:avLst>
              <a:gd name="adj" fmla="val 2623"/>
            </a:avLst>
          </a:prstGeom>
          <a:solidFill>
            <a:srgbClr val="FFFFFF"/>
          </a:solidFill>
          <a:ln w="12700">
            <a:solidFill>
              <a:srgbClr val="E5EDF6"/>
            </a:solidFill>
            <a:prstDash val="solid"/>
          </a:ln>
          <a:effectLst>
            <a:outerShdw blurRad="12700" dist="50800" dir="2700000" algn="bl" rotWithShape="0">
              <a:srgbClr val="94A3B8">
                <a:alpha val="12000"/>
              </a:srgbClr>
            </a:outerShdw>
          </a:effectLst>
        </p:spPr>
      </p:sp>
      <p:sp>
        <p:nvSpPr>
          <p:cNvPr id="27" name="Text 16">
            <a:extLst>
              <a:ext uri="{FF2B5EF4-FFF2-40B4-BE49-F238E27FC236}">
                <a16:creationId xmlns:a16="http://schemas.microsoft.com/office/drawing/2014/main" id="{8E0C64CA-AB5C-E4D1-0038-AEE4CFB37D06}"/>
              </a:ext>
            </a:extLst>
          </p:cNvPr>
          <p:cNvSpPr/>
          <p:nvPr/>
        </p:nvSpPr>
        <p:spPr>
          <a:xfrm>
            <a:off x="3232694" y="2080042"/>
            <a:ext cx="2834640" cy="201168"/>
          </a:xfrm>
          <a:prstGeom prst="rect">
            <a:avLst/>
          </a:prstGeom>
          <a:noFill/>
          <a:ln/>
        </p:spPr>
        <p:txBody>
          <a:bodyPr wrap="square" lIns="0" tIns="0" rIns="0" bIns="0" rtlCol="0" anchor="ctr"/>
          <a:lstStyle/>
          <a:p>
            <a:pPr marL="0" indent="0" algn="ctr">
              <a:buNone/>
            </a:pPr>
            <a:r>
              <a:rPr lang="en-US" b="1" dirty="0">
                <a:solidFill>
                  <a:srgbClr val="12355B"/>
                </a:solidFill>
                <a:latin typeface="微软雅黑" panose="020B0503020204020204" pitchFamily="34" charset="-122"/>
                <a:ea typeface="微软雅黑" panose="020B0503020204020204" pitchFamily="34" charset="-122"/>
              </a:rPr>
              <a:t>关键难点</a:t>
            </a:r>
            <a:endParaRPr lang="en-US" dirty="0">
              <a:latin typeface="微软雅黑" panose="020B0503020204020204" pitchFamily="34" charset="-122"/>
              <a:ea typeface="微软雅黑" panose="020B0503020204020204" pitchFamily="34" charset="-122"/>
            </a:endParaRPr>
          </a:p>
        </p:txBody>
      </p:sp>
      <p:sp>
        <p:nvSpPr>
          <p:cNvPr id="29" name="Text 17">
            <a:extLst>
              <a:ext uri="{FF2B5EF4-FFF2-40B4-BE49-F238E27FC236}">
                <a16:creationId xmlns:a16="http://schemas.microsoft.com/office/drawing/2014/main" id="{460911E8-0B35-49CF-1546-29D0591F4080}"/>
              </a:ext>
            </a:extLst>
          </p:cNvPr>
          <p:cNvSpPr/>
          <p:nvPr/>
        </p:nvSpPr>
        <p:spPr>
          <a:xfrm>
            <a:off x="3376946" y="2506146"/>
            <a:ext cx="2548659" cy="845969"/>
          </a:xfrm>
          <a:prstGeom prst="rect">
            <a:avLst/>
          </a:prstGeom>
          <a:noFill/>
          <a:ln/>
        </p:spPr>
        <p:txBody>
          <a:bodyPr wrap="square" lIns="0" tIns="0" rIns="0" bIns="0" rtlCol="0" anchor="ctr">
            <a:noAutofit/>
          </a:bodyPr>
          <a:lstStyle/>
          <a:p>
            <a:pPr marL="0" indent="0" algn="ctr">
              <a:buNone/>
            </a:pPr>
            <a:r>
              <a:rPr lang="en-US" sz="1600" b="1" dirty="0" err="1">
                <a:solidFill>
                  <a:srgbClr val="E11D48"/>
                </a:solidFill>
                <a:latin typeface="微软雅黑" panose="020B0503020204020204" pitchFamily="34" charset="-122"/>
                <a:ea typeface="微软雅黑" panose="020B0503020204020204" pitchFamily="34" charset="-122"/>
              </a:rPr>
              <a:t>正常任务接触力与异常碰</a:t>
            </a:r>
            <a:r>
              <a:rPr lang="zh-CN" altLang="en-US" sz="1600" b="1" dirty="0">
                <a:solidFill>
                  <a:srgbClr val="E11D48"/>
                </a:solidFill>
                <a:latin typeface="微软雅黑" panose="020B0503020204020204" pitchFamily="34" charset="-122"/>
                <a:ea typeface="微软雅黑" panose="020B0503020204020204" pitchFamily="34" charset="-122"/>
              </a:rPr>
              <a:t>撞</a:t>
            </a:r>
            <a:r>
              <a:rPr lang="en-US" sz="1600" b="1" dirty="0" err="1">
                <a:solidFill>
                  <a:srgbClr val="E11D48"/>
                </a:solidFill>
                <a:latin typeface="微软雅黑" panose="020B0503020204020204" pitchFamily="34" charset="-122"/>
                <a:ea typeface="微软雅黑" panose="020B0503020204020204" pitchFamily="34" charset="-122"/>
              </a:rPr>
              <a:t>力都会映射到关节残差</a:t>
            </a:r>
            <a:endParaRPr lang="en-US" sz="1600" dirty="0">
              <a:latin typeface="微软雅黑" panose="020B0503020204020204" pitchFamily="34" charset="-122"/>
              <a:ea typeface="微软雅黑" panose="020B0503020204020204" pitchFamily="34" charset="-122"/>
            </a:endParaRPr>
          </a:p>
        </p:txBody>
      </p:sp>
      <p:sp>
        <p:nvSpPr>
          <p:cNvPr id="30" name="Shape 18">
            <a:extLst>
              <a:ext uri="{FF2B5EF4-FFF2-40B4-BE49-F238E27FC236}">
                <a16:creationId xmlns:a16="http://schemas.microsoft.com/office/drawing/2014/main" id="{1A883A74-D395-8F19-1800-6F00B78E7675}"/>
              </a:ext>
            </a:extLst>
          </p:cNvPr>
          <p:cNvSpPr/>
          <p:nvPr/>
        </p:nvSpPr>
        <p:spPr>
          <a:xfrm flipV="1">
            <a:off x="3340949" y="3486168"/>
            <a:ext cx="2623928" cy="23075"/>
          </a:xfrm>
          <a:prstGeom prst="line">
            <a:avLst/>
          </a:prstGeom>
          <a:noFill/>
          <a:ln w="15240">
            <a:solidFill>
              <a:srgbClr val="CBD5E1"/>
            </a:solidFill>
            <a:prstDash val="solid"/>
          </a:ln>
        </p:spPr>
      </p:sp>
      <p:sp>
        <p:nvSpPr>
          <p:cNvPr id="31" name="Text 19">
            <a:extLst>
              <a:ext uri="{FF2B5EF4-FFF2-40B4-BE49-F238E27FC236}">
                <a16:creationId xmlns:a16="http://schemas.microsoft.com/office/drawing/2014/main" id="{2F833DD8-9C90-B63D-C6C2-3975676A14CF}"/>
              </a:ext>
            </a:extLst>
          </p:cNvPr>
          <p:cNvSpPr/>
          <p:nvPr/>
        </p:nvSpPr>
        <p:spPr>
          <a:xfrm>
            <a:off x="3179080" y="3737479"/>
            <a:ext cx="2834640" cy="365760"/>
          </a:xfrm>
          <a:prstGeom prst="rect">
            <a:avLst/>
          </a:prstGeom>
          <a:noFill/>
          <a:ln/>
        </p:spPr>
        <p:txBody>
          <a:bodyPr wrap="square" lIns="0" tIns="0" rIns="0" bIns="0" rtlCol="0" anchor="ctr">
            <a:normAutofit/>
          </a:bodyPr>
          <a:lstStyle/>
          <a:p>
            <a:pPr marL="0" indent="0" algn="ctr">
              <a:buNone/>
            </a:pPr>
            <a:r>
              <a:rPr lang="en-US" sz="1200" dirty="0">
                <a:solidFill>
                  <a:srgbClr val="64748B"/>
                </a:solidFill>
                <a:latin typeface="微软雅黑" panose="020B0503020204020204" pitchFamily="34" charset="-122"/>
                <a:ea typeface="微软雅黑" panose="020B0503020204020204" pitchFamily="34" charset="-122"/>
              </a:rPr>
              <a:t>若仅设置固定阈值：</a:t>
            </a:r>
            <a:endParaRPr lang="en-US" sz="1200" dirty="0">
              <a:latin typeface="微软雅黑" panose="020B0503020204020204" pitchFamily="34" charset="-122"/>
              <a:ea typeface="微软雅黑" panose="020B0503020204020204" pitchFamily="34" charset="-122"/>
            </a:endParaRPr>
          </a:p>
          <a:p>
            <a:pPr marL="0" indent="0" algn="ctr">
              <a:buNone/>
            </a:pPr>
            <a:r>
              <a:rPr lang="en-US" sz="1200" dirty="0">
                <a:solidFill>
                  <a:srgbClr val="64748B"/>
                </a:solidFill>
                <a:latin typeface="微软雅黑" panose="020B0503020204020204" pitchFamily="34" charset="-122"/>
                <a:ea typeface="微软雅黑" panose="020B0503020204020204" pitchFamily="34" charset="-122"/>
              </a:rPr>
              <a:t>低阈值易误报，高阈值易漏检</a:t>
            </a:r>
            <a:endParaRPr lang="en-US" sz="1200" dirty="0">
              <a:latin typeface="微软雅黑" panose="020B0503020204020204" pitchFamily="34" charset="-122"/>
              <a:ea typeface="微软雅黑" panose="020B0503020204020204" pitchFamily="34" charset="-122"/>
            </a:endParaRPr>
          </a:p>
        </p:txBody>
      </p:sp>
      <p:sp>
        <p:nvSpPr>
          <p:cNvPr id="32" name="Shape 20">
            <a:extLst>
              <a:ext uri="{FF2B5EF4-FFF2-40B4-BE49-F238E27FC236}">
                <a16:creationId xmlns:a16="http://schemas.microsoft.com/office/drawing/2014/main" id="{64C66D0D-936D-A56D-8FCA-0ABBC0B7B468}"/>
              </a:ext>
            </a:extLst>
          </p:cNvPr>
          <p:cNvSpPr/>
          <p:nvPr/>
        </p:nvSpPr>
        <p:spPr>
          <a:xfrm>
            <a:off x="6513315" y="1817239"/>
            <a:ext cx="2453358" cy="2788920"/>
          </a:xfrm>
          <a:prstGeom prst="roundRect">
            <a:avLst>
              <a:gd name="adj" fmla="val 2623"/>
            </a:avLst>
          </a:prstGeom>
          <a:solidFill>
            <a:srgbClr val="F0FDF4"/>
          </a:solidFill>
          <a:ln w="12700">
            <a:solidFill>
              <a:srgbClr val="BBF7D0"/>
            </a:solidFill>
            <a:prstDash val="solid"/>
          </a:ln>
          <a:effectLst>
            <a:outerShdw blurRad="12700" dist="50800" dir="2700000" algn="bl" rotWithShape="0">
              <a:srgbClr val="94A3B8">
                <a:alpha val="12000"/>
              </a:srgbClr>
            </a:outerShdw>
          </a:effectLst>
        </p:spPr>
        <p:txBody>
          <a:bodyPr/>
          <a:lstStyle/>
          <a:p>
            <a:endParaRPr lang="zh-CN" altLang="en-US" dirty="0"/>
          </a:p>
        </p:txBody>
      </p:sp>
      <p:sp>
        <p:nvSpPr>
          <p:cNvPr id="33" name="Text 21">
            <a:extLst>
              <a:ext uri="{FF2B5EF4-FFF2-40B4-BE49-F238E27FC236}">
                <a16:creationId xmlns:a16="http://schemas.microsoft.com/office/drawing/2014/main" id="{705389F6-5C40-70DA-529E-EBAD5C2B8344}"/>
              </a:ext>
            </a:extLst>
          </p:cNvPr>
          <p:cNvSpPr/>
          <p:nvPr/>
        </p:nvSpPr>
        <p:spPr>
          <a:xfrm>
            <a:off x="6513315" y="2084645"/>
            <a:ext cx="2423160" cy="201168"/>
          </a:xfrm>
          <a:prstGeom prst="rect">
            <a:avLst/>
          </a:prstGeom>
          <a:noFill/>
          <a:ln/>
        </p:spPr>
        <p:txBody>
          <a:bodyPr wrap="square" lIns="0" tIns="0" rIns="0" bIns="0" rtlCol="0" anchor="ctr"/>
          <a:lstStyle/>
          <a:p>
            <a:pPr marL="0" indent="0" algn="ctr">
              <a:buNone/>
            </a:pPr>
            <a:r>
              <a:rPr lang="en-US" b="1" dirty="0">
                <a:solidFill>
                  <a:srgbClr val="166534"/>
                </a:solidFill>
                <a:latin typeface="微软雅黑" panose="020B0503020204020204" pitchFamily="34" charset="-122"/>
                <a:ea typeface="微软雅黑" panose="020B0503020204020204" pitchFamily="34" charset="-122"/>
              </a:rPr>
              <a:t>拟研究思路</a:t>
            </a:r>
            <a:endParaRPr lang="en-US" dirty="0">
              <a:latin typeface="微软雅黑" panose="020B0503020204020204" pitchFamily="34" charset="-122"/>
              <a:ea typeface="微软雅黑" panose="020B0503020204020204" pitchFamily="34" charset="-122"/>
            </a:endParaRPr>
          </a:p>
        </p:txBody>
      </p:sp>
      <p:sp>
        <p:nvSpPr>
          <p:cNvPr id="34" name="Text 23">
            <a:extLst>
              <a:ext uri="{FF2B5EF4-FFF2-40B4-BE49-F238E27FC236}">
                <a16:creationId xmlns:a16="http://schemas.microsoft.com/office/drawing/2014/main" id="{A1C76CE8-E33D-BB85-3602-389286080C9C}"/>
              </a:ext>
            </a:extLst>
          </p:cNvPr>
          <p:cNvSpPr/>
          <p:nvPr/>
        </p:nvSpPr>
        <p:spPr>
          <a:xfrm>
            <a:off x="6735649" y="2458843"/>
            <a:ext cx="2258568" cy="1736399"/>
          </a:xfrm>
          <a:prstGeom prst="rect">
            <a:avLst/>
          </a:prstGeom>
          <a:noFill/>
          <a:ln/>
        </p:spPr>
        <p:txBody>
          <a:bodyPr wrap="square" lIns="0" tIns="0" rIns="0" bIns="0" rtlCol="0" anchor="ctr">
            <a:noAutofit/>
          </a:bodyPr>
          <a:lstStyle/>
          <a:p>
            <a:pPr marL="0" indent="0">
              <a:lnSpc>
                <a:spcPct val="250000"/>
              </a:lnSpc>
              <a:buNone/>
            </a:pPr>
            <a:r>
              <a:rPr lang="en-US" sz="1200" dirty="0" err="1">
                <a:solidFill>
                  <a:srgbClr val="166534"/>
                </a:solidFill>
                <a:latin typeface="微软雅黑" panose="020B0503020204020204" pitchFamily="34" charset="-122"/>
                <a:ea typeface="微软雅黑" panose="020B0503020204020204" pitchFamily="34" charset="-122"/>
              </a:rPr>
              <a:t>动力学残差</a:t>
            </a:r>
            <a:r>
              <a:rPr lang="en-US" sz="1200" dirty="0">
                <a:solidFill>
                  <a:srgbClr val="166534"/>
                </a:solidFill>
                <a:latin typeface="微软雅黑" panose="020B0503020204020204" pitchFamily="34" charset="-122"/>
                <a:ea typeface="微软雅黑" panose="020B0503020204020204" pitchFamily="34" charset="-122"/>
              </a:rPr>
              <a:t>/</a:t>
            </a:r>
            <a:r>
              <a:rPr lang="en-US" sz="1200" dirty="0" err="1">
                <a:solidFill>
                  <a:srgbClr val="166534"/>
                </a:solidFill>
                <a:latin typeface="微软雅黑" panose="020B0503020204020204" pitchFamily="34" charset="-122"/>
                <a:ea typeface="微软雅黑" panose="020B0503020204020204" pitchFamily="34" charset="-122"/>
              </a:rPr>
              <a:t>动量观测器</a:t>
            </a:r>
            <a:endParaRPr lang="en-US" sz="1200" dirty="0">
              <a:solidFill>
                <a:srgbClr val="166534"/>
              </a:solidFill>
              <a:latin typeface="微软雅黑" panose="020B0503020204020204" pitchFamily="34" charset="-122"/>
              <a:ea typeface="微软雅黑" panose="020B0503020204020204" pitchFamily="34" charset="-122"/>
            </a:endParaRPr>
          </a:p>
          <a:p>
            <a:pPr marL="0" indent="0">
              <a:lnSpc>
                <a:spcPct val="250000"/>
              </a:lnSpc>
              <a:buNone/>
            </a:pPr>
            <a:r>
              <a:rPr lang="zh-CN" altLang="en-US" sz="1200" dirty="0">
                <a:solidFill>
                  <a:srgbClr val="166534"/>
                </a:solidFill>
                <a:latin typeface="微软雅黑" panose="020B0503020204020204" pitchFamily="34" charset="-122"/>
                <a:ea typeface="微软雅黑" panose="020B0503020204020204" pitchFamily="34" charset="-122"/>
              </a:rPr>
              <a:t>区分正常任务接触与非预期碰撞</a:t>
            </a:r>
            <a:endParaRPr lang="en-US" altLang="zh-CN" sz="1200" dirty="0">
              <a:solidFill>
                <a:srgbClr val="166534"/>
              </a:solidFill>
              <a:latin typeface="微软雅黑" panose="020B0503020204020204" pitchFamily="34" charset="-122"/>
              <a:ea typeface="微软雅黑" panose="020B0503020204020204" pitchFamily="34" charset="-122"/>
            </a:endParaRPr>
          </a:p>
          <a:p>
            <a:pPr>
              <a:lnSpc>
                <a:spcPct val="250000"/>
              </a:lnSpc>
            </a:pPr>
            <a:r>
              <a:rPr lang="en-US" altLang="zh-CN" sz="1200" dirty="0" err="1">
                <a:solidFill>
                  <a:srgbClr val="166534"/>
                </a:solidFill>
                <a:latin typeface="微软雅黑" panose="020B0503020204020204" pitchFamily="34" charset="-122"/>
                <a:ea typeface="微软雅黑" panose="020B0503020204020204" pitchFamily="34" charset="-122"/>
              </a:rPr>
              <a:t>速度相关自适应阈值</a:t>
            </a:r>
            <a:endParaRPr lang="en-US" altLang="zh-CN" sz="1200" dirty="0">
              <a:solidFill>
                <a:srgbClr val="166534"/>
              </a:solidFill>
              <a:latin typeface="微软雅黑" panose="020B0503020204020204" pitchFamily="34" charset="-122"/>
              <a:ea typeface="微软雅黑" panose="020B0503020204020204" pitchFamily="34" charset="-122"/>
            </a:endParaRPr>
          </a:p>
          <a:p>
            <a:pPr marL="0" indent="0">
              <a:lnSpc>
                <a:spcPct val="250000"/>
              </a:lnSpc>
              <a:buNone/>
            </a:pPr>
            <a:r>
              <a:rPr lang="zh-CN" altLang="en-US" sz="1200" dirty="0">
                <a:solidFill>
                  <a:srgbClr val="166534"/>
                </a:solidFill>
                <a:latin typeface="微软雅黑" panose="020B0503020204020204" pitchFamily="34" charset="-122"/>
                <a:ea typeface="微软雅黑" panose="020B0503020204020204" pitchFamily="34" charset="-122"/>
              </a:rPr>
              <a:t>碰撞检测与安全响应</a:t>
            </a:r>
            <a:endParaRPr lang="en-US" sz="1200" dirty="0">
              <a:solidFill>
                <a:srgbClr val="166534"/>
              </a:solidFill>
              <a:latin typeface="微软雅黑" panose="020B0503020204020204" pitchFamily="34" charset="-122"/>
              <a:ea typeface="微软雅黑" panose="020B0503020204020204" pitchFamily="34" charset="-122"/>
            </a:endParaRPr>
          </a:p>
        </p:txBody>
      </p:sp>
      <p:sp>
        <p:nvSpPr>
          <p:cNvPr id="38" name="Shape 30">
            <a:extLst>
              <a:ext uri="{FF2B5EF4-FFF2-40B4-BE49-F238E27FC236}">
                <a16:creationId xmlns:a16="http://schemas.microsoft.com/office/drawing/2014/main" id="{2C357AE9-E687-0629-509E-57C65B9FC7A3}"/>
              </a:ext>
            </a:extLst>
          </p:cNvPr>
          <p:cNvSpPr/>
          <p:nvPr/>
        </p:nvSpPr>
        <p:spPr>
          <a:xfrm>
            <a:off x="2848579" y="3257569"/>
            <a:ext cx="411480" cy="0"/>
          </a:xfrm>
          <a:prstGeom prst="line">
            <a:avLst/>
          </a:prstGeom>
          <a:noFill/>
          <a:ln w="17780">
            <a:solidFill>
              <a:srgbClr val="64748B"/>
            </a:solidFill>
            <a:prstDash val="solid"/>
            <a:headEnd type="none"/>
            <a:tailEnd type="triangle"/>
          </a:ln>
        </p:spPr>
      </p:sp>
      <p:sp>
        <p:nvSpPr>
          <p:cNvPr id="41" name="Shape 30">
            <a:extLst>
              <a:ext uri="{FF2B5EF4-FFF2-40B4-BE49-F238E27FC236}">
                <a16:creationId xmlns:a16="http://schemas.microsoft.com/office/drawing/2014/main" id="{6B0D9C1C-6F49-194A-059F-F4A24AC36523}"/>
              </a:ext>
            </a:extLst>
          </p:cNvPr>
          <p:cNvSpPr/>
          <p:nvPr/>
        </p:nvSpPr>
        <p:spPr>
          <a:xfrm>
            <a:off x="6013720" y="3257569"/>
            <a:ext cx="411480" cy="0"/>
          </a:xfrm>
          <a:prstGeom prst="line">
            <a:avLst/>
          </a:prstGeom>
          <a:noFill/>
          <a:ln w="17780">
            <a:solidFill>
              <a:srgbClr val="64748B"/>
            </a:solidFill>
            <a:prstDash val="solid"/>
            <a:headEnd type="none"/>
            <a:tailEnd type="triangle"/>
          </a:ln>
        </p:spPr>
      </p:sp>
      <p:sp>
        <p:nvSpPr>
          <p:cNvPr id="44" name="Text 9">
            <a:extLst>
              <a:ext uri="{FF2B5EF4-FFF2-40B4-BE49-F238E27FC236}">
                <a16:creationId xmlns:a16="http://schemas.microsoft.com/office/drawing/2014/main" id="{BCDC6A99-6404-2F71-3D81-44EBD5A9BA34}"/>
              </a:ext>
            </a:extLst>
          </p:cNvPr>
          <p:cNvSpPr/>
          <p:nvPr/>
        </p:nvSpPr>
        <p:spPr>
          <a:xfrm>
            <a:off x="156988" y="2077847"/>
            <a:ext cx="2560320" cy="201168"/>
          </a:xfrm>
          <a:prstGeom prst="rect">
            <a:avLst/>
          </a:prstGeom>
          <a:noFill/>
          <a:ln/>
        </p:spPr>
        <p:txBody>
          <a:bodyPr wrap="square" lIns="0" tIns="0" rIns="0" bIns="0" rtlCol="0" anchor="ctr"/>
          <a:lstStyle/>
          <a:p>
            <a:pPr marL="0" indent="0" algn="ctr">
              <a:buNone/>
            </a:pPr>
            <a:r>
              <a:rPr lang="en-US" b="1" dirty="0">
                <a:solidFill>
                  <a:srgbClr val="12355B"/>
                </a:solidFill>
                <a:latin typeface="微软雅黑" panose="020B0503020204020204" pitchFamily="34" charset="-122"/>
                <a:ea typeface="微软雅黑" panose="020B0503020204020204" pitchFamily="34" charset="-122"/>
              </a:rPr>
              <a:t>残差 / </a:t>
            </a:r>
            <a:r>
              <a:rPr lang="en-US" b="1" dirty="0" err="1">
                <a:solidFill>
                  <a:srgbClr val="12355B"/>
                </a:solidFill>
                <a:latin typeface="微软雅黑" panose="020B0503020204020204" pitchFamily="34" charset="-122"/>
                <a:ea typeface="微软雅黑" panose="020B0503020204020204" pitchFamily="34" charset="-122"/>
              </a:rPr>
              <a:t>观测器</a:t>
            </a:r>
            <a:r>
              <a:rPr lang="zh-CN" altLang="en-US" b="1" dirty="0">
                <a:solidFill>
                  <a:srgbClr val="12355B"/>
                </a:solidFill>
                <a:latin typeface="微软雅黑" panose="020B0503020204020204" pitchFamily="34" charset="-122"/>
                <a:ea typeface="微软雅黑" panose="020B0503020204020204" pitchFamily="34" charset="-122"/>
              </a:rPr>
              <a:t>外力估计</a:t>
            </a:r>
            <a:endParaRPr lang="en-US" dirty="0">
              <a:latin typeface="微软雅黑" panose="020B0503020204020204" pitchFamily="34" charset="-122"/>
              <a:ea typeface="微软雅黑" panose="020B0503020204020204" pitchFamily="34" charset="-122"/>
            </a:endParaRPr>
          </a:p>
        </p:txBody>
      </p:sp>
      <p:sp>
        <p:nvSpPr>
          <p:cNvPr id="47" name="Shape 32">
            <a:extLst>
              <a:ext uri="{FF2B5EF4-FFF2-40B4-BE49-F238E27FC236}">
                <a16:creationId xmlns:a16="http://schemas.microsoft.com/office/drawing/2014/main" id="{64E46B1E-EDC7-CA44-3E4F-B641C080D92B}"/>
              </a:ext>
            </a:extLst>
          </p:cNvPr>
          <p:cNvSpPr/>
          <p:nvPr/>
        </p:nvSpPr>
        <p:spPr>
          <a:xfrm>
            <a:off x="141935" y="5036292"/>
            <a:ext cx="8814166" cy="983006"/>
          </a:xfrm>
          <a:prstGeom prst="roundRect">
            <a:avLst>
              <a:gd name="adj" fmla="val 12903"/>
            </a:avLst>
          </a:prstGeom>
          <a:solidFill>
            <a:srgbClr val="F8FAFC"/>
          </a:solidFill>
          <a:ln w="12700">
            <a:solidFill>
              <a:srgbClr val="CBD5E1"/>
            </a:solidFill>
            <a:prstDash val="solid"/>
          </a:ln>
        </p:spPr>
        <p:txBody>
          <a:bodyPr/>
          <a:lstStyle/>
          <a:p>
            <a:endParaRPr lang="zh-CN" altLang="en-US" dirty="0"/>
          </a:p>
        </p:txBody>
      </p:sp>
      <p:sp>
        <p:nvSpPr>
          <p:cNvPr id="48" name="文本框 47">
            <a:extLst>
              <a:ext uri="{FF2B5EF4-FFF2-40B4-BE49-F238E27FC236}">
                <a16:creationId xmlns:a16="http://schemas.microsoft.com/office/drawing/2014/main" id="{77C332B6-EC73-3A99-37BA-A9A3E43C3F3E}"/>
              </a:ext>
            </a:extLst>
          </p:cNvPr>
          <p:cNvSpPr txBox="1"/>
          <p:nvPr/>
        </p:nvSpPr>
        <p:spPr bwMode="auto">
          <a:xfrm>
            <a:off x="1977389" y="5090591"/>
            <a:ext cx="6755831" cy="874407"/>
          </a:xfrm>
          <a:prstGeom prst="rect">
            <a:avLst/>
          </a:prstGeom>
          <a:noFill/>
          <a:ln w="9525">
            <a:noFill/>
            <a:miter lim="800000"/>
          </a:ln>
        </p:spPr>
        <p:txBody>
          <a:bodyPr wrap="square" rtlCol="0">
            <a:spAutoFit/>
          </a:bodyPr>
          <a:lstStyle/>
          <a:p>
            <a:pPr algn="just">
              <a:lnSpc>
                <a:spcPct val="150000"/>
              </a:lnSpc>
              <a:spcAft>
                <a:spcPts val="0"/>
              </a:spcAft>
              <a:buNone/>
            </a:pPr>
            <a:r>
              <a:rPr lang="zh-CN" altLang="en-US" dirty="0">
                <a:latin typeface="微软雅黑" panose="020B0503020204020204" pitchFamily="34" charset="-122"/>
                <a:ea typeface="微软雅黑" panose="020B0503020204020204" pitchFamily="34" charset="-122"/>
              </a:rPr>
              <a:t>利用零空间投影解耦关节残差力矩中的末端正常作业接触力与非预期碰撞力，再对非预期碰撞力进行碰撞判断</a:t>
            </a:r>
          </a:p>
        </p:txBody>
      </p:sp>
      <p:sp>
        <p:nvSpPr>
          <p:cNvPr id="50" name="文本框 49">
            <a:extLst>
              <a:ext uri="{FF2B5EF4-FFF2-40B4-BE49-F238E27FC236}">
                <a16:creationId xmlns:a16="http://schemas.microsoft.com/office/drawing/2014/main" id="{138D08B6-C7D5-B36C-8BE2-408C0E2440EE}"/>
              </a:ext>
            </a:extLst>
          </p:cNvPr>
          <p:cNvSpPr txBox="1"/>
          <p:nvPr/>
        </p:nvSpPr>
        <p:spPr bwMode="auto">
          <a:xfrm>
            <a:off x="1089131" y="2655273"/>
            <a:ext cx="639342" cy="338554"/>
          </a:xfrm>
          <a:prstGeom prst="rect">
            <a:avLst/>
          </a:prstGeom>
          <a:noFill/>
          <a:ln w="9525">
            <a:noFill/>
            <a:miter lim="800000"/>
          </a:ln>
        </p:spPr>
        <p:txBody>
          <a:bodyPr wrap="square">
            <a:spAutoFit/>
          </a:bodyPr>
          <a:lstStyle/>
          <a:p>
            <a:pPr algn="ctr"/>
            <a:r>
              <a:rPr lang="en-US" altLang="zh-CN" sz="1600" b="1" dirty="0" err="1">
                <a:solidFill>
                  <a:schemeClr val="accent1">
                    <a:lumMod val="75000"/>
                  </a:schemeClr>
                </a:solidFill>
                <a:latin typeface="Times New Roman" panose="02020603050405020304" pitchFamily="18" charset="0"/>
                <a:cs typeface="Times New Roman" panose="02020603050405020304" pitchFamily="18" charset="0"/>
              </a:rPr>
              <a:t>τ_ext</a:t>
            </a:r>
            <a:endParaRPr lang="zh-CN" altLang="en-US" sz="1600" dirty="0">
              <a:solidFill>
                <a:schemeClr val="accent1">
                  <a:lumMod val="75000"/>
                </a:schemeClr>
              </a:solidFill>
            </a:endParaRPr>
          </a:p>
        </p:txBody>
      </p:sp>
      <p:sp>
        <p:nvSpPr>
          <p:cNvPr id="52" name="文本框 51">
            <a:extLst>
              <a:ext uri="{FF2B5EF4-FFF2-40B4-BE49-F238E27FC236}">
                <a16:creationId xmlns:a16="http://schemas.microsoft.com/office/drawing/2014/main" id="{E6F3206C-9DDB-C9BC-4489-07DC556F96D4}"/>
              </a:ext>
            </a:extLst>
          </p:cNvPr>
          <p:cNvSpPr txBox="1"/>
          <p:nvPr/>
        </p:nvSpPr>
        <p:spPr bwMode="auto">
          <a:xfrm>
            <a:off x="271288" y="5343128"/>
            <a:ext cx="1568276" cy="369332"/>
          </a:xfrm>
          <a:prstGeom prst="rect">
            <a:avLst/>
          </a:prstGeom>
          <a:noFill/>
          <a:ln w="9525">
            <a:noFill/>
            <a:miter lim="800000"/>
          </a:ln>
        </p:spPr>
        <p:txBody>
          <a:bodyPr wrap="square">
            <a:spAutoFit/>
          </a:bodyPr>
          <a:lstStyle/>
          <a:p>
            <a:pPr algn="ctr"/>
            <a:r>
              <a:rPr lang="en-US" altLang="zh-CN" b="1" dirty="0" err="1">
                <a:solidFill>
                  <a:srgbClr val="EA580C"/>
                </a:solidFill>
                <a:latin typeface="Microsoft YaHei" pitchFamily="34" charset="0"/>
                <a:ea typeface="Microsoft YaHei" pitchFamily="34" charset="-122"/>
                <a:cs typeface="Microsoft YaHei" pitchFamily="34" charset="-120"/>
              </a:rPr>
              <a:t>误报抑制思路</a:t>
            </a:r>
            <a:endParaRPr lang="zh-CN" altLang="en-US" dirty="0">
              <a:solidFill>
                <a:srgbClr val="FF0000"/>
              </a:solidFill>
            </a:endParaRPr>
          </a:p>
        </p:txBody>
      </p:sp>
    </p:spTree>
    <p:extLst>
      <p:ext uri="{BB962C8B-B14F-4D97-AF65-F5344CB8AC3E}">
        <p14:creationId xmlns:p14="http://schemas.microsoft.com/office/powerpoint/2010/main" val="3250101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F980C-8D4F-312A-956B-7C8E4480B08A}"/>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D4FA9257-AB51-2243-14D9-F617DCB218E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3B7D2423-AD7C-EAA2-01E7-BBE137361AE4}"/>
              </a:ext>
            </a:extLst>
          </p:cNvPr>
          <p:cNvSpPr>
            <a:spLocks noChangeArrowheads="1"/>
          </p:cNvSpPr>
          <p:nvPr/>
        </p:nvSpPr>
        <p:spPr bwMode="auto">
          <a:xfrm>
            <a:off x="187899" y="3044971"/>
            <a:ext cx="87763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19" name="文本框 18">
            <a:extLst>
              <a:ext uri="{FF2B5EF4-FFF2-40B4-BE49-F238E27FC236}">
                <a16:creationId xmlns:a16="http://schemas.microsoft.com/office/drawing/2014/main" id="{2AEEC310-D2FE-B1B2-BA21-419E2FC98925}"/>
              </a:ext>
            </a:extLst>
          </p:cNvPr>
          <p:cNvSpPr txBox="1"/>
          <p:nvPr/>
        </p:nvSpPr>
        <p:spPr>
          <a:xfrm>
            <a:off x="3803213" y="4059171"/>
            <a:ext cx="2158761" cy="830997"/>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defRPr/>
            </a:pPr>
            <a:r>
              <a:rPr lang="zh-CN" altLang="en-US" sz="2400" dirty="0">
                <a:solidFill>
                  <a:prstClr val="white"/>
                </a:solidFill>
                <a:latin typeface="宋体" panose="02010600030101010101" pitchFamily="2" charset="-122"/>
                <a:ea typeface="宋体" panose="02010600030101010101" pitchFamily="2" charset="-122"/>
              </a:rPr>
              <a:t>张世杰</a:t>
            </a:r>
            <a:endParaRPr lang="en-US" altLang="zh-CN" sz="2400" dirty="0">
              <a:solidFill>
                <a:prstClr val="white"/>
              </a:solidFill>
              <a:latin typeface="宋体" panose="02010600030101010101" pitchFamily="2" charset="-122"/>
              <a:ea typeface="宋体" panose="02010600030101010101" pitchFamily="2" charset="-122"/>
            </a:endParaRPr>
          </a:p>
          <a:p>
            <a:pPr marR="0" lvl="0" algn="l" defTabSz="914400" rtl="0" eaLnBrk="1" fontAlgn="auto" latinLnBrk="0" hangingPunct="1">
              <a:lnSpc>
                <a:spcPct val="100000"/>
              </a:lnSpc>
              <a:spcBef>
                <a:spcPts val="0"/>
              </a:spcBef>
              <a:spcAft>
                <a:spcPts val="0"/>
              </a:spcAft>
              <a:buClrTx/>
              <a:buSzTx/>
              <a:defRPr/>
            </a:pPr>
            <a:r>
              <a:rPr lang="en-US" altLang="zh-CN" sz="240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2025.04.13</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BE82278D-6D29-7B47-90F7-10EA9A0A587B}"/>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FF2E7ECD-103B-BCE4-128A-2E79ED502F5E}"/>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0F7EA48-519D-8CBA-ADCE-CCB866418C1B}"/>
              </a:ext>
            </a:extLst>
          </p:cNvPr>
          <p:cNvSpPr txBox="1"/>
          <p:nvPr/>
        </p:nvSpPr>
        <p:spPr>
          <a:xfrm>
            <a:off x="187899" y="402345"/>
            <a:ext cx="2024062" cy="4616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defRPr/>
            </a:pPr>
            <a:r>
              <a:rPr lang="zh-CN" altLang="en-US" sz="2400" b="1" dirty="0">
                <a:solidFill>
                  <a:srgbClr val="002060"/>
                </a:solidFill>
                <a:latin typeface="微软雅黑" panose="020B0503020204020204" pitchFamily="34" charset="-122"/>
                <a:ea typeface="微软雅黑" panose="020B0503020204020204" pitchFamily="34" charset="-122"/>
              </a:rPr>
              <a:t>目录</a:t>
            </a:r>
          </a:p>
        </p:txBody>
      </p:sp>
      <p:sp>
        <p:nvSpPr>
          <p:cNvPr id="11" name="标题 1">
            <a:extLst>
              <a:ext uri="{FF2B5EF4-FFF2-40B4-BE49-F238E27FC236}">
                <a16:creationId xmlns:a16="http://schemas.microsoft.com/office/drawing/2014/main" id="{9395A325-549E-99C1-AC1B-D5ABF1C6A3E7}"/>
              </a:ext>
            </a:extLst>
          </p:cNvPr>
          <p:cNvSpPr txBox="1">
            <a:spLocks/>
          </p:cNvSpPr>
          <p:nvPr/>
        </p:nvSpPr>
        <p:spPr>
          <a:xfrm>
            <a:off x="2462863" y="2548070"/>
            <a:ext cx="5721109" cy="5847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600" b="1" kern="1200">
                <a:solidFill>
                  <a:schemeClr val="bg1"/>
                </a:solidFill>
                <a:latin typeface="+mn-ea"/>
                <a:ea typeface="+mn-ea"/>
                <a:cs typeface="+mj-cs"/>
              </a:defRPr>
            </a:lvl1pPr>
          </a:lstStyle>
          <a:p>
            <a:pPr>
              <a:lnSpc>
                <a:spcPct val="100000"/>
              </a:lnSpc>
            </a:pPr>
            <a:r>
              <a:rPr lang="zh-CN" altLang="en-US" sz="4000" dirty="0">
                <a:latin typeface="微软雅黑" panose="020B0503020204020204" pitchFamily="34" charset="-122"/>
                <a:ea typeface="微软雅黑" panose="020B0503020204020204" pitchFamily="34" charset="-122"/>
              </a:rPr>
              <a:t>具身智能</a:t>
            </a:r>
            <a:r>
              <a:rPr lang="en-US" altLang="zh-CN" sz="4000" dirty="0">
                <a:latin typeface="微软雅黑" panose="020B0503020204020204" pitchFamily="34" charset="-122"/>
                <a:ea typeface="微软雅黑" panose="020B0503020204020204" pitchFamily="34" charset="-122"/>
              </a:rPr>
              <a:t>-</a:t>
            </a:r>
            <a:r>
              <a:rPr lang="zh-CN" altLang="en-US" sz="4000" dirty="0">
                <a:latin typeface="微软雅黑" panose="020B0503020204020204" pitchFamily="34" charset="-122"/>
                <a:ea typeface="微软雅黑" panose="020B0503020204020204" pitchFamily="34" charset="-122"/>
              </a:rPr>
              <a:t>运动控制开发</a:t>
            </a:r>
          </a:p>
        </p:txBody>
      </p:sp>
      <p:sp>
        <p:nvSpPr>
          <p:cNvPr id="21" name="矩形 20">
            <a:extLst>
              <a:ext uri="{FF2B5EF4-FFF2-40B4-BE49-F238E27FC236}">
                <a16:creationId xmlns:a16="http://schemas.microsoft.com/office/drawing/2014/main" id="{6B0A70B9-C3CA-243F-CDCC-255937B4F809}"/>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10/13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79428112-7DC5-A720-759D-94654A560B80}"/>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CDD2625C-1022-8F49-A658-1246454342D1}"/>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2" name="文本框 1">
            <a:extLst>
              <a:ext uri="{FF2B5EF4-FFF2-40B4-BE49-F238E27FC236}">
                <a16:creationId xmlns:a16="http://schemas.microsoft.com/office/drawing/2014/main" id="{759474E2-8F3C-C5AF-78C1-F3B3E00ACDCA}"/>
              </a:ext>
            </a:extLst>
          </p:cNvPr>
          <p:cNvSpPr txBox="1"/>
          <p:nvPr/>
        </p:nvSpPr>
        <p:spPr>
          <a:xfrm>
            <a:off x="728027" y="1123226"/>
            <a:ext cx="7455945" cy="5013039"/>
          </a:xfrm>
          <a:prstGeom prst="rect">
            <a:avLst/>
          </a:prstGeom>
          <a:noFill/>
        </p:spPr>
        <p:txBody>
          <a:bodyPr wrap="square" rtlCol="0">
            <a:spAutoFit/>
          </a:bodyPr>
          <a:lstStyle/>
          <a:p>
            <a:pPr marL="342900" indent="-342900">
              <a:lnSpc>
                <a:spcPct val="250000"/>
              </a:lnSpc>
              <a:buFont typeface="Wingdings" panose="05000000000000000000" pitchFamily="2" charset="2"/>
              <a:buChar char="n"/>
            </a:pPr>
            <a:r>
              <a:rPr lang="zh-CN" altLang="en-US" sz="2400" b="1" dirty="0">
                <a:solidFill>
                  <a:schemeClr val="accent5">
                    <a:lumMod val="40000"/>
                    <a:lumOff val="60000"/>
                  </a:schemeClr>
                </a:solidFill>
                <a:latin typeface="微软雅黑" panose="020B0503020204020204" pitchFamily="34" charset="-122"/>
                <a:ea typeface="微软雅黑" panose="020B0503020204020204" pitchFamily="34" charset="-122"/>
              </a:rPr>
              <a:t>研究背景与意义</a:t>
            </a:r>
            <a:endParaRPr lang="en-US" altLang="zh-CN" sz="2400" b="1" dirty="0">
              <a:solidFill>
                <a:schemeClr val="accent5">
                  <a:lumMod val="40000"/>
                  <a:lumOff val="60000"/>
                </a:schemeClr>
              </a:solidFill>
              <a:latin typeface="微软雅黑" panose="020B0503020204020204" pitchFamily="34" charset="-122"/>
              <a:ea typeface="微软雅黑" panose="020B0503020204020204" pitchFamily="34" charset="-122"/>
            </a:endParaRPr>
          </a:p>
          <a:p>
            <a:pPr marL="342900" indent="-342900">
              <a:lnSpc>
                <a:spcPct val="250000"/>
              </a:lnSpc>
              <a:buFont typeface="Wingdings" panose="05000000000000000000" pitchFamily="2" charset="2"/>
              <a:buChar char="n"/>
            </a:pPr>
            <a:r>
              <a:rPr lang="zh-CN" altLang="en-US" sz="2400" b="1" dirty="0">
                <a:solidFill>
                  <a:schemeClr val="accent5">
                    <a:lumMod val="40000"/>
                    <a:lumOff val="60000"/>
                  </a:schemeClr>
                </a:solidFill>
                <a:latin typeface="微软雅黑" panose="020B0503020204020204" pitchFamily="34" charset="-122"/>
                <a:ea typeface="微软雅黑" panose="020B0503020204020204" pitchFamily="34" charset="-122"/>
              </a:rPr>
              <a:t>研究目标与内容</a:t>
            </a:r>
            <a:endParaRPr lang="en-US" altLang="zh-CN" sz="2400" b="1" dirty="0">
              <a:solidFill>
                <a:schemeClr val="accent5">
                  <a:lumMod val="40000"/>
                  <a:lumOff val="60000"/>
                </a:schemeClr>
              </a:solidFill>
              <a:latin typeface="微软雅黑" panose="020B0503020204020204" pitchFamily="34" charset="-122"/>
              <a:ea typeface="微软雅黑" panose="020B0503020204020204" pitchFamily="34" charset="-122"/>
            </a:endParaRPr>
          </a:p>
          <a:p>
            <a:pPr marL="800100" lvl="1" indent="-342900">
              <a:lnSpc>
                <a:spcPct val="250000"/>
              </a:lnSpc>
              <a:buFont typeface="Wingdings" panose="05000000000000000000" pitchFamily="2" charset="2"/>
              <a:buChar char="n"/>
            </a:pPr>
            <a:r>
              <a:rPr lang="zh-CN" altLang="en-US" sz="2000" b="1" dirty="0">
                <a:solidFill>
                  <a:schemeClr val="accent5">
                    <a:lumMod val="40000"/>
                    <a:lumOff val="60000"/>
                  </a:schemeClr>
                </a:solidFill>
                <a:latin typeface="微软雅黑" panose="020B0503020204020204" pitchFamily="34" charset="-122"/>
                <a:ea typeface="微软雅黑" panose="020B0503020204020204" pitchFamily="34" charset="-122"/>
              </a:rPr>
              <a:t>物理一致约束下的动力学参数辨识</a:t>
            </a:r>
            <a:endParaRPr lang="en-US" altLang="zh-CN" sz="2000" b="1" dirty="0">
              <a:solidFill>
                <a:schemeClr val="accent5">
                  <a:lumMod val="40000"/>
                  <a:lumOff val="60000"/>
                </a:schemeClr>
              </a:solidFill>
              <a:latin typeface="微软雅黑" panose="020B0503020204020204" pitchFamily="34" charset="-122"/>
              <a:ea typeface="微软雅黑" panose="020B0503020204020204" pitchFamily="34" charset="-122"/>
            </a:endParaRPr>
          </a:p>
          <a:p>
            <a:pPr marL="800100" lvl="1" indent="-342900">
              <a:lnSpc>
                <a:spcPct val="250000"/>
              </a:lnSpc>
              <a:buFont typeface="Wingdings" panose="05000000000000000000" pitchFamily="2" charset="2"/>
              <a:buChar char="n"/>
            </a:pPr>
            <a:r>
              <a:rPr lang="zh-CN" altLang="en-US" sz="2000" b="1" dirty="0">
                <a:solidFill>
                  <a:schemeClr val="accent5">
                    <a:lumMod val="40000"/>
                    <a:lumOff val="60000"/>
                  </a:schemeClr>
                </a:solidFill>
                <a:latin typeface="微软雅黑" panose="020B0503020204020204" pitchFamily="34" charset="-122"/>
                <a:ea typeface="微软雅黑" panose="020B0503020204020204" pitchFamily="34" charset="-122"/>
              </a:rPr>
              <a:t>冗余机械臂分层阻抗控制</a:t>
            </a:r>
            <a:endParaRPr lang="en-US" altLang="zh-CN" sz="2000" b="1" dirty="0">
              <a:solidFill>
                <a:schemeClr val="accent5">
                  <a:lumMod val="40000"/>
                  <a:lumOff val="60000"/>
                </a:schemeClr>
              </a:solidFill>
              <a:latin typeface="微软雅黑" panose="020B0503020204020204" pitchFamily="34" charset="-122"/>
              <a:ea typeface="微软雅黑" panose="020B0503020204020204" pitchFamily="34" charset="-122"/>
            </a:endParaRPr>
          </a:p>
          <a:p>
            <a:pPr marL="800100" lvl="1" indent="-342900">
              <a:lnSpc>
                <a:spcPct val="250000"/>
              </a:lnSpc>
              <a:buFont typeface="Wingdings" panose="05000000000000000000" pitchFamily="2" charset="2"/>
              <a:buChar char="n"/>
            </a:pPr>
            <a:r>
              <a:rPr lang="zh-CN" altLang="en-US" sz="2000" b="1" dirty="0">
                <a:solidFill>
                  <a:schemeClr val="accent5">
                    <a:lumMod val="40000"/>
                    <a:lumOff val="60000"/>
                  </a:schemeClr>
                </a:solidFill>
                <a:latin typeface="微软雅黑" panose="020B0503020204020204" pitchFamily="34" charset="-122"/>
                <a:ea typeface="微软雅黑" panose="020B0503020204020204" pitchFamily="34" charset="-122"/>
              </a:rPr>
              <a:t>碰撞检测与误报抑制</a:t>
            </a:r>
            <a:endParaRPr lang="en-US" altLang="zh-CN" sz="2000" b="1" dirty="0">
              <a:solidFill>
                <a:schemeClr val="accent5">
                  <a:lumMod val="40000"/>
                  <a:lumOff val="60000"/>
                </a:schemeClr>
              </a:solidFill>
              <a:latin typeface="微软雅黑" panose="020B0503020204020204" pitchFamily="34" charset="-122"/>
              <a:ea typeface="微软雅黑" panose="020B0503020204020204" pitchFamily="34" charset="-122"/>
            </a:endParaRPr>
          </a:p>
          <a:p>
            <a:pPr marL="342900" indent="-342900">
              <a:lnSpc>
                <a:spcPct val="250000"/>
              </a:lnSpc>
              <a:buFont typeface="Wingdings" panose="05000000000000000000" pitchFamily="2" charset="2"/>
              <a:buChar char="n"/>
            </a:pPr>
            <a:r>
              <a:rPr lang="zh-CN" altLang="en-US" sz="2400" b="1" dirty="0">
                <a:solidFill>
                  <a:srgbClr val="002060"/>
                </a:solidFill>
                <a:latin typeface="微软雅黑" panose="020B0503020204020204" pitchFamily="34" charset="-122"/>
                <a:ea typeface="微软雅黑" panose="020B0503020204020204" pitchFamily="34" charset="-122"/>
              </a:rPr>
              <a:t>预期成果与进度安排</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80813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EB7DA-17B7-7715-DE47-12F6DC804047}"/>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4CD542E5-D7AB-D741-FD35-59665782331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13611A5B-22FF-CC7D-DE49-9EC68958AE8E}"/>
              </a:ext>
            </a:extLst>
          </p:cNvPr>
          <p:cNvSpPr>
            <a:spLocks noChangeArrowheads="1"/>
          </p:cNvSpPr>
          <p:nvPr/>
        </p:nvSpPr>
        <p:spPr bwMode="auto">
          <a:xfrm>
            <a:off x="278847" y="3044971"/>
            <a:ext cx="86665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3" name="矩形 2">
            <a:extLst>
              <a:ext uri="{FF2B5EF4-FFF2-40B4-BE49-F238E27FC236}">
                <a16:creationId xmlns:a16="http://schemas.microsoft.com/office/drawing/2014/main" id="{72CC0F58-7133-50C0-FDC1-9F0C7D869BDF}"/>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74D57E97-958A-0318-97EA-AEA5CA61CB16}"/>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BAFCB722-C039-3E64-71E5-6A21FA9B2799}"/>
              </a:ext>
            </a:extLst>
          </p:cNvPr>
          <p:cNvSpPr txBox="1"/>
          <p:nvPr/>
        </p:nvSpPr>
        <p:spPr>
          <a:xfrm>
            <a:off x="187898" y="402345"/>
            <a:ext cx="6692962" cy="461665"/>
          </a:xfrm>
          <a:prstGeom prst="rect">
            <a:avLst/>
          </a:prstGeom>
          <a:noFill/>
        </p:spPr>
        <p:txBody>
          <a:bodyPr wrap="square">
            <a:spAutoFit/>
          </a:bodyPr>
          <a:lstStyle/>
          <a:p>
            <a:pPr lvl="0" defTabSz="457200" eaLnBrk="1" fontAlgn="auto" hangingPunct="1">
              <a:spcBef>
                <a:spcPts val="0"/>
              </a:spcBef>
              <a:spcAft>
                <a:spcPts val="0"/>
              </a:spcAft>
              <a:defRPr/>
            </a:pPr>
            <a:r>
              <a:rPr lang="zh-CN" altLang="en-US" sz="2400" b="1" dirty="0">
                <a:solidFill>
                  <a:srgbClr val="002060"/>
                </a:solidFill>
                <a:latin typeface="微软雅黑" panose="020B0503020204020204" pitchFamily="34" charset="-122"/>
                <a:ea typeface="微软雅黑" panose="020B0503020204020204" pitchFamily="34" charset="-122"/>
              </a:rPr>
              <a:t>预期成果</a:t>
            </a:r>
          </a:p>
        </p:txBody>
      </p:sp>
      <p:sp>
        <p:nvSpPr>
          <p:cNvPr id="21" name="矩形 20">
            <a:extLst>
              <a:ext uri="{FF2B5EF4-FFF2-40B4-BE49-F238E27FC236}">
                <a16:creationId xmlns:a16="http://schemas.microsoft.com/office/drawing/2014/main" id="{01D01F3A-A45C-9599-1793-8335C2AE9A00}"/>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11/13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B9361EE2-29C0-7124-6362-9C7DB442F72F}"/>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6A5C7C2D-A86C-367F-75C8-68CFB8BB3A21}"/>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5" name="文本框 4">
            <a:extLst>
              <a:ext uri="{FF2B5EF4-FFF2-40B4-BE49-F238E27FC236}">
                <a16:creationId xmlns:a16="http://schemas.microsoft.com/office/drawing/2014/main" id="{2C6418A9-DED5-4E3B-56EF-5EDE9A1F7908}"/>
              </a:ext>
            </a:extLst>
          </p:cNvPr>
          <p:cNvSpPr txBox="1"/>
          <p:nvPr/>
        </p:nvSpPr>
        <p:spPr bwMode="auto">
          <a:xfrm>
            <a:off x="187899" y="-57186"/>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研究背景与意义</a:t>
            </a:r>
          </a:p>
        </p:txBody>
      </p:sp>
      <p:sp>
        <p:nvSpPr>
          <p:cNvPr id="7" name="文本框 6">
            <a:extLst>
              <a:ext uri="{FF2B5EF4-FFF2-40B4-BE49-F238E27FC236}">
                <a16:creationId xmlns:a16="http://schemas.microsoft.com/office/drawing/2014/main" id="{5CC50FFC-1DA4-611B-2AAA-B5106C4F7381}"/>
              </a:ext>
            </a:extLst>
          </p:cNvPr>
          <p:cNvSpPr txBox="1"/>
          <p:nvPr/>
        </p:nvSpPr>
        <p:spPr bwMode="auto">
          <a:xfrm>
            <a:off x="3757797" y="-57187"/>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研究目标与内容</a:t>
            </a:r>
          </a:p>
        </p:txBody>
      </p:sp>
      <p:sp>
        <p:nvSpPr>
          <p:cNvPr id="8" name="文本框 7">
            <a:extLst>
              <a:ext uri="{FF2B5EF4-FFF2-40B4-BE49-F238E27FC236}">
                <a16:creationId xmlns:a16="http://schemas.microsoft.com/office/drawing/2014/main" id="{FA64C0B2-BA71-BAF7-8F09-CA9E09EAF106}"/>
              </a:ext>
            </a:extLst>
          </p:cNvPr>
          <p:cNvSpPr txBox="1"/>
          <p:nvPr/>
        </p:nvSpPr>
        <p:spPr bwMode="auto">
          <a:xfrm>
            <a:off x="7076915" y="-54857"/>
            <a:ext cx="1879186"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1"/>
                </a:solidFill>
                <a:latin typeface="微软雅黑" panose="020B0503020204020204" pitchFamily="34" charset="-122"/>
                <a:ea typeface="微软雅黑" panose="020B0503020204020204" pitchFamily="34" charset="-122"/>
              </a:rPr>
              <a:t>预期成果与进度安排</a:t>
            </a:r>
          </a:p>
        </p:txBody>
      </p:sp>
      <p:sp>
        <p:nvSpPr>
          <p:cNvPr id="15" name="文本框 14">
            <a:extLst>
              <a:ext uri="{FF2B5EF4-FFF2-40B4-BE49-F238E27FC236}">
                <a16:creationId xmlns:a16="http://schemas.microsoft.com/office/drawing/2014/main" id="{F463F182-1882-A955-4193-A12A42E53649}"/>
              </a:ext>
            </a:extLst>
          </p:cNvPr>
          <p:cNvSpPr txBox="1"/>
          <p:nvPr/>
        </p:nvSpPr>
        <p:spPr>
          <a:xfrm>
            <a:off x="738972" y="2279016"/>
            <a:ext cx="3613429" cy="1200329"/>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深入实施“人工智能</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”行动为高质量发展提供强大动能</a:t>
            </a:r>
          </a:p>
        </p:txBody>
      </p:sp>
      <p:sp>
        <p:nvSpPr>
          <p:cNvPr id="16" name="文本框 15">
            <a:extLst>
              <a:ext uri="{FF2B5EF4-FFF2-40B4-BE49-F238E27FC236}">
                <a16:creationId xmlns:a16="http://schemas.microsoft.com/office/drawing/2014/main" id="{99E2C556-45A0-D53C-9306-4787E814AAEB}"/>
              </a:ext>
            </a:extLst>
          </p:cNvPr>
          <p:cNvSpPr txBox="1"/>
          <p:nvPr/>
        </p:nvSpPr>
        <p:spPr>
          <a:xfrm>
            <a:off x="738972" y="3510803"/>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国家发改委</a:t>
            </a:r>
          </a:p>
        </p:txBody>
      </p:sp>
      <p:sp>
        <p:nvSpPr>
          <p:cNvPr id="20" name="文本框 19">
            <a:extLst>
              <a:ext uri="{FF2B5EF4-FFF2-40B4-BE49-F238E27FC236}">
                <a16:creationId xmlns:a16="http://schemas.microsoft.com/office/drawing/2014/main" id="{AE662023-4AF2-8C33-560C-5885193DB972}"/>
              </a:ext>
            </a:extLst>
          </p:cNvPr>
          <p:cNvSpPr txBox="1"/>
          <p:nvPr/>
        </p:nvSpPr>
        <p:spPr>
          <a:xfrm>
            <a:off x="5059391" y="3490576"/>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中国政府网</a:t>
            </a:r>
          </a:p>
        </p:txBody>
      </p:sp>
      <p:sp>
        <p:nvSpPr>
          <p:cNvPr id="14" name="Shape 10">
            <a:extLst>
              <a:ext uri="{FF2B5EF4-FFF2-40B4-BE49-F238E27FC236}">
                <a16:creationId xmlns:a16="http://schemas.microsoft.com/office/drawing/2014/main" id="{49023E99-A05E-2C2D-EA4A-AD50ABF4884A}"/>
              </a:ext>
            </a:extLst>
          </p:cNvPr>
          <p:cNvSpPr/>
          <p:nvPr/>
        </p:nvSpPr>
        <p:spPr>
          <a:xfrm>
            <a:off x="292608" y="2130552"/>
            <a:ext cx="4160520" cy="1938528"/>
          </a:xfrm>
          <a:prstGeom prst="roundRect">
            <a:avLst>
              <a:gd name="adj" fmla="val 5660"/>
            </a:avLst>
          </a:prstGeom>
          <a:solidFill>
            <a:srgbClr val="FFFFFF"/>
          </a:solidFill>
          <a:ln w="15240">
            <a:solidFill>
              <a:srgbClr val="B7D5F5"/>
            </a:solidFill>
            <a:prstDash val="solid"/>
          </a:ln>
        </p:spPr>
      </p:sp>
      <p:sp>
        <p:nvSpPr>
          <p:cNvPr id="17" name="Text 12">
            <a:extLst>
              <a:ext uri="{FF2B5EF4-FFF2-40B4-BE49-F238E27FC236}">
                <a16:creationId xmlns:a16="http://schemas.microsoft.com/office/drawing/2014/main" id="{742CA2AF-9D33-04C5-6CB1-A54E0AA716F4}"/>
              </a:ext>
            </a:extLst>
          </p:cNvPr>
          <p:cNvSpPr/>
          <p:nvPr/>
        </p:nvSpPr>
        <p:spPr>
          <a:xfrm>
            <a:off x="457200" y="2322576"/>
            <a:ext cx="420624" cy="384048"/>
          </a:xfrm>
          <a:prstGeom prst="rect">
            <a:avLst/>
          </a:prstGeom>
          <a:noFill/>
          <a:ln/>
        </p:spPr>
        <p:txBody>
          <a:bodyPr wrap="square" lIns="254" tIns="254" rIns="254" bIns="254" rtlCol="0" anchor="ctr">
            <a:normAutofit/>
          </a:bodyPr>
          <a:lstStyle/>
          <a:p>
            <a:pPr marL="0" indent="0" algn="ctr">
              <a:buNone/>
            </a:pPr>
            <a:r>
              <a:rPr lang="en-US" sz="1800" b="1" dirty="0">
                <a:solidFill>
                  <a:srgbClr val="FFFFFF"/>
                </a:solidFill>
                <a:latin typeface="Microsoft YaHei" pitchFamily="34" charset="0"/>
                <a:ea typeface="Microsoft YaHei" pitchFamily="34" charset="-122"/>
                <a:cs typeface="Microsoft YaHei" pitchFamily="34" charset="-120"/>
              </a:rPr>
              <a:t>01</a:t>
            </a:r>
            <a:endParaRPr lang="en-US" sz="1800" dirty="0"/>
          </a:p>
        </p:txBody>
      </p:sp>
      <p:sp>
        <p:nvSpPr>
          <p:cNvPr id="18" name="Text 13">
            <a:extLst>
              <a:ext uri="{FF2B5EF4-FFF2-40B4-BE49-F238E27FC236}">
                <a16:creationId xmlns:a16="http://schemas.microsoft.com/office/drawing/2014/main" id="{F77F226F-57D6-DB91-D7DA-BECCAF77805D}"/>
              </a:ext>
            </a:extLst>
          </p:cNvPr>
          <p:cNvSpPr/>
          <p:nvPr/>
        </p:nvSpPr>
        <p:spPr>
          <a:xfrm>
            <a:off x="877824" y="2355383"/>
            <a:ext cx="1088136" cy="305109"/>
          </a:xfrm>
          <a:prstGeom prst="rect">
            <a:avLst/>
          </a:prstGeom>
          <a:noFill/>
          <a:ln/>
        </p:spPr>
        <p:txBody>
          <a:bodyPr wrap="square" lIns="254" tIns="254" rIns="254" bIns="254" rtlCol="0" anchor="ctr">
            <a:normAutofit fontScale="92500" lnSpcReduction="10000"/>
          </a:bodyPr>
          <a:lstStyle/>
          <a:p>
            <a:pPr marL="0" indent="0" algn="l">
              <a:buNone/>
            </a:pPr>
            <a:r>
              <a:rPr lang="en-US" sz="2300" b="1" dirty="0">
                <a:solidFill>
                  <a:srgbClr val="0A5AA4"/>
                </a:solidFill>
                <a:latin typeface="Microsoft YaHei" pitchFamily="34" charset="0"/>
                <a:ea typeface="Microsoft YaHei" pitchFamily="34" charset="-122"/>
                <a:cs typeface="Microsoft YaHei" pitchFamily="34" charset="-120"/>
              </a:rPr>
              <a:t>模型成果</a:t>
            </a:r>
            <a:endParaRPr lang="en-US" sz="2300" dirty="0"/>
          </a:p>
        </p:txBody>
      </p:sp>
      <p:sp>
        <p:nvSpPr>
          <p:cNvPr id="19" name="Shape 14">
            <a:extLst>
              <a:ext uri="{FF2B5EF4-FFF2-40B4-BE49-F238E27FC236}">
                <a16:creationId xmlns:a16="http://schemas.microsoft.com/office/drawing/2014/main" id="{A418F95E-1911-C3ED-5EF9-D2543DF582B3}"/>
              </a:ext>
            </a:extLst>
          </p:cNvPr>
          <p:cNvSpPr/>
          <p:nvPr/>
        </p:nvSpPr>
        <p:spPr>
          <a:xfrm>
            <a:off x="475488" y="2834640"/>
            <a:ext cx="1737360" cy="0"/>
          </a:xfrm>
          <a:prstGeom prst="line">
            <a:avLst/>
          </a:prstGeom>
          <a:noFill/>
          <a:ln w="11430">
            <a:solidFill>
              <a:srgbClr val="B7D5F5"/>
            </a:solidFill>
            <a:prstDash val="solid"/>
          </a:ln>
        </p:spPr>
      </p:sp>
      <p:sp>
        <p:nvSpPr>
          <p:cNvPr id="24" name="Text 15">
            <a:extLst>
              <a:ext uri="{FF2B5EF4-FFF2-40B4-BE49-F238E27FC236}">
                <a16:creationId xmlns:a16="http://schemas.microsoft.com/office/drawing/2014/main" id="{1E435EC3-1E2A-B34E-1E70-53583DED1124}"/>
              </a:ext>
            </a:extLst>
          </p:cNvPr>
          <p:cNvSpPr/>
          <p:nvPr/>
        </p:nvSpPr>
        <p:spPr>
          <a:xfrm>
            <a:off x="457200" y="2872019"/>
            <a:ext cx="3613429" cy="964080"/>
          </a:xfrm>
          <a:prstGeom prst="rect">
            <a:avLst/>
          </a:prstGeom>
          <a:noFill/>
          <a:ln/>
        </p:spPr>
        <p:txBody>
          <a:bodyPr wrap="square" lIns="254" tIns="254" rIns="254" bIns="254" rtlCol="0" anchor="ctr">
            <a:noAutofit/>
          </a:bodyPr>
          <a:lstStyle/>
          <a:p>
            <a:pPr marL="0" indent="0" algn="l">
              <a:lnSpc>
                <a:spcPct val="200000"/>
              </a:lnSpc>
              <a:buNone/>
            </a:pPr>
            <a:r>
              <a:rPr lang="en-US" sz="1600" dirty="0" err="1">
                <a:solidFill>
                  <a:srgbClr val="111111"/>
                </a:solidFill>
                <a:latin typeface="微软雅黑" panose="020B0503020204020204" pitchFamily="34" charset="-122"/>
                <a:ea typeface="微软雅黑" panose="020B0503020204020204" pitchFamily="34" charset="-122"/>
                <a:cs typeface="Microsoft YaHei" pitchFamily="34" charset="-120"/>
              </a:rPr>
              <a:t>建立冗余机械臂动力学参数辨识模型</a:t>
            </a:r>
            <a:endParaRPr lang="en-US" sz="1600" dirty="0">
              <a:solidFill>
                <a:srgbClr val="111111"/>
              </a:solidFill>
              <a:latin typeface="微软雅黑" panose="020B0503020204020204" pitchFamily="34" charset="-122"/>
              <a:ea typeface="微软雅黑" panose="020B0503020204020204" pitchFamily="34" charset="-122"/>
              <a:cs typeface="Microsoft YaHei" pitchFamily="34" charset="-120"/>
            </a:endParaRPr>
          </a:p>
          <a:p>
            <a:pPr>
              <a:lnSpc>
                <a:spcPct val="200000"/>
              </a:lnSpc>
            </a:pPr>
            <a:r>
              <a:rPr lang="en-US" altLang="zh-CN" sz="1600" dirty="0" err="1">
                <a:solidFill>
                  <a:srgbClr val="111111"/>
                </a:solidFill>
                <a:latin typeface="微软雅黑" panose="020B0503020204020204" pitchFamily="34" charset="-122"/>
                <a:ea typeface="微软雅黑" panose="020B0503020204020204" pitchFamily="34" charset="-122"/>
                <a:cs typeface="Microsoft YaHei" pitchFamily="34" charset="-120"/>
              </a:rPr>
              <a:t>为前馈补偿与外力估计提供基础</a:t>
            </a:r>
            <a:endParaRPr lang="en-US" altLang="zh-CN" sz="1600" dirty="0">
              <a:latin typeface="微软雅黑" panose="020B0503020204020204" pitchFamily="34" charset="-122"/>
              <a:ea typeface="微软雅黑" panose="020B0503020204020204" pitchFamily="34" charset="-122"/>
            </a:endParaRPr>
          </a:p>
        </p:txBody>
      </p:sp>
      <p:sp>
        <p:nvSpPr>
          <p:cNvPr id="25" name="Shape 21">
            <a:extLst>
              <a:ext uri="{FF2B5EF4-FFF2-40B4-BE49-F238E27FC236}">
                <a16:creationId xmlns:a16="http://schemas.microsoft.com/office/drawing/2014/main" id="{3B5EBA9D-7117-25AE-E6DE-E53D48EFE4B3}"/>
              </a:ext>
            </a:extLst>
          </p:cNvPr>
          <p:cNvSpPr/>
          <p:nvPr/>
        </p:nvSpPr>
        <p:spPr>
          <a:xfrm>
            <a:off x="4690872" y="2130552"/>
            <a:ext cx="4160520" cy="1938528"/>
          </a:xfrm>
          <a:prstGeom prst="roundRect">
            <a:avLst>
              <a:gd name="adj" fmla="val 5660"/>
            </a:avLst>
          </a:prstGeom>
          <a:solidFill>
            <a:srgbClr val="FFFFFF"/>
          </a:solidFill>
          <a:ln w="15240">
            <a:solidFill>
              <a:srgbClr val="B7D5F5"/>
            </a:solidFill>
            <a:prstDash val="solid"/>
          </a:ln>
        </p:spPr>
      </p:sp>
      <p:sp>
        <p:nvSpPr>
          <p:cNvPr id="26" name="Text 23">
            <a:extLst>
              <a:ext uri="{FF2B5EF4-FFF2-40B4-BE49-F238E27FC236}">
                <a16:creationId xmlns:a16="http://schemas.microsoft.com/office/drawing/2014/main" id="{1F0ED68B-75B7-B5E9-3739-F9EDD1826E66}"/>
              </a:ext>
            </a:extLst>
          </p:cNvPr>
          <p:cNvSpPr/>
          <p:nvPr/>
        </p:nvSpPr>
        <p:spPr>
          <a:xfrm>
            <a:off x="4855464" y="2322576"/>
            <a:ext cx="420624" cy="384048"/>
          </a:xfrm>
          <a:prstGeom prst="rect">
            <a:avLst/>
          </a:prstGeom>
          <a:noFill/>
          <a:ln/>
        </p:spPr>
        <p:txBody>
          <a:bodyPr wrap="square" lIns="254" tIns="254" rIns="254" bIns="254" rtlCol="0" anchor="ctr">
            <a:normAutofit/>
          </a:bodyPr>
          <a:lstStyle/>
          <a:p>
            <a:pPr marL="0" indent="0" algn="ctr">
              <a:buNone/>
            </a:pPr>
            <a:r>
              <a:rPr lang="en-US" sz="1800" b="1" dirty="0">
                <a:solidFill>
                  <a:srgbClr val="FFFFFF"/>
                </a:solidFill>
                <a:latin typeface="Microsoft YaHei" pitchFamily="34" charset="0"/>
                <a:ea typeface="Microsoft YaHei" pitchFamily="34" charset="-122"/>
                <a:cs typeface="Microsoft YaHei" pitchFamily="34" charset="-120"/>
              </a:rPr>
              <a:t>02</a:t>
            </a:r>
            <a:endParaRPr lang="en-US" sz="1800" dirty="0"/>
          </a:p>
        </p:txBody>
      </p:sp>
      <p:sp>
        <p:nvSpPr>
          <p:cNvPr id="27" name="Text 24">
            <a:extLst>
              <a:ext uri="{FF2B5EF4-FFF2-40B4-BE49-F238E27FC236}">
                <a16:creationId xmlns:a16="http://schemas.microsoft.com/office/drawing/2014/main" id="{764C4C3B-E9BB-D91A-9A59-B3E79550D76B}"/>
              </a:ext>
            </a:extLst>
          </p:cNvPr>
          <p:cNvSpPr/>
          <p:nvPr/>
        </p:nvSpPr>
        <p:spPr>
          <a:xfrm>
            <a:off x="5234940" y="2364311"/>
            <a:ext cx="1645920" cy="310896"/>
          </a:xfrm>
          <a:prstGeom prst="rect">
            <a:avLst/>
          </a:prstGeom>
          <a:noFill/>
          <a:ln/>
        </p:spPr>
        <p:txBody>
          <a:bodyPr wrap="square" lIns="254" tIns="254" rIns="254" bIns="254" rtlCol="0" anchor="ctr">
            <a:normAutofit fontScale="92500" lnSpcReduction="10000"/>
          </a:bodyPr>
          <a:lstStyle/>
          <a:p>
            <a:pPr marL="0" indent="0" algn="l">
              <a:buNone/>
            </a:pPr>
            <a:r>
              <a:rPr lang="en-US" sz="2300" b="1" dirty="0">
                <a:solidFill>
                  <a:srgbClr val="0A5AA4"/>
                </a:solidFill>
                <a:latin typeface="Microsoft YaHei" pitchFamily="34" charset="0"/>
                <a:ea typeface="Microsoft YaHei" pitchFamily="34" charset="-122"/>
                <a:cs typeface="Microsoft YaHei" pitchFamily="34" charset="-120"/>
              </a:rPr>
              <a:t>控制成果</a:t>
            </a:r>
            <a:endParaRPr lang="en-US" sz="2300" dirty="0"/>
          </a:p>
        </p:txBody>
      </p:sp>
      <p:sp>
        <p:nvSpPr>
          <p:cNvPr id="28" name="Shape 25">
            <a:extLst>
              <a:ext uri="{FF2B5EF4-FFF2-40B4-BE49-F238E27FC236}">
                <a16:creationId xmlns:a16="http://schemas.microsoft.com/office/drawing/2014/main" id="{2A381BE0-FEF2-AA9D-A954-DA8DA398BD2A}"/>
              </a:ext>
            </a:extLst>
          </p:cNvPr>
          <p:cNvSpPr/>
          <p:nvPr/>
        </p:nvSpPr>
        <p:spPr>
          <a:xfrm>
            <a:off x="4873752" y="2834640"/>
            <a:ext cx="1737360" cy="0"/>
          </a:xfrm>
          <a:prstGeom prst="line">
            <a:avLst/>
          </a:prstGeom>
          <a:noFill/>
          <a:ln w="11430">
            <a:solidFill>
              <a:srgbClr val="B7D5F5"/>
            </a:solidFill>
            <a:prstDash val="solid"/>
          </a:ln>
        </p:spPr>
      </p:sp>
      <p:sp>
        <p:nvSpPr>
          <p:cNvPr id="29" name="Text 26">
            <a:extLst>
              <a:ext uri="{FF2B5EF4-FFF2-40B4-BE49-F238E27FC236}">
                <a16:creationId xmlns:a16="http://schemas.microsoft.com/office/drawing/2014/main" id="{5977D673-3259-0619-66F5-A07E9D230B97}"/>
              </a:ext>
            </a:extLst>
          </p:cNvPr>
          <p:cNvSpPr/>
          <p:nvPr/>
        </p:nvSpPr>
        <p:spPr>
          <a:xfrm>
            <a:off x="4873752" y="2828061"/>
            <a:ext cx="3799068" cy="1305027"/>
          </a:xfrm>
          <a:prstGeom prst="rect">
            <a:avLst/>
          </a:prstGeom>
          <a:noFill/>
          <a:ln/>
        </p:spPr>
        <p:txBody>
          <a:bodyPr wrap="square" lIns="254" tIns="254" rIns="254" bIns="254" rtlCol="0" anchor="ctr">
            <a:noAutofit/>
          </a:bodyPr>
          <a:lstStyle/>
          <a:p>
            <a:pPr marL="0" indent="0" algn="l">
              <a:lnSpc>
                <a:spcPct val="150000"/>
              </a:lnSpc>
              <a:buNone/>
            </a:pPr>
            <a:r>
              <a:rPr lang="en-US" sz="1600" dirty="0" err="1">
                <a:solidFill>
                  <a:srgbClr val="111111"/>
                </a:solidFill>
                <a:latin typeface="Microsoft YaHei" pitchFamily="34" charset="0"/>
                <a:ea typeface="Microsoft YaHei" pitchFamily="34" charset="-122"/>
                <a:cs typeface="Microsoft YaHei" pitchFamily="34" charset="-120"/>
              </a:rPr>
              <a:t>形成任务空间与零空间结合的分层阻抗控制方案</a:t>
            </a:r>
            <a:endParaRPr lang="en-US" sz="1600" dirty="0">
              <a:solidFill>
                <a:srgbClr val="111111"/>
              </a:solidFill>
              <a:latin typeface="Microsoft YaHei" pitchFamily="34" charset="0"/>
              <a:ea typeface="Microsoft YaHei" pitchFamily="34" charset="-122"/>
              <a:cs typeface="Microsoft YaHei" pitchFamily="34" charset="-120"/>
            </a:endParaRPr>
          </a:p>
          <a:p>
            <a:pPr>
              <a:lnSpc>
                <a:spcPct val="150000"/>
              </a:lnSpc>
            </a:pPr>
            <a:r>
              <a:rPr lang="en-US" altLang="zh-CN" sz="1600" dirty="0" err="1">
                <a:solidFill>
                  <a:srgbClr val="111111"/>
                </a:solidFill>
                <a:latin typeface="Microsoft YaHei" pitchFamily="34" charset="0"/>
                <a:ea typeface="Microsoft YaHei" pitchFamily="34" charset="-122"/>
                <a:cs typeface="Microsoft YaHei" pitchFamily="34" charset="-120"/>
              </a:rPr>
              <a:t>提升接触作业柔顺性与运动稳定性</a:t>
            </a:r>
            <a:endParaRPr lang="en-US" altLang="zh-CN" sz="1600" dirty="0"/>
          </a:p>
        </p:txBody>
      </p:sp>
      <p:sp>
        <p:nvSpPr>
          <p:cNvPr id="30" name="Shape 32">
            <a:extLst>
              <a:ext uri="{FF2B5EF4-FFF2-40B4-BE49-F238E27FC236}">
                <a16:creationId xmlns:a16="http://schemas.microsoft.com/office/drawing/2014/main" id="{AAD82D0C-18ED-5D5E-C3DF-550F61904DA0}"/>
              </a:ext>
            </a:extLst>
          </p:cNvPr>
          <p:cNvSpPr/>
          <p:nvPr/>
        </p:nvSpPr>
        <p:spPr>
          <a:xfrm>
            <a:off x="292608" y="4261104"/>
            <a:ext cx="4160520" cy="1938528"/>
          </a:xfrm>
          <a:prstGeom prst="roundRect">
            <a:avLst>
              <a:gd name="adj" fmla="val 5660"/>
            </a:avLst>
          </a:prstGeom>
          <a:solidFill>
            <a:srgbClr val="FFFFFF"/>
          </a:solidFill>
          <a:ln w="15240">
            <a:solidFill>
              <a:srgbClr val="B7D5F5"/>
            </a:solidFill>
            <a:prstDash val="solid"/>
          </a:ln>
        </p:spPr>
      </p:sp>
      <p:sp>
        <p:nvSpPr>
          <p:cNvPr id="31" name="Text 34">
            <a:extLst>
              <a:ext uri="{FF2B5EF4-FFF2-40B4-BE49-F238E27FC236}">
                <a16:creationId xmlns:a16="http://schemas.microsoft.com/office/drawing/2014/main" id="{798F28DC-C27B-A1F7-374E-EED8366A8CF6}"/>
              </a:ext>
            </a:extLst>
          </p:cNvPr>
          <p:cNvSpPr/>
          <p:nvPr/>
        </p:nvSpPr>
        <p:spPr>
          <a:xfrm>
            <a:off x="457200" y="4453128"/>
            <a:ext cx="420624" cy="384048"/>
          </a:xfrm>
          <a:prstGeom prst="rect">
            <a:avLst/>
          </a:prstGeom>
          <a:noFill/>
          <a:ln/>
        </p:spPr>
        <p:txBody>
          <a:bodyPr wrap="square" lIns="254" tIns="254" rIns="254" bIns="254" rtlCol="0" anchor="ctr">
            <a:normAutofit/>
          </a:bodyPr>
          <a:lstStyle/>
          <a:p>
            <a:pPr marL="0" indent="0" algn="ctr">
              <a:buNone/>
            </a:pPr>
            <a:r>
              <a:rPr lang="en-US" sz="1800" b="1" dirty="0">
                <a:solidFill>
                  <a:srgbClr val="FFFFFF"/>
                </a:solidFill>
                <a:latin typeface="Microsoft YaHei" pitchFamily="34" charset="0"/>
                <a:ea typeface="Microsoft YaHei" pitchFamily="34" charset="-122"/>
                <a:cs typeface="Microsoft YaHei" pitchFamily="34" charset="-120"/>
              </a:rPr>
              <a:t>03</a:t>
            </a:r>
            <a:endParaRPr lang="en-US" sz="1800" dirty="0"/>
          </a:p>
        </p:txBody>
      </p:sp>
      <p:sp>
        <p:nvSpPr>
          <p:cNvPr id="32" name="Text 35">
            <a:extLst>
              <a:ext uri="{FF2B5EF4-FFF2-40B4-BE49-F238E27FC236}">
                <a16:creationId xmlns:a16="http://schemas.microsoft.com/office/drawing/2014/main" id="{269EFF4A-618E-B0C8-8EA3-9144DD6C8CCD}"/>
              </a:ext>
            </a:extLst>
          </p:cNvPr>
          <p:cNvSpPr/>
          <p:nvPr/>
        </p:nvSpPr>
        <p:spPr>
          <a:xfrm>
            <a:off x="877824" y="4462272"/>
            <a:ext cx="1645920" cy="310896"/>
          </a:xfrm>
          <a:prstGeom prst="rect">
            <a:avLst/>
          </a:prstGeom>
          <a:noFill/>
          <a:ln/>
        </p:spPr>
        <p:txBody>
          <a:bodyPr wrap="square" lIns="254" tIns="254" rIns="254" bIns="254" rtlCol="0" anchor="ctr">
            <a:normAutofit fontScale="92500" lnSpcReduction="10000"/>
          </a:bodyPr>
          <a:lstStyle/>
          <a:p>
            <a:pPr marL="0" indent="0" algn="l">
              <a:buNone/>
            </a:pPr>
            <a:r>
              <a:rPr lang="en-US" sz="2300" b="1" dirty="0">
                <a:solidFill>
                  <a:srgbClr val="0A5AA4"/>
                </a:solidFill>
                <a:latin typeface="Microsoft YaHei" pitchFamily="34" charset="0"/>
                <a:ea typeface="Microsoft YaHei" pitchFamily="34" charset="-122"/>
                <a:cs typeface="Microsoft YaHei" pitchFamily="34" charset="-120"/>
              </a:rPr>
              <a:t>安全成果</a:t>
            </a:r>
            <a:endParaRPr lang="en-US" sz="2300" dirty="0"/>
          </a:p>
        </p:txBody>
      </p:sp>
      <p:sp>
        <p:nvSpPr>
          <p:cNvPr id="33" name="Shape 36">
            <a:extLst>
              <a:ext uri="{FF2B5EF4-FFF2-40B4-BE49-F238E27FC236}">
                <a16:creationId xmlns:a16="http://schemas.microsoft.com/office/drawing/2014/main" id="{2CA2579B-4604-AD5F-2A5C-888FA795C0D7}"/>
              </a:ext>
            </a:extLst>
          </p:cNvPr>
          <p:cNvSpPr/>
          <p:nvPr/>
        </p:nvSpPr>
        <p:spPr>
          <a:xfrm>
            <a:off x="475488" y="4965192"/>
            <a:ext cx="1737360" cy="0"/>
          </a:xfrm>
          <a:prstGeom prst="line">
            <a:avLst/>
          </a:prstGeom>
          <a:noFill/>
          <a:ln w="11430">
            <a:solidFill>
              <a:srgbClr val="B7D5F5"/>
            </a:solidFill>
            <a:prstDash val="solid"/>
          </a:ln>
        </p:spPr>
      </p:sp>
      <p:sp>
        <p:nvSpPr>
          <p:cNvPr id="34" name="Text 37">
            <a:extLst>
              <a:ext uri="{FF2B5EF4-FFF2-40B4-BE49-F238E27FC236}">
                <a16:creationId xmlns:a16="http://schemas.microsoft.com/office/drawing/2014/main" id="{2749AAD0-7BD7-C3E5-1A22-2E892C52D40B}"/>
              </a:ext>
            </a:extLst>
          </p:cNvPr>
          <p:cNvSpPr/>
          <p:nvPr/>
        </p:nvSpPr>
        <p:spPr>
          <a:xfrm>
            <a:off x="475487" y="5221223"/>
            <a:ext cx="3595141" cy="813677"/>
          </a:xfrm>
          <a:prstGeom prst="rect">
            <a:avLst/>
          </a:prstGeom>
          <a:noFill/>
          <a:ln/>
        </p:spPr>
        <p:txBody>
          <a:bodyPr wrap="square" lIns="254" tIns="254" rIns="254" bIns="254" rtlCol="0" anchor="ctr">
            <a:normAutofit/>
          </a:bodyPr>
          <a:lstStyle/>
          <a:p>
            <a:pPr marL="0" indent="0" algn="l">
              <a:buNone/>
            </a:pPr>
            <a:r>
              <a:rPr lang="en-US" sz="1600" dirty="0" err="1">
                <a:solidFill>
                  <a:srgbClr val="111111"/>
                </a:solidFill>
                <a:latin typeface="微软雅黑" panose="020B0503020204020204" pitchFamily="34" charset="-122"/>
                <a:ea typeface="微软雅黑" panose="020B0503020204020204" pitchFamily="34" charset="-122"/>
                <a:cs typeface="Microsoft YaHei" pitchFamily="34" charset="-120"/>
              </a:rPr>
              <a:t>构建碰撞检测与误报抑制方法</a:t>
            </a:r>
            <a:endParaRPr lang="en-US" sz="1600" dirty="0">
              <a:solidFill>
                <a:srgbClr val="111111"/>
              </a:solidFill>
              <a:latin typeface="微软雅黑" panose="020B0503020204020204" pitchFamily="34" charset="-122"/>
              <a:ea typeface="微软雅黑" panose="020B0503020204020204" pitchFamily="34" charset="-122"/>
              <a:cs typeface="Microsoft YaHei" pitchFamily="34" charset="-120"/>
            </a:endParaRPr>
          </a:p>
          <a:p>
            <a:pPr>
              <a:lnSpc>
                <a:spcPct val="250000"/>
              </a:lnSpc>
            </a:pPr>
            <a:r>
              <a:rPr lang="en-US" altLang="zh-CN" sz="1600" dirty="0" err="1">
                <a:solidFill>
                  <a:srgbClr val="111111"/>
                </a:solidFill>
                <a:latin typeface="微软雅黑" panose="020B0503020204020204" pitchFamily="34" charset="-122"/>
                <a:ea typeface="微软雅黑" panose="020B0503020204020204" pitchFamily="34" charset="-122"/>
                <a:cs typeface="Microsoft YaHei" pitchFamily="34" charset="-120"/>
              </a:rPr>
              <a:t>提高非预期接触识别可靠性</a:t>
            </a:r>
            <a:endParaRPr lang="en-US" altLang="zh-CN" sz="1600" dirty="0">
              <a:latin typeface="微软雅黑" panose="020B0503020204020204" pitchFamily="34" charset="-122"/>
              <a:ea typeface="微软雅黑" panose="020B0503020204020204" pitchFamily="34" charset="-122"/>
            </a:endParaRPr>
          </a:p>
        </p:txBody>
      </p:sp>
      <p:sp>
        <p:nvSpPr>
          <p:cNvPr id="35" name="Shape 43">
            <a:extLst>
              <a:ext uri="{FF2B5EF4-FFF2-40B4-BE49-F238E27FC236}">
                <a16:creationId xmlns:a16="http://schemas.microsoft.com/office/drawing/2014/main" id="{1221531C-71F9-691B-813B-8519DB830030}"/>
              </a:ext>
            </a:extLst>
          </p:cNvPr>
          <p:cNvSpPr/>
          <p:nvPr/>
        </p:nvSpPr>
        <p:spPr>
          <a:xfrm>
            <a:off x="4690872" y="4261104"/>
            <a:ext cx="4160520" cy="1938528"/>
          </a:xfrm>
          <a:prstGeom prst="roundRect">
            <a:avLst>
              <a:gd name="adj" fmla="val 5660"/>
            </a:avLst>
          </a:prstGeom>
          <a:solidFill>
            <a:srgbClr val="FFFFFF"/>
          </a:solidFill>
          <a:ln w="15240">
            <a:solidFill>
              <a:srgbClr val="B7D5F5"/>
            </a:solidFill>
            <a:prstDash val="solid"/>
          </a:ln>
        </p:spPr>
        <p:txBody>
          <a:bodyPr/>
          <a:lstStyle/>
          <a:p>
            <a:endParaRPr lang="zh-CN" altLang="en-US" dirty="0"/>
          </a:p>
        </p:txBody>
      </p:sp>
      <p:sp>
        <p:nvSpPr>
          <p:cNvPr id="36" name="Text 45">
            <a:extLst>
              <a:ext uri="{FF2B5EF4-FFF2-40B4-BE49-F238E27FC236}">
                <a16:creationId xmlns:a16="http://schemas.microsoft.com/office/drawing/2014/main" id="{31C6F0FB-D3CA-A752-EF9A-9F7D46F54397}"/>
              </a:ext>
            </a:extLst>
          </p:cNvPr>
          <p:cNvSpPr/>
          <p:nvPr/>
        </p:nvSpPr>
        <p:spPr>
          <a:xfrm>
            <a:off x="4855464" y="4453128"/>
            <a:ext cx="420624" cy="384048"/>
          </a:xfrm>
          <a:prstGeom prst="rect">
            <a:avLst/>
          </a:prstGeom>
          <a:noFill/>
          <a:ln/>
        </p:spPr>
        <p:txBody>
          <a:bodyPr wrap="square" lIns="254" tIns="254" rIns="254" bIns="254" rtlCol="0" anchor="ctr">
            <a:normAutofit/>
          </a:bodyPr>
          <a:lstStyle/>
          <a:p>
            <a:pPr marL="0" indent="0" algn="ctr">
              <a:buNone/>
            </a:pPr>
            <a:r>
              <a:rPr lang="en-US" sz="1800" b="1" dirty="0">
                <a:solidFill>
                  <a:srgbClr val="FFFFFF"/>
                </a:solidFill>
                <a:latin typeface="Microsoft YaHei" pitchFamily="34" charset="0"/>
                <a:ea typeface="Microsoft YaHei" pitchFamily="34" charset="-122"/>
                <a:cs typeface="Microsoft YaHei" pitchFamily="34" charset="-120"/>
              </a:rPr>
              <a:t>04</a:t>
            </a:r>
            <a:endParaRPr lang="en-US" sz="1800" dirty="0"/>
          </a:p>
        </p:txBody>
      </p:sp>
      <p:sp>
        <p:nvSpPr>
          <p:cNvPr id="37" name="Text 46">
            <a:extLst>
              <a:ext uri="{FF2B5EF4-FFF2-40B4-BE49-F238E27FC236}">
                <a16:creationId xmlns:a16="http://schemas.microsoft.com/office/drawing/2014/main" id="{289B0C68-74FC-0A7E-C555-ABF99D9543AB}"/>
              </a:ext>
            </a:extLst>
          </p:cNvPr>
          <p:cNvSpPr/>
          <p:nvPr/>
        </p:nvSpPr>
        <p:spPr>
          <a:xfrm>
            <a:off x="5234940" y="4462272"/>
            <a:ext cx="1645920" cy="310896"/>
          </a:xfrm>
          <a:prstGeom prst="rect">
            <a:avLst/>
          </a:prstGeom>
          <a:noFill/>
          <a:ln/>
        </p:spPr>
        <p:txBody>
          <a:bodyPr wrap="square" lIns="254" tIns="254" rIns="254" bIns="254" rtlCol="0" anchor="ctr">
            <a:normAutofit fontScale="92500" lnSpcReduction="10000"/>
          </a:bodyPr>
          <a:lstStyle/>
          <a:p>
            <a:pPr marL="0" indent="0" algn="l">
              <a:buNone/>
            </a:pPr>
            <a:r>
              <a:rPr lang="en-US" sz="2300" b="1" dirty="0">
                <a:solidFill>
                  <a:srgbClr val="0A5AA4"/>
                </a:solidFill>
                <a:latin typeface="Microsoft YaHei" pitchFamily="34" charset="0"/>
                <a:ea typeface="Microsoft YaHei" pitchFamily="34" charset="-122"/>
                <a:cs typeface="Microsoft YaHei" pitchFamily="34" charset="-120"/>
              </a:rPr>
              <a:t>验证成果</a:t>
            </a:r>
            <a:endParaRPr lang="en-US" sz="2300" dirty="0"/>
          </a:p>
        </p:txBody>
      </p:sp>
      <p:sp>
        <p:nvSpPr>
          <p:cNvPr id="38" name="Shape 47">
            <a:extLst>
              <a:ext uri="{FF2B5EF4-FFF2-40B4-BE49-F238E27FC236}">
                <a16:creationId xmlns:a16="http://schemas.microsoft.com/office/drawing/2014/main" id="{D5473505-F890-F401-B3CD-DF3B0ECF012B}"/>
              </a:ext>
            </a:extLst>
          </p:cNvPr>
          <p:cNvSpPr/>
          <p:nvPr/>
        </p:nvSpPr>
        <p:spPr>
          <a:xfrm>
            <a:off x="4873752" y="4965192"/>
            <a:ext cx="1737360" cy="0"/>
          </a:xfrm>
          <a:prstGeom prst="line">
            <a:avLst/>
          </a:prstGeom>
          <a:noFill/>
          <a:ln w="11430">
            <a:solidFill>
              <a:srgbClr val="B7D5F5"/>
            </a:solidFill>
            <a:prstDash val="solid"/>
          </a:ln>
        </p:spPr>
      </p:sp>
      <p:sp>
        <p:nvSpPr>
          <p:cNvPr id="39" name="Text 48">
            <a:extLst>
              <a:ext uri="{FF2B5EF4-FFF2-40B4-BE49-F238E27FC236}">
                <a16:creationId xmlns:a16="http://schemas.microsoft.com/office/drawing/2014/main" id="{C74304D5-EBC0-EB57-A337-36678A2B06FD}"/>
              </a:ext>
            </a:extLst>
          </p:cNvPr>
          <p:cNvSpPr/>
          <p:nvPr/>
        </p:nvSpPr>
        <p:spPr>
          <a:xfrm>
            <a:off x="4855464" y="5093209"/>
            <a:ext cx="3664458" cy="964078"/>
          </a:xfrm>
          <a:prstGeom prst="rect">
            <a:avLst/>
          </a:prstGeom>
          <a:noFill/>
          <a:ln/>
        </p:spPr>
        <p:txBody>
          <a:bodyPr wrap="square" lIns="254" tIns="254" rIns="254" bIns="254" rtlCol="0" anchor="ctr">
            <a:normAutofit fontScale="92500" lnSpcReduction="10000"/>
          </a:bodyPr>
          <a:lstStyle/>
          <a:p>
            <a:pPr marL="0" indent="0" algn="l">
              <a:lnSpc>
                <a:spcPct val="150000"/>
              </a:lnSpc>
              <a:buNone/>
            </a:pPr>
            <a:r>
              <a:rPr lang="en-US" sz="1600" dirty="0" err="1">
                <a:solidFill>
                  <a:srgbClr val="111111"/>
                </a:solidFill>
                <a:latin typeface="Microsoft YaHei" pitchFamily="34" charset="0"/>
                <a:ea typeface="Microsoft YaHei" pitchFamily="34" charset="-122"/>
                <a:cs typeface="Microsoft YaHei" pitchFamily="34" charset="-120"/>
              </a:rPr>
              <a:t>完成仿真与实物实验验证</a:t>
            </a:r>
            <a:endParaRPr lang="en-US" sz="1600" dirty="0">
              <a:solidFill>
                <a:srgbClr val="111111"/>
              </a:solidFill>
              <a:latin typeface="Microsoft YaHei" pitchFamily="34" charset="0"/>
              <a:ea typeface="Microsoft YaHei" pitchFamily="34" charset="-122"/>
              <a:cs typeface="Microsoft YaHei" pitchFamily="34" charset="-120"/>
            </a:endParaRPr>
          </a:p>
          <a:p>
            <a:pPr>
              <a:lnSpc>
                <a:spcPct val="150000"/>
              </a:lnSpc>
            </a:pPr>
            <a:r>
              <a:rPr lang="en-US" altLang="zh-CN" sz="1600" dirty="0" err="1">
                <a:solidFill>
                  <a:srgbClr val="111111"/>
                </a:solidFill>
                <a:latin typeface="Microsoft YaHei" pitchFamily="34" charset="0"/>
                <a:ea typeface="Microsoft YaHei" pitchFamily="34" charset="-122"/>
                <a:cs typeface="Microsoft YaHei" pitchFamily="34" charset="-120"/>
              </a:rPr>
              <a:t>形成实验数据、对比分析结果和硕士学位论文</a:t>
            </a:r>
            <a:endParaRPr lang="en-US" altLang="zh-CN" sz="1600" dirty="0"/>
          </a:p>
        </p:txBody>
      </p:sp>
      <p:sp>
        <p:nvSpPr>
          <p:cNvPr id="40" name="文本框 39">
            <a:extLst>
              <a:ext uri="{FF2B5EF4-FFF2-40B4-BE49-F238E27FC236}">
                <a16:creationId xmlns:a16="http://schemas.microsoft.com/office/drawing/2014/main" id="{0D33505F-02B7-3FEC-24EF-A57C9BF56991}"/>
              </a:ext>
            </a:extLst>
          </p:cNvPr>
          <p:cNvSpPr txBox="1"/>
          <p:nvPr/>
        </p:nvSpPr>
        <p:spPr>
          <a:xfrm>
            <a:off x="187898" y="957930"/>
            <a:ext cx="8924232" cy="960776"/>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en-US" altLang="zh-CN" sz="2000" dirty="0" err="1">
                <a:solidFill>
                  <a:srgbClr val="111111"/>
                </a:solidFill>
                <a:latin typeface="Microsoft YaHei" pitchFamily="34" charset="0"/>
                <a:ea typeface="Microsoft YaHei" pitchFamily="34" charset="-122"/>
                <a:cs typeface="Microsoft YaHei" pitchFamily="34" charset="-120"/>
              </a:rPr>
              <a:t>围绕动力学参数辨识、分层阻抗控制与碰撞检测误报抑制，形成可验证、可交付的研究成果</a:t>
            </a:r>
            <a:r>
              <a:rPr lang="en-US" altLang="zh-CN" sz="2000" dirty="0">
                <a:solidFill>
                  <a:srgbClr val="111111"/>
                </a:solidFill>
                <a:latin typeface="Microsoft YaHei" pitchFamily="34" charset="0"/>
                <a:ea typeface="Microsoft YaHei" pitchFamily="34" charset="-122"/>
                <a:cs typeface="Microsoft YaHei" pitchFamily="34" charset="-120"/>
              </a:rPr>
              <a:t>。</a:t>
            </a:r>
            <a:endParaRPr lang="en-US" altLang="zh-CN" sz="2000" dirty="0"/>
          </a:p>
        </p:txBody>
      </p:sp>
    </p:spTree>
    <p:extLst>
      <p:ext uri="{BB962C8B-B14F-4D97-AF65-F5344CB8AC3E}">
        <p14:creationId xmlns:p14="http://schemas.microsoft.com/office/powerpoint/2010/main" val="1297355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AA36C-F4A3-1F4C-0562-9B63A951B0BE}"/>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E9D4A3B1-D6C8-86F1-EA0B-B22CD4FF87E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F50AA53B-BD7A-D7A1-270A-6BBE3418634E}"/>
              </a:ext>
            </a:extLst>
          </p:cNvPr>
          <p:cNvSpPr>
            <a:spLocks noChangeArrowheads="1"/>
          </p:cNvSpPr>
          <p:nvPr/>
        </p:nvSpPr>
        <p:spPr bwMode="auto">
          <a:xfrm>
            <a:off x="289574" y="3325034"/>
            <a:ext cx="86665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3" name="矩形 2">
            <a:extLst>
              <a:ext uri="{FF2B5EF4-FFF2-40B4-BE49-F238E27FC236}">
                <a16:creationId xmlns:a16="http://schemas.microsoft.com/office/drawing/2014/main" id="{02998DF6-19C4-E73D-1FF3-83F57003A265}"/>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4D51131F-7F66-8817-3AF1-E07728EBED17}"/>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15D4140D-BFDA-80FC-09CA-B20344843A36}"/>
              </a:ext>
            </a:extLst>
          </p:cNvPr>
          <p:cNvSpPr txBox="1"/>
          <p:nvPr/>
        </p:nvSpPr>
        <p:spPr>
          <a:xfrm>
            <a:off x="187898" y="402345"/>
            <a:ext cx="6692962" cy="461665"/>
          </a:xfrm>
          <a:prstGeom prst="rect">
            <a:avLst/>
          </a:prstGeom>
          <a:noFill/>
        </p:spPr>
        <p:txBody>
          <a:bodyPr wrap="square">
            <a:spAutoFit/>
          </a:bodyPr>
          <a:lstStyle/>
          <a:p>
            <a:pPr lvl="0" defTabSz="457200" eaLnBrk="1" fontAlgn="auto" hangingPunct="1">
              <a:spcBef>
                <a:spcPts val="0"/>
              </a:spcBef>
              <a:spcAft>
                <a:spcPts val="0"/>
              </a:spcAft>
              <a:defRPr/>
            </a:pPr>
            <a:r>
              <a:rPr lang="zh-CN" altLang="en-US" sz="2400" b="1" dirty="0">
                <a:solidFill>
                  <a:srgbClr val="002060"/>
                </a:solidFill>
                <a:latin typeface="微软雅黑" panose="020B0503020204020204" pitchFamily="34" charset="-122"/>
                <a:ea typeface="微软雅黑" panose="020B0503020204020204" pitchFamily="34" charset="-122"/>
              </a:rPr>
              <a:t>进度安排</a:t>
            </a:r>
          </a:p>
        </p:txBody>
      </p:sp>
      <p:sp>
        <p:nvSpPr>
          <p:cNvPr id="21" name="矩形 20">
            <a:extLst>
              <a:ext uri="{FF2B5EF4-FFF2-40B4-BE49-F238E27FC236}">
                <a16:creationId xmlns:a16="http://schemas.microsoft.com/office/drawing/2014/main" id="{95B9CA2B-F971-885F-9AD3-F550DEBA326D}"/>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12/13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61A8FD41-707F-AE8A-C7E3-55747A9F067E}"/>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6CAD0432-574F-E771-BBE5-919190E11E22}"/>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5" name="文本框 4">
            <a:extLst>
              <a:ext uri="{FF2B5EF4-FFF2-40B4-BE49-F238E27FC236}">
                <a16:creationId xmlns:a16="http://schemas.microsoft.com/office/drawing/2014/main" id="{23E87729-7558-4AC2-D49F-D774C7627E57}"/>
              </a:ext>
            </a:extLst>
          </p:cNvPr>
          <p:cNvSpPr txBox="1"/>
          <p:nvPr/>
        </p:nvSpPr>
        <p:spPr bwMode="auto">
          <a:xfrm>
            <a:off x="187899" y="-57186"/>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研究背景与意义</a:t>
            </a:r>
          </a:p>
        </p:txBody>
      </p:sp>
      <p:sp>
        <p:nvSpPr>
          <p:cNvPr id="7" name="文本框 6">
            <a:extLst>
              <a:ext uri="{FF2B5EF4-FFF2-40B4-BE49-F238E27FC236}">
                <a16:creationId xmlns:a16="http://schemas.microsoft.com/office/drawing/2014/main" id="{1A3642E3-1ADC-7293-907E-D803AAD9CC9E}"/>
              </a:ext>
            </a:extLst>
          </p:cNvPr>
          <p:cNvSpPr txBox="1"/>
          <p:nvPr/>
        </p:nvSpPr>
        <p:spPr bwMode="auto">
          <a:xfrm>
            <a:off x="3757797" y="-57187"/>
            <a:ext cx="1620248"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2">
                    <a:lumMod val="75000"/>
                  </a:schemeClr>
                </a:solidFill>
                <a:latin typeface="微软雅黑" panose="020B0503020204020204" pitchFamily="34" charset="-122"/>
                <a:ea typeface="微软雅黑" panose="020B0503020204020204" pitchFamily="34" charset="-122"/>
              </a:rPr>
              <a:t>研究目标与内容</a:t>
            </a:r>
          </a:p>
        </p:txBody>
      </p:sp>
      <p:sp>
        <p:nvSpPr>
          <p:cNvPr id="8" name="文本框 7">
            <a:extLst>
              <a:ext uri="{FF2B5EF4-FFF2-40B4-BE49-F238E27FC236}">
                <a16:creationId xmlns:a16="http://schemas.microsoft.com/office/drawing/2014/main" id="{B3B30AC4-278D-44AF-5825-1B64C7677677}"/>
              </a:ext>
            </a:extLst>
          </p:cNvPr>
          <p:cNvSpPr txBox="1"/>
          <p:nvPr/>
        </p:nvSpPr>
        <p:spPr bwMode="auto">
          <a:xfrm>
            <a:off x="7076915" y="-54857"/>
            <a:ext cx="1879186" cy="377411"/>
          </a:xfrm>
          <a:prstGeom prst="rect">
            <a:avLst/>
          </a:prstGeom>
          <a:noFill/>
          <a:ln w="9525">
            <a:noFill/>
            <a:miter lim="800000"/>
          </a:ln>
        </p:spPr>
        <p:txBody>
          <a:bodyPr wrap="square" rtlCol="0">
            <a:spAutoFit/>
          </a:bodyPr>
          <a:lstStyle/>
          <a:p>
            <a:pPr algn="dist">
              <a:lnSpc>
                <a:spcPct val="150000"/>
              </a:lnSpc>
              <a:spcAft>
                <a:spcPts val="0"/>
              </a:spcAft>
              <a:buNone/>
            </a:pPr>
            <a:r>
              <a:rPr lang="zh-CN" altLang="en-US" sz="1400" dirty="0">
                <a:solidFill>
                  <a:schemeClr val="bg1"/>
                </a:solidFill>
                <a:latin typeface="微软雅黑" panose="020B0503020204020204" pitchFamily="34" charset="-122"/>
                <a:ea typeface="微软雅黑" panose="020B0503020204020204" pitchFamily="34" charset="-122"/>
              </a:rPr>
              <a:t>预期成果与进度安排</a:t>
            </a:r>
          </a:p>
        </p:txBody>
      </p:sp>
      <p:sp>
        <p:nvSpPr>
          <p:cNvPr id="15" name="文本框 14">
            <a:extLst>
              <a:ext uri="{FF2B5EF4-FFF2-40B4-BE49-F238E27FC236}">
                <a16:creationId xmlns:a16="http://schemas.microsoft.com/office/drawing/2014/main" id="{9D68936F-E9CA-6378-8D49-CC55A11AFE79}"/>
              </a:ext>
            </a:extLst>
          </p:cNvPr>
          <p:cNvSpPr txBox="1"/>
          <p:nvPr/>
        </p:nvSpPr>
        <p:spPr>
          <a:xfrm>
            <a:off x="749699" y="2559079"/>
            <a:ext cx="3613429" cy="1200329"/>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深入实施“人工智能</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”行动为高质量发展提供强大动能</a:t>
            </a:r>
          </a:p>
        </p:txBody>
      </p:sp>
      <p:sp>
        <p:nvSpPr>
          <p:cNvPr id="16" name="文本框 15">
            <a:extLst>
              <a:ext uri="{FF2B5EF4-FFF2-40B4-BE49-F238E27FC236}">
                <a16:creationId xmlns:a16="http://schemas.microsoft.com/office/drawing/2014/main" id="{70649F43-919B-8ED6-9EA1-BD83FF0EBC3E}"/>
              </a:ext>
            </a:extLst>
          </p:cNvPr>
          <p:cNvSpPr txBox="1"/>
          <p:nvPr/>
        </p:nvSpPr>
        <p:spPr>
          <a:xfrm>
            <a:off x="749699" y="3790866"/>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国家发改委</a:t>
            </a:r>
          </a:p>
        </p:txBody>
      </p:sp>
      <p:sp>
        <p:nvSpPr>
          <p:cNvPr id="20" name="文本框 19">
            <a:extLst>
              <a:ext uri="{FF2B5EF4-FFF2-40B4-BE49-F238E27FC236}">
                <a16:creationId xmlns:a16="http://schemas.microsoft.com/office/drawing/2014/main" id="{23E4C44D-D7C5-9290-1713-F6EE484BC5BD}"/>
              </a:ext>
            </a:extLst>
          </p:cNvPr>
          <p:cNvSpPr txBox="1"/>
          <p:nvPr/>
        </p:nvSpPr>
        <p:spPr>
          <a:xfrm>
            <a:off x="5070118" y="3770639"/>
            <a:ext cx="3613429"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中国政府网</a:t>
            </a:r>
          </a:p>
        </p:txBody>
      </p:sp>
      <p:sp>
        <p:nvSpPr>
          <p:cNvPr id="9" name="Shape 9">
            <a:extLst>
              <a:ext uri="{FF2B5EF4-FFF2-40B4-BE49-F238E27FC236}">
                <a16:creationId xmlns:a16="http://schemas.microsoft.com/office/drawing/2014/main" id="{8CD05106-D015-C008-BD3E-EAF264E55819}"/>
              </a:ext>
            </a:extLst>
          </p:cNvPr>
          <p:cNvSpPr/>
          <p:nvPr/>
        </p:nvSpPr>
        <p:spPr>
          <a:xfrm>
            <a:off x="157031" y="1991084"/>
            <a:ext cx="8778240" cy="365760"/>
          </a:xfrm>
          <a:prstGeom prst="roundRect">
            <a:avLst>
              <a:gd name="adj" fmla="val 15000"/>
            </a:avLst>
          </a:prstGeom>
          <a:solidFill>
            <a:srgbClr val="1F527A"/>
          </a:solidFill>
          <a:ln w="12700">
            <a:solidFill>
              <a:srgbClr val="1F527A"/>
            </a:solidFill>
            <a:prstDash val="solid"/>
          </a:ln>
        </p:spPr>
      </p:sp>
      <p:sp>
        <p:nvSpPr>
          <p:cNvPr id="10" name="Text 10">
            <a:extLst>
              <a:ext uri="{FF2B5EF4-FFF2-40B4-BE49-F238E27FC236}">
                <a16:creationId xmlns:a16="http://schemas.microsoft.com/office/drawing/2014/main" id="{47BE9C11-FCA0-0C22-6C2D-A77F25656236}"/>
              </a:ext>
            </a:extLst>
          </p:cNvPr>
          <p:cNvSpPr/>
          <p:nvPr/>
        </p:nvSpPr>
        <p:spPr>
          <a:xfrm>
            <a:off x="193607" y="2055092"/>
            <a:ext cx="978408" cy="292608"/>
          </a:xfrm>
          <a:prstGeom prst="rect">
            <a:avLst/>
          </a:prstGeom>
          <a:noFill/>
          <a:ln/>
        </p:spPr>
        <p:txBody>
          <a:bodyPr wrap="square" lIns="254" tIns="254" rIns="254" bIns="254" rtlCol="0" anchor="ctr">
            <a:normAutofit/>
          </a:bodyPr>
          <a:lstStyle/>
          <a:p>
            <a:pPr marL="0" indent="0" algn="ctr">
              <a:buNone/>
            </a:pPr>
            <a:r>
              <a:rPr lang="en-US" sz="1450" b="1" dirty="0">
                <a:solidFill>
                  <a:srgbClr val="FFFFFF"/>
                </a:solidFill>
                <a:latin typeface="Microsoft YaHei" pitchFamily="34" charset="0"/>
                <a:ea typeface="Microsoft YaHei" pitchFamily="34" charset="-122"/>
                <a:cs typeface="Microsoft YaHei" pitchFamily="34" charset="-120"/>
              </a:rPr>
              <a:t>阶段</a:t>
            </a:r>
            <a:endParaRPr lang="en-US" sz="1450" dirty="0"/>
          </a:p>
        </p:txBody>
      </p:sp>
      <p:sp>
        <p:nvSpPr>
          <p:cNvPr id="11" name="Text 11">
            <a:extLst>
              <a:ext uri="{FF2B5EF4-FFF2-40B4-BE49-F238E27FC236}">
                <a16:creationId xmlns:a16="http://schemas.microsoft.com/office/drawing/2014/main" id="{F94ECC68-AAA6-D69B-964B-3E42F5163A94}"/>
              </a:ext>
            </a:extLst>
          </p:cNvPr>
          <p:cNvSpPr/>
          <p:nvPr/>
        </p:nvSpPr>
        <p:spPr>
          <a:xfrm>
            <a:off x="1245167" y="2055092"/>
            <a:ext cx="1252728" cy="292608"/>
          </a:xfrm>
          <a:prstGeom prst="rect">
            <a:avLst/>
          </a:prstGeom>
          <a:noFill/>
          <a:ln/>
        </p:spPr>
        <p:txBody>
          <a:bodyPr wrap="square" lIns="254" tIns="254" rIns="254" bIns="254" rtlCol="0" anchor="ctr">
            <a:normAutofit/>
          </a:bodyPr>
          <a:lstStyle/>
          <a:p>
            <a:pPr marL="0" indent="0" algn="ctr">
              <a:buNone/>
            </a:pPr>
            <a:r>
              <a:rPr lang="en-US" sz="1450" b="1" dirty="0">
                <a:solidFill>
                  <a:srgbClr val="FFFFFF"/>
                </a:solidFill>
                <a:latin typeface="Microsoft YaHei" pitchFamily="34" charset="0"/>
                <a:ea typeface="Microsoft YaHei" pitchFamily="34" charset="-122"/>
                <a:cs typeface="Microsoft YaHei" pitchFamily="34" charset="-120"/>
              </a:rPr>
              <a:t>时间安排</a:t>
            </a:r>
            <a:endParaRPr lang="en-US" sz="1450" dirty="0"/>
          </a:p>
        </p:txBody>
      </p:sp>
      <p:sp>
        <p:nvSpPr>
          <p:cNvPr id="13" name="Shape 12">
            <a:extLst>
              <a:ext uri="{FF2B5EF4-FFF2-40B4-BE49-F238E27FC236}">
                <a16:creationId xmlns:a16="http://schemas.microsoft.com/office/drawing/2014/main" id="{FF98F6C1-4016-D067-A80B-AF6FB8C942D2}"/>
              </a:ext>
            </a:extLst>
          </p:cNvPr>
          <p:cNvSpPr/>
          <p:nvPr/>
        </p:nvSpPr>
        <p:spPr>
          <a:xfrm>
            <a:off x="1208591" y="2055092"/>
            <a:ext cx="0" cy="237744"/>
          </a:xfrm>
          <a:prstGeom prst="line">
            <a:avLst/>
          </a:prstGeom>
          <a:noFill/>
          <a:ln w="7620">
            <a:solidFill>
              <a:srgbClr val="FFFFFF">
                <a:alpha val="50000"/>
              </a:srgbClr>
            </a:solidFill>
            <a:prstDash val="solid"/>
          </a:ln>
        </p:spPr>
      </p:sp>
      <p:sp>
        <p:nvSpPr>
          <p:cNvPr id="14" name="Text 13">
            <a:extLst>
              <a:ext uri="{FF2B5EF4-FFF2-40B4-BE49-F238E27FC236}">
                <a16:creationId xmlns:a16="http://schemas.microsoft.com/office/drawing/2014/main" id="{EAE79EB7-EB06-990E-FEA8-9D1428AE44CA}"/>
              </a:ext>
            </a:extLst>
          </p:cNvPr>
          <p:cNvSpPr/>
          <p:nvPr/>
        </p:nvSpPr>
        <p:spPr>
          <a:xfrm>
            <a:off x="2571047" y="2055092"/>
            <a:ext cx="3813048" cy="292608"/>
          </a:xfrm>
          <a:prstGeom prst="rect">
            <a:avLst/>
          </a:prstGeom>
          <a:noFill/>
          <a:ln/>
        </p:spPr>
        <p:txBody>
          <a:bodyPr wrap="square" lIns="254" tIns="254" rIns="254" bIns="254" rtlCol="0" anchor="ctr">
            <a:normAutofit/>
          </a:bodyPr>
          <a:lstStyle/>
          <a:p>
            <a:pPr marL="0" indent="0" algn="ctr">
              <a:buNone/>
            </a:pPr>
            <a:r>
              <a:rPr lang="en-US" sz="1450" b="1" dirty="0">
                <a:solidFill>
                  <a:srgbClr val="FFFFFF"/>
                </a:solidFill>
                <a:latin typeface="Microsoft YaHei" pitchFamily="34" charset="0"/>
                <a:ea typeface="Microsoft YaHei" pitchFamily="34" charset="-122"/>
                <a:cs typeface="Microsoft YaHei" pitchFamily="34" charset="-120"/>
              </a:rPr>
              <a:t>主要任务</a:t>
            </a:r>
            <a:endParaRPr lang="en-US" sz="1450" dirty="0"/>
          </a:p>
        </p:txBody>
      </p:sp>
      <p:sp>
        <p:nvSpPr>
          <p:cNvPr id="17" name="Shape 14">
            <a:extLst>
              <a:ext uri="{FF2B5EF4-FFF2-40B4-BE49-F238E27FC236}">
                <a16:creationId xmlns:a16="http://schemas.microsoft.com/office/drawing/2014/main" id="{B66B204C-6E70-EA40-0E1F-7B9222074C05}"/>
              </a:ext>
            </a:extLst>
          </p:cNvPr>
          <p:cNvSpPr/>
          <p:nvPr/>
        </p:nvSpPr>
        <p:spPr>
          <a:xfrm>
            <a:off x="2534471" y="2055092"/>
            <a:ext cx="0" cy="237744"/>
          </a:xfrm>
          <a:prstGeom prst="line">
            <a:avLst/>
          </a:prstGeom>
          <a:noFill/>
          <a:ln w="7620">
            <a:solidFill>
              <a:srgbClr val="FFFFFF">
                <a:alpha val="50000"/>
              </a:srgbClr>
            </a:solidFill>
            <a:prstDash val="solid"/>
          </a:ln>
        </p:spPr>
      </p:sp>
      <p:sp>
        <p:nvSpPr>
          <p:cNvPr id="18" name="Text 15">
            <a:extLst>
              <a:ext uri="{FF2B5EF4-FFF2-40B4-BE49-F238E27FC236}">
                <a16:creationId xmlns:a16="http://schemas.microsoft.com/office/drawing/2014/main" id="{BF3AC48A-6F10-46D0-BDDE-44E42CC66C81}"/>
              </a:ext>
            </a:extLst>
          </p:cNvPr>
          <p:cNvSpPr/>
          <p:nvPr/>
        </p:nvSpPr>
        <p:spPr>
          <a:xfrm>
            <a:off x="6457247" y="2055092"/>
            <a:ext cx="2441448" cy="292608"/>
          </a:xfrm>
          <a:prstGeom prst="rect">
            <a:avLst/>
          </a:prstGeom>
          <a:noFill/>
          <a:ln/>
        </p:spPr>
        <p:txBody>
          <a:bodyPr wrap="square" lIns="254" tIns="254" rIns="254" bIns="254" rtlCol="0" anchor="ctr">
            <a:normAutofit/>
          </a:bodyPr>
          <a:lstStyle/>
          <a:p>
            <a:pPr marL="0" indent="0" algn="ctr">
              <a:buNone/>
            </a:pPr>
            <a:r>
              <a:rPr lang="en-US" sz="1450" b="1" dirty="0">
                <a:solidFill>
                  <a:srgbClr val="FFFFFF"/>
                </a:solidFill>
                <a:latin typeface="Microsoft YaHei" pitchFamily="34" charset="0"/>
                <a:ea typeface="Microsoft YaHei" pitchFamily="34" charset="-122"/>
                <a:cs typeface="Microsoft YaHei" pitchFamily="34" charset="-120"/>
              </a:rPr>
              <a:t>阶段成果</a:t>
            </a:r>
            <a:endParaRPr lang="en-US" sz="1450" dirty="0"/>
          </a:p>
        </p:txBody>
      </p:sp>
      <p:sp>
        <p:nvSpPr>
          <p:cNvPr id="19" name="Shape 16">
            <a:extLst>
              <a:ext uri="{FF2B5EF4-FFF2-40B4-BE49-F238E27FC236}">
                <a16:creationId xmlns:a16="http://schemas.microsoft.com/office/drawing/2014/main" id="{036E7C1D-F8B4-9D0E-D80C-1895FB19BF26}"/>
              </a:ext>
            </a:extLst>
          </p:cNvPr>
          <p:cNvSpPr/>
          <p:nvPr/>
        </p:nvSpPr>
        <p:spPr>
          <a:xfrm>
            <a:off x="6420671" y="2055092"/>
            <a:ext cx="0" cy="237744"/>
          </a:xfrm>
          <a:prstGeom prst="line">
            <a:avLst/>
          </a:prstGeom>
          <a:noFill/>
          <a:ln w="7620">
            <a:solidFill>
              <a:srgbClr val="FFFFFF">
                <a:alpha val="50000"/>
              </a:srgbClr>
            </a:solidFill>
            <a:prstDash val="solid"/>
          </a:ln>
        </p:spPr>
      </p:sp>
      <p:sp>
        <p:nvSpPr>
          <p:cNvPr id="24" name="Shape 17">
            <a:extLst>
              <a:ext uri="{FF2B5EF4-FFF2-40B4-BE49-F238E27FC236}">
                <a16:creationId xmlns:a16="http://schemas.microsoft.com/office/drawing/2014/main" id="{1E73A49D-C147-590A-BB71-16501A06804F}"/>
              </a:ext>
            </a:extLst>
          </p:cNvPr>
          <p:cNvSpPr/>
          <p:nvPr/>
        </p:nvSpPr>
        <p:spPr>
          <a:xfrm>
            <a:off x="157031" y="2420852"/>
            <a:ext cx="8778240" cy="621792"/>
          </a:xfrm>
          <a:prstGeom prst="roundRect">
            <a:avLst>
              <a:gd name="adj" fmla="val 8088"/>
            </a:avLst>
          </a:prstGeom>
          <a:solidFill>
            <a:srgbClr val="FFFFFF"/>
          </a:solidFill>
          <a:ln w="12700">
            <a:solidFill>
              <a:srgbClr val="C8E0FA"/>
            </a:solidFill>
            <a:prstDash val="solid"/>
          </a:ln>
        </p:spPr>
      </p:sp>
      <p:sp>
        <p:nvSpPr>
          <p:cNvPr id="25" name="Shape 18">
            <a:extLst>
              <a:ext uri="{FF2B5EF4-FFF2-40B4-BE49-F238E27FC236}">
                <a16:creationId xmlns:a16="http://schemas.microsoft.com/office/drawing/2014/main" id="{41F0373B-4092-9085-C1A7-773C60F727C6}"/>
              </a:ext>
            </a:extLst>
          </p:cNvPr>
          <p:cNvSpPr/>
          <p:nvPr/>
        </p:nvSpPr>
        <p:spPr>
          <a:xfrm>
            <a:off x="157031" y="2475716"/>
            <a:ext cx="54864" cy="512064"/>
          </a:xfrm>
          <a:prstGeom prst="rect">
            <a:avLst/>
          </a:prstGeom>
          <a:solidFill>
            <a:srgbClr val="0F61A8"/>
          </a:solidFill>
          <a:ln w="12700">
            <a:solidFill>
              <a:srgbClr val="0F61A8"/>
            </a:solidFill>
            <a:prstDash val="solid"/>
          </a:ln>
        </p:spPr>
      </p:sp>
      <p:sp>
        <p:nvSpPr>
          <p:cNvPr id="26" name="Shape 19">
            <a:extLst>
              <a:ext uri="{FF2B5EF4-FFF2-40B4-BE49-F238E27FC236}">
                <a16:creationId xmlns:a16="http://schemas.microsoft.com/office/drawing/2014/main" id="{A81C9A9D-7946-1012-F4B2-4EC958731BB5}"/>
              </a:ext>
            </a:extLst>
          </p:cNvPr>
          <p:cNvSpPr/>
          <p:nvPr/>
        </p:nvSpPr>
        <p:spPr>
          <a:xfrm>
            <a:off x="1208591" y="2512292"/>
            <a:ext cx="0" cy="438912"/>
          </a:xfrm>
          <a:prstGeom prst="line">
            <a:avLst/>
          </a:prstGeom>
          <a:noFill/>
          <a:ln w="8890">
            <a:solidFill>
              <a:srgbClr val="C8E0FA">
                <a:alpha val="75000"/>
              </a:srgbClr>
            </a:solidFill>
            <a:prstDash val="solid"/>
          </a:ln>
        </p:spPr>
      </p:sp>
      <p:sp>
        <p:nvSpPr>
          <p:cNvPr id="27" name="Shape 20">
            <a:extLst>
              <a:ext uri="{FF2B5EF4-FFF2-40B4-BE49-F238E27FC236}">
                <a16:creationId xmlns:a16="http://schemas.microsoft.com/office/drawing/2014/main" id="{EC44CB53-9692-7566-927F-8AB40918EABB}"/>
              </a:ext>
            </a:extLst>
          </p:cNvPr>
          <p:cNvSpPr/>
          <p:nvPr/>
        </p:nvSpPr>
        <p:spPr>
          <a:xfrm>
            <a:off x="2534471" y="2512292"/>
            <a:ext cx="0" cy="438912"/>
          </a:xfrm>
          <a:prstGeom prst="line">
            <a:avLst/>
          </a:prstGeom>
          <a:noFill/>
          <a:ln w="8890">
            <a:solidFill>
              <a:srgbClr val="C8E0FA">
                <a:alpha val="75000"/>
              </a:srgbClr>
            </a:solidFill>
            <a:prstDash val="solid"/>
          </a:ln>
        </p:spPr>
      </p:sp>
      <p:sp>
        <p:nvSpPr>
          <p:cNvPr id="28" name="Shape 21">
            <a:extLst>
              <a:ext uri="{FF2B5EF4-FFF2-40B4-BE49-F238E27FC236}">
                <a16:creationId xmlns:a16="http://schemas.microsoft.com/office/drawing/2014/main" id="{8AB8A1BC-26D7-75AC-165D-47284E0A9B74}"/>
              </a:ext>
            </a:extLst>
          </p:cNvPr>
          <p:cNvSpPr/>
          <p:nvPr/>
        </p:nvSpPr>
        <p:spPr>
          <a:xfrm>
            <a:off x="6420671" y="2512292"/>
            <a:ext cx="0" cy="438912"/>
          </a:xfrm>
          <a:prstGeom prst="line">
            <a:avLst/>
          </a:prstGeom>
          <a:noFill/>
          <a:ln w="8890">
            <a:solidFill>
              <a:srgbClr val="C8E0FA">
                <a:alpha val="75000"/>
              </a:srgbClr>
            </a:solidFill>
            <a:prstDash val="solid"/>
          </a:ln>
        </p:spPr>
      </p:sp>
      <p:sp>
        <p:nvSpPr>
          <p:cNvPr id="29" name="Shape 22">
            <a:extLst>
              <a:ext uri="{FF2B5EF4-FFF2-40B4-BE49-F238E27FC236}">
                <a16:creationId xmlns:a16="http://schemas.microsoft.com/office/drawing/2014/main" id="{46E4517E-D47E-4E89-28A1-F04A3A691872}"/>
              </a:ext>
            </a:extLst>
          </p:cNvPr>
          <p:cNvSpPr/>
          <p:nvPr/>
        </p:nvSpPr>
        <p:spPr>
          <a:xfrm>
            <a:off x="303335" y="2585444"/>
            <a:ext cx="310896" cy="310896"/>
          </a:xfrm>
          <a:prstGeom prst="ellipse">
            <a:avLst/>
          </a:prstGeom>
          <a:solidFill>
            <a:srgbClr val="0F61A8"/>
          </a:solidFill>
          <a:ln w="12700">
            <a:solidFill>
              <a:srgbClr val="0F61A8"/>
            </a:solidFill>
            <a:prstDash val="solid"/>
          </a:ln>
        </p:spPr>
      </p:sp>
      <p:sp>
        <p:nvSpPr>
          <p:cNvPr id="30" name="Text 23">
            <a:extLst>
              <a:ext uri="{FF2B5EF4-FFF2-40B4-BE49-F238E27FC236}">
                <a16:creationId xmlns:a16="http://schemas.microsoft.com/office/drawing/2014/main" id="{5003E482-06D3-5003-ECFE-4002E11F5882}"/>
              </a:ext>
            </a:extLst>
          </p:cNvPr>
          <p:cNvSpPr/>
          <p:nvPr/>
        </p:nvSpPr>
        <p:spPr>
          <a:xfrm>
            <a:off x="303335" y="2612876"/>
            <a:ext cx="310896" cy="201168"/>
          </a:xfrm>
          <a:prstGeom prst="rect">
            <a:avLst/>
          </a:prstGeom>
          <a:noFill/>
          <a:ln/>
        </p:spPr>
        <p:txBody>
          <a:bodyPr wrap="square" lIns="254" tIns="254" rIns="254" bIns="254" rtlCol="0" anchor="ctr">
            <a:normAutofit/>
          </a:bodyPr>
          <a:lstStyle/>
          <a:p>
            <a:pPr marL="0" indent="0" algn="ctr">
              <a:buNone/>
            </a:pPr>
            <a:r>
              <a:rPr lang="en-US" sz="1250" b="1" dirty="0">
                <a:solidFill>
                  <a:srgbClr val="FFFFFF"/>
                </a:solidFill>
                <a:latin typeface="Microsoft YaHei" pitchFamily="34" charset="0"/>
                <a:ea typeface="Microsoft YaHei" pitchFamily="34" charset="-122"/>
                <a:cs typeface="Microsoft YaHei" pitchFamily="34" charset="-120"/>
              </a:rPr>
              <a:t>01</a:t>
            </a:r>
            <a:endParaRPr lang="en-US" sz="1250" dirty="0"/>
          </a:p>
        </p:txBody>
      </p:sp>
      <p:sp>
        <p:nvSpPr>
          <p:cNvPr id="31" name="Text 24">
            <a:extLst>
              <a:ext uri="{FF2B5EF4-FFF2-40B4-BE49-F238E27FC236}">
                <a16:creationId xmlns:a16="http://schemas.microsoft.com/office/drawing/2014/main" id="{1F8B3BA7-9B6D-40F3-4A16-7B7C9B262904}"/>
              </a:ext>
            </a:extLst>
          </p:cNvPr>
          <p:cNvSpPr/>
          <p:nvPr/>
        </p:nvSpPr>
        <p:spPr>
          <a:xfrm>
            <a:off x="650807" y="2603732"/>
            <a:ext cx="484632" cy="274320"/>
          </a:xfrm>
          <a:prstGeom prst="rect">
            <a:avLst/>
          </a:prstGeom>
          <a:noFill/>
          <a:ln/>
        </p:spPr>
        <p:txBody>
          <a:bodyPr wrap="square" lIns="254" tIns="254" rIns="254" bIns="254" rtlCol="0" anchor="ctr">
            <a:normAutofit fontScale="85000" lnSpcReduction="20000"/>
          </a:bodyPr>
          <a:lstStyle/>
          <a:p>
            <a:pPr marL="0" indent="0" algn="l">
              <a:buNone/>
            </a:pPr>
            <a:r>
              <a:rPr lang="en-US" sz="1250" b="1" dirty="0">
                <a:solidFill>
                  <a:srgbClr val="002B68"/>
                </a:solidFill>
                <a:latin typeface="Microsoft YaHei" pitchFamily="34" charset="0"/>
                <a:ea typeface="Microsoft YaHei" pitchFamily="34" charset="-122"/>
                <a:cs typeface="Microsoft YaHei" pitchFamily="34" charset="-120"/>
              </a:rPr>
              <a:t>第一阶段</a:t>
            </a:r>
            <a:endParaRPr lang="en-US" sz="1250" dirty="0"/>
          </a:p>
        </p:txBody>
      </p:sp>
      <p:sp>
        <p:nvSpPr>
          <p:cNvPr id="32" name="Text 25">
            <a:extLst>
              <a:ext uri="{FF2B5EF4-FFF2-40B4-BE49-F238E27FC236}">
                <a16:creationId xmlns:a16="http://schemas.microsoft.com/office/drawing/2014/main" id="{CF9C420C-4802-04F6-C2FA-33254631379F}"/>
              </a:ext>
            </a:extLst>
          </p:cNvPr>
          <p:cNvSpPr/>
          <p:nvPr/>
        </p:nvSpPr>
        <p:spPr>
          <a:xfrm>
            <a:off x="1318319" y="2631164"/>
            <a:ext cx="1106424" cy="274320"/>
          </a:xfrm>
          <a:prstGeom prst="rect">
            <a:avLst/>
          </a:prstGeom>
          <a:noFill/>
          <a:ln/>
        </p:spPr>
        <p:txBody>
          <a:bodyPr wrap="square" lIns="254" tIns="254" rIns="254" bIns="254" rtlCol="0" anchor="ctr">
            <a:normAutofit/>
          </a:bodyPr>
          <a:lstStyle/>
          <a:p>
            <a:pPr marL="0" indent="0" algn="ctr">
              <a:buNone/>
            </a:pPr>
            <a:r>
              <a:rPr lang="en-US" sz="1250" b="1" dirty="0">
                <a:solidFill>
                  <a:srgbClr val="1F5B8F"/>
                </a:solidFill>
                <a:latin typeface="Times New Roman" panose="02020603050405020304" pitchFamily="18" charset="0"/>
                <a:ea typeface="Microsoft YaHei" pitchFamily="34" charset="-122"/>
                <a:cs typeface="Times New Roman" panose="02020603050405020304" pitchFamily="18" charset="0"/>
              </a:rPr>
              <a:t>2026.05—06</a:t>
            </a:r>
            <a:endParaRPr lang="en-US" sz="1250" dirty="0">
              <a:latin typeface="Times New Roman" panose="02020603050405020304" pitchFamily="18" charset="0"/>
              <a:cs typeface="Times New Roman" panose="02020603050405020304" pitchFamily="18" charset="0"/>
            </a:endParaRPr>
          </a:p>
        </p:txBody>
      </p:sp>
      <p:sp>
        <p:nvSpPr>
          <p:cNvPr id="33" name="Text 26">
            <a:extLst>
              <a:ext uri="{FF2B5EF4-FFF2-40B4-BE49-F238E27FC236}">
                <a16:creationId xmlns:a16="http://schemas.microsoft.com/office/drawing/2014/main" id="{2474B633-5F07-ED09-9BDD-1B8393CE02B5}"/>
              </a:ext>
            </a:extLst>
          </p:cNvPr>
          <p:cNvSpPr/>
          <p:nvPr/>
        </p:nvSpPr>
        <p:spPr>
          <a:xfrm>
            <a:off x="2680775" y="2521436"/>
            <a:ext cx="3611880" cy="457200"/>
          </a:xfrm>
          <a:prstGeom prst="rect">
            <a:avLst/>
          </a:prstGeom>
          <a:noFill/>
          <a:ln/>
        </p:spPr>
        <p:txBody>
          <a:bodyPr wrap="square" lIns="254" tIns="254" rIns="254" bIns="254" rtlCol="0" anchor="ctr">
            <a:normAutofit/>
          </a:bodyPr>
          <a:lstStyle/>
          <a:p>
            <a:pPr marL="0" indent="0" algn="l">
              <a:buNone/>
            </a:pPr>
            <a:r>
              <a:rPr lang="en-US" sz="1180" dirty="0">
                <a:solidFill>
                  <a:srgbClr val="222222"/>
                </a:solidFill>
                <a:latin typeface="Microsoft YaHei" pitchFamily="34" charset="0"/>
                <a:ea typeface="Microsoft YaHei" pitchFamily="34" charset="-122"/>
                <a:cs typeface="Microsoft YaHei" pitchFamily="34" charset="-120"/>
              </a:rPr>
              <a:t>完善文献调研，明确技术路线，搭建实验与仿真环境</a:t>
            </a:r>
            <a:endParaRPr lang="en-US" sz="1180" dirty="0"/>
          </a:p>
        </p:txBody>
      </p:sp>
      <p:sp>
        <p:nvSpPr>
          <p:cNvPr id="34" name="Text 27">
            <a:extLst>
              <a:ext uri="{FF2B5EF4-FFF2-40B4-BE49-F238E27FC236}">
                <a16:creationId xmlns:a16="http://schemas.microsoft.com/office/drawing/2014/main" id="{32ABA4CA-2E45-EE64-C2B9-D425479ABAE9}"/>
              </a:ext>
            </a:extLst>
          </p:cNvPr>
          <p:cNvSpPr/>
          <p:nvPr/>
        </p:nvSpPr>
        <p:spPr>
          <a:xfrm>
            <a:off x="6566975" y="2521436"/>
            <a:ext cx="2240280" cy="457200"/>
          </a:xfrm>
          <a:prstGeom prst="rect">
            <a:avLst/>
          </a:prstGeom>
          <a:noFill/>
          <a:ln/>
        </p:spPr>
        <p:txBody>
          <a:bodyPr wrap="square" lIns="254" tIns="254" rIns="254" bIns="254" rtlCol="0" anchor="ctr">
            <a:normAutofit/>
          </a:bodyPr>
          <a:lstStyle/>
          <a:p>
            <a:pPr marL="0" indent="0" algn="l">
              <a:buNone/>
            </a:pPr>
            <a:r>
              <a:rPr lang="en-US" sz="1180" dirty="0">
                <a:solidFill>
                  <a:srgbClr val="222222"/>
                </a:solidFill>
                <a:latin typeface="Microsoft YaHei" pitchFamily="34" charset="0"/>
                <a:ea typeface="Microsoft YaHei" pitchFamily="34" charset="-122"/>
                <a:cs typeface="Microsoft YaHei" pitchFamily="34" charset="-120"/>
              </a:rPr>
              <a:t>完成开题与方案细化</a:t>
            </a:r>
            <a:endParaRPr lang="en-US" sz="1180" dirty="0"/>
          </a:p>
        </p:txBody>
      </p:sp>
      <p:sp>
        <p:nvSpPr>
          <p:cNvPr id="35" name="Shape 28">
            <a:extLst>
              <a:ext uri="{FF2B5EF4-FFF2-40B4-BE49-F238E27FC236}">
                <a16:creationId xmlns:a16="http://schemas.microsoft.com/office/drawing/2014/main" id="{1D2CF41C-A105-5120-D722-0798B11B66BF}"/>
              </a:ext>
            </a:extLst>
          </p:cNvPr>
          <p:cNvSpPr/>
          <p:nvPr/>
        </p:nvSpPr>
        <p:spPr>
          <a:xfrm>
            <a:off x="157031" y="3106652"/>
            <a:ext cx="8778240" cy="621792"/>
          </a:xfrm>
          <a:prstGeom prst="roundRect">
            <a:avLst>
              <a:gd name="adj" fmla="val 8088"/>
            </a:avLst>
          </a:prstGeom>
          <a:solidFill>
            <a:srgbClr val="F7FBFF"/>
          </a:solidFill>
          <a:ln w="12700">
            <a:solidFill>
              <a:srgbClr val="C8E0FA"/>
            </a:solidFill>
            <a:prstDash val="solid"/>
          </a:ln>
        </p:spPr>
      </p:sp>
      <p:sp>
        <p:nvSpPr>
          <p:cNvPr id="36" name="Shape 29">
            <a:extLst>
              <a:ext uri="{FF2B5EF4-FFF2-40B4-BE49-F238E27FC236}">
                <a16:creationId xmlns:a16="http://schemas.microsoft.com/office/drawing/2014/main" id="{7AD5DC53-4E9A-01C2-61E7-E8FF6DEFD7CB}"/>
              </a:ext>
            </a:extLst>
          </p:cNvPr>
          <p:cNvSpPr/>
          <p:nvPr/>
        </p:nvSpPr>
        <p:spPr>
          <a:xfrm>
            <a:off x="157031" y="3161516"/>
            <a:ext cx="54864" cy="512064"/>
          </a:xfrm>
          <a:prstGeom prst="rect">
            <a:avLst/>
          </a:prstGeom>
          <a:solidFill>
            <a:srgbClr val="1D79BF"/>
          </a:solidFill>
          <a:ln w="12700">
            <a:solidFill>
              <a:srgbClr val="1D79BF"/>
            </a:solidFill>
            <a:prstDash val="solid"/>
          </a:ln>
        </p:spPr>
      </p:sp>
      <p:sp>
        <p:nvSpPr>
          <p:cNvPr id="37" name="Shape 30">
            <a:extLst>
              <a:ext uri="{FF2B5EF4-FFF2-40B4-BE49-F238E27FC236}">
                <a16:creationId xmlns:a16="http://schemas.microsoft.com/office/drawing/2014/main" id="{5C06792C-EED4-CEF3-7B29-0EAE4787AB49}"/>
              </a:ext>
            </a:extLst>
          </p:cNvPr>
          <p:cNvSpPr/>
          <p:nvPr/>
        </p:nvSpPr>
        <p:spPr>
          <a:xfrm>
            <a:off x="1208591" y="3198092"/>
            <a:ext cx="0" cy="438912"/>
          </a:xfrm>
          <a:prstGeom prst="line">
            <a:avLst/>
          </a:prstGeom>
          <a:noFill/>
          <a:ln w="8890">
            <a:solidFill>
              <a:srgbClr val="C8E0FA">
                <a:alpha val="75000"/>
              </a:srgbClr>
            </a:solidFill>
            <a:prstDash val="solid"/>
          </a:ln>
        </p:spPr>
      </p:sp>
      <p:sp>
        <p:nvSpPr>
          <p:cNvPr id="38" name="Shape 31">
            <a:extLst>
              <a:ext uri="{FF2B5EF4-FFF2-40B4-BE49-F238E27FC236}">
                <a16:creationId xmlns:a16="http://schemas.microsoft.com/office/drawing/2014/main" id="{AF9BF81E-D481-4D2A-40C8-F704D1CA91F5}"/>
              </a:ext>
            </a:extLst>
          </p:cNvPr>
          <p:cNvSpPr/>
          <p:nvPr/>
        </p:nvSpPr>
        <p:spPr>
          <a:xfrm>
            <a:off x="2534471" y="3198092"/>
            <a:ext cx="0" cy="438912"/>
          </a:xfrm>
          <a:prstGeom prst="line">
            <a:avLst/>
          </a:prstGeom>
          <a:noFill/>
          <a:ln w="8890">
            <a:solidFill>
              <a:srgbClr val="C8E0FA">
                <a:alpha val="75000"/>
              </a:srgbClr>
            </a:solidFill>
            <a:prstDash val="solid"/>
          </a:ln>
        </p:spPr>
      </p:sp>
      <p:sp>
        <p:nvSpPr>
          <p:cNvPr id="39" name="Shape 32">
            <a:extLst>
              <a:ext uri="{FF2B5EF4-FFF2-40B4-BE49-F238E27FC236}">
                <a16:creationId xmlns:a16="http://schemas.microsoft.com/office/drawing/2014/main" id="{92AACB2A-F30E-D890-E04C-CAB6427FC313}"/>
              </a:ext>
            </a:extLst>
          </p:cNvPr>
          <p:cNvSpPr/>
          <p:nvPr/>
        </p:nvSpPr>
        <p:spPr>
          <a:xfrm>
            <a:off x="6420671" y="3198092"/>
            <a:ext cx="0" cy="438912"/>
          </a:xfrm>
          <a:prstGeom prst="line">
            <a:avLst/>
          </a:prstGeom>
          <a:noFill/>
          <a:ln w="8890">
            <a:solidFill>
              <a:srgbClr val="C8E0FA">
                <a:alpha val="75000"/>
              </a:srgbClr>
            </a:solidFill>
            <a:prstDash val="solid"/>
          </a:ln>
        </p:spPr>
      </p:sp>
      <p:sp>
        <p:nvSpPr>
          <p:cNvPr id="40" name="Shape 33">
            <a:extLst>
              <a:ext uri="{FF2B5EF4-FFF2-40B4-BE49-F238E27FC236}">
                <a16:creationId xmlns:a16="http://schemas.microsoft.com/office/drawing/2014/main" id="{016A42EB-3707-E346-1DFA-D9649BED52AE}"/>
              </a:ext>
            </a:extLst>
          </p:cNvPr>
          <p:cNvSpPr/>
          <p:nvPr/>
        </p:nvSpPr>
        <p:spPr>
          <a:xfrm>
            <a:off x="303335" y="3271244"/>
            <a:ext cx="310896" cy="310896"/>
          </a:xfrm>
          <a:prstGeom prst="ellipse">
            <a:avLst/>
          </a:prstGeom>
          <a:solidFill>
            <a:srgbClr val="1D79BF"/>
          </a:solidFill>
          <a:ln w="12700">
            <a:solidFill>
              <a:srgbClr val="1D79BF"/>
            </a:solidFill>
            <a:prstDash val="solid"/>
          </a:ln>
        </p:spPr>
      </p:sp>
      <p:sp>
        <p:nvSpPr>
          <p:cNvPr id="41" name="Text 34">
            <a:extLst>
              <a:ext uri="{FF2B5EF4-FFF2-40B4-BE49-F238E27FC236}">
                <a16:creationId xmlns:a16="http://schemas.microsoft.com/office/drawing/2014/main" id="{A96A6312-8196-FDDE-B0BB-150DFBD375EC}"/>
              </a:ext>
            </a:extLst>
          </p:cNvPr>
          <p:cNvSpPr/>
          <p:nvPr/>
        </p:nvSpPr>
        <p:spPr>
          <a:xfrm>
            <a:off x="303335" y="3298676"/>
            <a:ext cx="310896" cy="201168"/>
          </a:xfrm>
          <a:prstGeom prst="rect">
            <a:avLst/>
          </a:prstGeom>
          <a:noFill/>
          <a:ln/>
        </p:spPr>
        <p:txBody>
          <a:bodyPr wrap="square" lIns="254" tIns="254" rIns="254" bIns="254" rtlCol="0" anchor="ctr">
            <a:normAutofit/>
          </a:bodyPr>
          <a:lstStyle/>
          <a:p>
            <a:pPr marL="0" indent="0" algn="ctr">
              <a:buNone/>
            </a:pPr>
            <a:r>
              <a:rPr lang="en-US" sz="1250" b="1" dirty="0">
                <a:solidFill>
                  <a:srgbClr val="FFFFFF"/>
                </a:solidFill>
                <a:latin typeface="Microsoft YaHei" pitchFamily="34" charset="0"/>
                <a:ea typeface="Microsoft YaHei" pitchFamily="34" charset="-122"/>
                <a:cs typeface="Microsoft YaHei" pitchFamily="34" charset="-120"/>
              </a:rPr>
              <a:t>02</a:t>
            </a:r>
            <a:endParaRPr lang="en-US" sz="1250" dirty="0"/>
          </a:p>
        </p:txBody>
      </p:sp>
      <p:sp>
        <p:nvSpPr>
          <p:cNvPr id="42" name="Text 35">
            <a:extLst>
              <a:ext uri="{FF2B5EF4-FFF2-40B4-BE49-F238E27FC236}">
                <a16:creationId xmlns:a16="http://schemas.microsoft.com/office/drawing/2014/main" id="{541BD392-AF6B-6112-3221-14CEA8884C84}"/>
              </a:ext>
            </a:extLst>
          </p:cNvPr>
          <p:cNvSpPr/>
          <p:nvPr/>
        </p:nvSpPr>
        <p:spPr>
          <a:xfrm>
            <a:off x="650807" y="3289532"/>
            <a:ext cx="484632" cy="274320"/>
          </a:xfrm>
          <a:prstGeom prst="rect">
            <a:avLst/>
          </a:prstGeom>
          <a:noFill/>
          <a:ln/>
        </p:spPr>
        <p:txBody>
          <a:bodyPr wrap="square" lIns="254" tIns="254" rIns="254" bIns="254" rtlCol="0" anchor="ctr">
            <a:normAutofit fontScale="85000" lnSpcReduction="20000"/>
          </a:bodyPr>
          <a:lstStyle/>
          <a:p>
            <a:pPr marL="0" indent="0" algn="l">
              <a:buNone/>
            </a:pPr>
            <a:r>
              <a:rPr lang="en-US" sz="1250" b="1" dirty="0">
                <a:solidFill>
                  <a:srgbClr val="002B68"/>
                </a:solidFill>
                <a:latin typeface="Microsoft YaHei" pitchFamily="34" charset="0"/>
                <a:ea typeface="Microsoft YaHei" pitchFamily="34" charset="-122"/>
                <a:cs typeface="Microsoft YaHei" pitchFamily="34" charset="-120"/>
              </a:rPr>
              <a:t>第二阶段</a:t>
            </a:r>
            <a:endParaRPr lang="en-US" sz="1250" dirty="0"/>
          </a:p>
        </p:txBody>
      </p:sp>
      <p:sp>
        <p:nvSpPr>
          <p:cNvPr id="43" name="Text 36">
            <a:extLst>
              <a:ext uri="{FF2B5EF4-FFF2-40B4-BE49-F238E27FC236}">
                <a16:creationId xmlns:a16="http://schemas.microsoft.com/office/drawing/2014/main" id="{3589FE29-36C2-FBCF-11BB-F69ADDA404DF}"/>
              </a:ext>
            </a:extLst>
          </p:cNvPr>
          <p:cNvSpPr/>
          <p:nvPr/>
        </p:nvSpPr>
        <p:spPr>
          <a:xfrm>
            <a:off x="1318319" y="3316964"/>
            <a:ext cx="1106424" cy="274320"/>
          </a:xfrm>
          <a:prstGeom prst="rect">
            <a:avLst/>
          </a:prstGeom>
          <a:noFill/>
          <a:ln/>
        </p:spPr>
        <p:txBody>
          <a:bodyPr wrap="square" lIns="254" tIns="254" rIns="254" bIns="254" rtlCol="0" anchor="ctr">
            <a:normAutofit/>
          </a:bodyPr>
          <a:lstStyle/>
          <a:p>
            <a:pPr marL="0" indent="0" algn="ctr">
              <a:buNone/>
            </a:pPr>
            <a:r>
              <a:rPr lang="en-US" sz="1250" b="1" dirty="0">
                <a:solidFill>
                  <a:srgbClr val="1F5B8F"/>
                </a:solidFill>
                <a:latin typeface="Times New Roman" panose="02020603050405020304" pitchFamily="18" charset="0"/>
                <a:ea typeface="Microsoft YaHei" pitchFamily="34" charset="-122"/>
                <a:cs typeface="Times New Roman" panose="02020603050405020304" pitchFamily="18" charset="0"/>
              </a:rPr>
              <a:t>2026.06—08</a:t>
            </a:r>
            <a:endParaRPr lang="en-US" sz="1250" dirty="0">
              <a:latin typeface="Times New Roman" panose="02020603050405020304" pitchFamily="18" charset="0"/>
              <a:cs typeface="Times New Roman" panose="02020603050405020304" pitchFamily="18" charset="0"/>
            </a:endParaRPr>
          </a:p>
        </p:txBody>
      </p:sp>
      <p:sp>
        <p:nvSpPr>
          <p:cNvPr id="44" name="Text 37">
            <a:extLst>
              <a:ext uri="{FF2B5EF4-FFF2-40B4-BE49-F238E27FC236}">
                <a16:creationId xmlns:a16="http://schemas.microsoft.com/office/drawing/2014/main" id="{AFDED78F-9830-E1A3-6A9A-149B9DE5D22A}"/>
              </a:ext>
            </a:extLst>
          </p:cNvPr>
          <p:cNvSpPr/>
          <p:nvPr/>
        </p:nvSpPr>
        <p:spPr>
          <a:xfrm>
            <a:off x="2680775" y="3207236"/>
            <a:ext cx="3611880" cy="457200"/>
          </a:xfrm>
          <a:prstGeom prst="rect">
            <a:avLst/>
          </a:prstGeom>
          <a:noFill/>
          <a:ln/>
        </p:spPr>
        <p:txBody>
          <a:bodyPr wrap="square" lIns="254" tIns="254" rIns="254" bIns="254" rtlCol="0" anchor="ctr">
            <a:normAutofit/>
          </a:bodyPr>
          <a:lstStyle/>
          <a:p>
            <a:pPr marL="0" indent="0" algn="l">
              <a:buNone/>
            </a:pPr>
            <a:r>
              <a:rPr lang="en-US" sz="1180" dirty="0">
                <a:solidFill>
                  <a:srgbClr val="222222"/>
                </a:solidFill>
                <a:latin typeface="Microsoft YaHei" pitchFamily="34" charset="0"/>
                <a:ea typeface="Microsoft YaHei" pitchFamily="34" charset="-122"/>
                <a:cs typeface="Microsoft YaHei" pitchFamily="34" charset="-120"/>
              </a:rPr>
              <a:t>开展动力学建模、激励轨迹设计、数据采集与参数辨识</a:t>
            </a:r>
            <a:endParaRPr lang="en-US" sz="1180" dirty="0"/>
          </a:p>
        </p:txBody>
      </p:sp>
      <p:sp>
        <p:nvSpPr>
          <p:cNvPr id="45" name="Text 38">
            <a:extLst>
              <a:ext uri="{FF2B5EF4-FFF2-40B4-BE49-F238E27FC236}">
                <a16:creationId xmlns:a16="http://schemas.microsoft.com/office/drawing/2014/main" id="{0A7ABF20-03B7-425B-D3E6-9CFB18B8F9CD}"/>
              </a:ext>
            </a:extLst>
          </p:cNvPr>
          <p:cNvSpPr/>
          <p:nvPr/>
        </p:nvSpPr>
        <p:spPr>
          <a:xfrm>
            <a:off x="6566975" y="3207236"/>
            <a:ext cx="2240280" cy="457200"/>
          </a:xfrm>
          <a:prstGeom prst="rect">
            <a:avLst/>
          </a:prstGeom>
          <a:noFill/>
          <a:ln/>
        </p:spPr>
        <p:txBody>
          <a:bodyPr wrap="square" lIns="254" tIns="254" rIns="254" bIns="254" rtlCol="0" anchor="ctr">
            <a:normAutofit/>
          </a:bodyPr>
          <a:lstStyle/>
          <a:p>
            <a:pPr marL="0" indent="0" algn="l">
              <a:buNone/>
            </a:pPr>
            <a:r>
              <a:rPr lang="en-US" sz="1180" dirty="0">
                <a:solidFill>
                  <a:srgbClr val="222222"/>
                </a:solidFill>
                <a:latin typeface="Microsoft YaHei" pitchFamily="34" charset="0"/>
                <a:ea typeface="Microsoft YaHei" pitchFamily="34" charset="-122"/>
                <a:cs typeface="Microsoft YaHei" pitchFamily="34" charset="-120"/>
              </a:rPr>
              <a:t>获得辨识模型与验证结果</a:t>
            </a:r>
            <a:endParaRPr lang="en-US" sz="1180" dirty="0"/>
          </a:p>
        </p:txBody>
      </p:sp>
      <p:sp>
        <p:nvSpPr>
          <p:cNvPr id="46" name="Shape 39">
            <a:extLst>
              <a:ext uri="{FF2B5EF4-FFF2-40B4-BE49-F238E27FC236}">
                <a16:creationId xmlns:a16="http://schemas.microsoft.com/office/drawing/2014/main" id="{8ABD4D3B-B8FE-095B-B4ED-88C6166FF722}"/>
              </a:ext>
            </a:extLst>
          </p:cNvPr>
          <p:cNvSpPr/>
          <p:nvPr/>
        </p:nvSpPr>
        <p:spPr>
          <a:xfrm>
            <a:off x="157031" y="3792452"/>
            <a:ext cx="8778240" cy="621792"/>
          </a:xfrm>
          <a:prstGeom prst="roundRect">
            <a:avLst>
              <a:gd name="adj" fmla="val 8088"/>
            </a:avLst>
          </a:prstGeom>
          <a:solidFill>
            <a:srgbClr val="FFFFFF"/>
          </a:solidFill>
          <a:ln w="12700">
            <a:solidFill>
              <a:srgbClr val="C8E0FA"/>
            </a:solidFill>
            <a:prstDash val="solid"/>
          </a:ln>
        </p:spPr>
      </p:sp>
      <p:sp>
        <p:nvSpPr>
          <p:cNvPr id="47" name="Shape 40">
            <a:extLst>
              <a:ext uri="{FF2B5EF4-FFF2-40B4-BE49-F238E27FC236}">
                <a16:creationId xmlns:a16="http://schemas.microsoft.com/office/drawing/2014/main" id="{461DDEDD-66B6-665C-6189-3418A9A3CCAF}"/>
              </a:ext>
            </a:extLst>
          </p:cNvPr>
          <p:cNvSpPr/>
          <p:nvPr/>
        </p:nvSpPr>
        <p:spPr>
          <a:xfrm>
            <a:off x="157031" y="3847316"/>
            <a:ext cx="54864" cy="512064"/>
          </a:xfrm>
          <a:prstGeom prst="rect">
            <a:avLst/>
          </a:prstGeom>
          <a:solidFill>
            <a:srgbClr val="229A90"/>
          </a:solidFill>
          <a:ln w="12700">
            <a:solidFill>
              <a:srgbClr val="229A90"/>
            </a:solidFill>
            <a:prstDash val="solid"/>
          </a:ln>
        </p:spPr>
      </p:sp>
      <p:sp>
        <p:nvSpPr>
          <p:cNvPr id="48" name="Shape 41">
            <a:extLst>
              <a:ext uri="{FF2B5EF4-FFF2-40B4-BE49-F238E27FC236}">
                <a16:creationId xmlns:a16="http://schemas.microsoft.com/office/drawing/2014/main" id="{56605F83-66D1-A1E1-FA2E-05AF434E41D1}"/>
              </a:ext>
            </a:extLst>
          </p:cNvPr>
          <p:cNvSpPr/>
          <p:nvPr/>
        </p:nvSpPr>
        <p:spPr>
          <a:xfrm>
            <a:off x="1208591" y="3883892"/>
            <a:ext cx="0" cy="438912"/>
          </a:xfrm>
          <a:prstGeom prst="line">
            <a:avLst/>
          </a:prstGeom>
          <a:noFill/>
          <a:ln w="8890">
            <a:solidFill>
              <a:srgbClr val="C8E0FA">
                <a:alpha val="75000"/>
              </a:srgbClr>
            </a:solidFill>
            <a:prstDash val="solid"/>
          </a:ln>
        </p:spPr>
      </p:sp>
      <p:sp>
        <p:nvSpPr>
          <p:cNvPr id="49" name="Shape 42">
            <a:extLst>
              <a:ext uri="{FF2B5EF4-FFF2-40B4-BE49-F238E27FC236}">
                <a16:creationId xmlns:a16="http://schemas.microsoft.com/office/drawing/2014/main" id="{B919DF73-B508-109E-0C48-E1F011C03752}"/>
              </a:ext>
            </a:extLst>
          </p:cNvPr>
          <p:cNvSpPr/>
          <p:nvPr/>
        </p:nvSpPr>
        <p:spPr>
          <a:xfrm>
            <a:off x="2534471" y="3883892"/>
            <a:ext cx="0" cy="438912"/>
          </a:xfrm>
          <a:prstGeom prst="line">
            <a:avLst/>
          </a:prstGeom>
          <a:noFill/>
          <a:ln w="8890">
            <a:solidFill>
              <a:srgbClr val="C8E0FA">
                <a:alpha val="75000"/>
              </a:srgbClr>
            </a:solidFill>
            <a:prstDash val="solid"/>
          </a:ln>
        </p:spPr>
      </p:sp>
      <p:sp>
        <p:nvSpPr>
          <p:cNvPr id="50" name="Shape 43">
            <a:extLst>
              <a:ext uri="{FF2B5EF4-FFF2-40B4-BE49-F238E27FC236}">
                <a16:creationId xmlns:a16="http://schemas.microsoft.com/office/drawing/2014/main" id="{181EED18-077B-D844-3A3B-9FC0F560793A}"/>
              </a:ext>
            </a:extLst>
          </p:cNvPr>
          <p:cNvSpPr/>
          <p:nvPr/>
        </p:nvSpPr>
        <p:spPr>
          <a:xfrm>
            <a:off x="6420671" y="3883892"/>
            <a:ext cx="0" cy="438912"/>
          </a:xfrm>
          <a:prstGeom prst="line">
            <a:avLst/>
          </a:prstGeom>
          <a:noFill/>
          <a:ln w="8890">
            <a:solidFill>
              <a:srgbClr val="C8E0FA">
                <a:alpha val="75000"/>
              </a:srgbClr>
            </a:solidFill>
            <a:prstDash val="solid"/>
          </a:ln>
        </p:spPr>
      </p:sp>
      <p:sp>
        <p:nvSpPr>
          <p:cNvPr id="51" name="Shape 44">
            <a:extLst>
              <a:ext uri="{FF2B5EF4-FFF2-40B4-BE49-F238E27FC236}">
                <a16:creationId xmlns:a16="http://schemas.microsoft.com/office/drawing/2014/main" id="{C3DA39B8-42FA-1C14-E7FB-8A57C8675197}"/>
              </a:ext>
            </a:extLst>
          </p:cNvPr>
          <p:cNvSpPr/>
          <p:nvPr/>
        </p:nvSpPr>
        <p:spPr>
          <a:xfrm>
            <a:off x="303335" y="3957044"/>
            <a:ext cx="310896" cy="310896"/>
          </a:xfrm>
          <a:prstGeom prst="ellipse">
            <a:avLst/>
          </a:prstGeom>
          <a:solidFill>
            <a:srgbClr val="229A90"/>
          </a:solidFill>
          <a:ln w="12700">
            <a:solidFill>
              <a:srgbClr val="229A90"/>
            </a:solidFill>
            <a:prstDash val="solid"/>
          </a:ln>
        </p:spPr>
      </p:sp>
      <p:sp>
        <p:nvSpPr>
          <p:cNvPr id="52" name="Text 45">
            <a:extLst>
              <a:ext uri="{FF2B5EF4-FFF2-40B4-BE49-F238E27FC236}">
                <a16:creationId xmlns:a16="http://schemas.microsoft.com/office/drawing/2014/main" id="{F953A17D-B0D7-2B38-3AEA-7F7B95B98F74}"/>
              </a:ext>
            </a:extLst>
          </p:cNvPr>
          <p:cNvSpPr/>
          <p:nvPr/>
        </p:nvSpPr>
        <p:spPr>
          <a:xfrm>
            <a:off x="303335" y="3984476"/>
            <a:ext cx="310896" cy="201168"/>
          </a:xfrm>
          <a:prstGeom prst="rect">
            <a:avLst/>
          </a:prstGeom>
          <a:noFill/>
          <a:ln/>
        </p:spPr>
        <p:txBody>
          <a:bodyPr wrap="square" lIns="254" tIns="254" rIns="254" bIns="254" rtlCol="0" anchor="ctr">
            <a:normAutofit/>
          </a:bodyPr>
          <a:lstStyle/>
          <a:p>
            <a:pPr marL="0" indent="0" algn="ctr">
              <a:buNone/>
            </a:pPr>
            <a:r>
              <a:rPr lang="en-US" sz="1250" b="1" dirty="0">
                <a:solidFill>
                  <a:srgbClr val="FFFFFF"/>
                </a:solidFill>
                <a:latin typeface="Microsoft YaHei" pitchFamily="34" charset="0"/>
                <a:ea typeface="Microsoft YaHei" pitchFamily="34" charset="-122"/>
                <a:cs typeface="Microsoft YaHei" pitchFamily="34" charset="-120"/>
              </a:rPr>
              <a:t>03</a:t>
            </a:r>
            <a:endParaRPr lang="en-US" sz="1250" dirty="0"/>
          </a:p>
        </p:txBody>
      </p:sp>
      <p:sp>
        <p:nvSpPr>
          <p:cNvPr id="53" name="Text 46">
            <a:extLst>
              <a:ext uri="{FF2B5EF4-FFF2-40B4-BE49-F238E27FC236}">
                <a16:creationId xmlns:a16="http://schemas.microsoft.com/office/drawing/2014/main" id="{84ACF298-08B5-204D-42B6-5CCE89A73249}"/>
              </a:ext>
            </a:extLst>
          </p:cNvPr>
          <p:cNvSpPr/>
          <p:nvPr/>
        </p:nvSpPr>
        <p:spPr>
          <a:xfrm>
            <a:off x="650807" y="3975332"/>
            <a:ext cx="484632" cy="274320"/>
          </a:xfrm>
          <a:prstGeom prst="rect">
            <a:avLst/>
          </a:prstGeom>
          <a:noFill/>
          <a:ln/>
        </p:spPr>
        <p:txBody>
          <a:bodyPr wrap="square" lIns="254" tIns="254" rIns="254" bIns="254" rtlCol="0" anchor="ctr">
            <a:normAutofit fontScale="85000" lnSpcReduction="20000"/>
          </a:bodyPr>
          <a:lstStyle/>
          <a:p>
            <a:pPr marL="0" indent="0" algn="l">
              <a:buNone/>
            </a:pPr>
            <a:r>
              <a:rPr lang="en-US" sz="1250" b="1" dirty="0">
                <a:solidFill>
                  <a:srgbClr val="002B68"/>
                </a:solidFill>
                <a:latin typeface="Microsoft YaHei" pitchFamily="34" charset="0"/>
                <a:ea typeface="Microsoft YaHei" pitchFamily="34" charset="-122"/>
                <a:cs typeface="Microsoft YaHei" pitchFamily="34" charset="-120"/>
              </a:rPr>
              <a:t>第三阶段</a:t>
            </a:r>
            <a:endParaRPr lang="en-US" sz="1250" dirty="0"/>
          </a:p>
        </p:txBody>
      </p:sp>
      <p:sp>
        <p:nvSpPr>
          <p:cNvPr id="54" name="Text 47">
            <a:extLst>
              <a:ext uri="{FF2B5EF4-FFF2-40B4-BE49-F238E27FC236}">
                <a16:creationId xmlns:a16="http://schemas.microsoft.com/office/drawing/2014/main" id="{3BD79C40-8A6D-3249-9CEB-92B95E915E0B}"/>
              </a:ext>
            </a:extLst>
          </p:cNvPr>
          <p:cNvSpPr/>
          <p:nvPr/>
        </p:nvSpPr>
        <p:spPr>
          <a:xfrm>
            <a:off x="1318319" y="4002764"/>
            <a:ext cx="1106424" cy="274320"/>
          </a:xfrm>
          <a:prstGeom prst="rect">
            <a:avLst/>
          </a:prstGeom>
          <a:noFill/>
          <a:ln/>
        </p:spPr>
        <p:txBody>
          <a:bodyPr wrap="square" lIns="254" tIns="254" rIns="254" bIns="254" rtlCol="0" anchor="ctr">
            <a:normAutofit/>
          </a:bodyPr>
          <a:lstStyle/>
          <a:p>
            <a:pPr marL="0" indent="0" algn="ctr">
              <a:buNone/>
            </a:pPr>
            <a:r>
              <a:rPr lang="en-US" sz="1250" b="1" dirty="0">
                <a:solidFill>
                  <a:srgbClr val="1F5B8F"/>
                </a:solidFill>
                <a:latin typeface="Times New Roman" panose="02020603050405020304" pitchFamily="18" charset="0"/>
                <a:ea typeface="Microsoft YaHei" pitchFamily="34" charset="-122"/>
                <a:cs typeface="Times New Roman" panose="02020603050405020304" pitchFamily="18" charset="0"/>
              </a:rPr>
              <a:t>2026.08—10</a:t>
            </a:r>
            <a:endParaRPr lang="en-US" sz="1250" dirty="0">
              <a:latin typeface="Times New Roman" panose="02020603050405020304" pitchFamily="18" charset="0"/>
              <a:cs typeface="Times New Roman" panose="02020603050405020304" pitchFamily="18" charset="0"/>
            </a:endParaRPr>
          </a:p>
        </p:txBody>
      </p:sp>
      <p:sp>
        <p:nvSpPr>
          <p:cNvPr id="55" name="Text 48">
            <a:extLst>
              <a:ext uri="{FF2B5EF4-FFF2-40B4-BE49-F238E27FC236}">
                <a16:creationId xmlns:a16="http://schemas.microsoft.com/office/drawing/2014/main" id="{DCB4E455-AF64-957B-E8FA-9D49290E0EF1}"/>
              </a:ext>
            </a:extLst>
          </p:cNvPr>
          <p:cNvSpPr/>
          <p:nvPr/>
        </p:nvSpPr>
        <p:spPr>
          <a:xfrm>
            <a:off x="2680775" y="3893036"/>
            <a:ext cx="3611880" cy="457200"/>
          </a:xfrm>
          <a:prstGeom prst="rect">
            <a:avLst/>
          </a:prstGeom>
          <a:noFill/>
          <a:ln/>
        </p:spPr>
        <p:txBody>
          <a:bodyPr wrap="square" lIns="254" tIns="254" rIns="254" bIns="254" rtlCol="0" anchor="ctr">
            <a:normAutofit/>
          </a:bodyPr>
          <a:lstStyle/>
          <a:p>
            <a:pPr marL="0" indent="0" algn="l">
              <a:buNone/>
            </a:pPr>
            <a:r>
              <a:rPr lang="en-US" sz="1180" dirty="0">
                <a:solidFill>
                  <a:srgbClr val="222222"/>
                </a:solidFill>
                <a:latin typeface="Microsoft YaHei" pitchFamily="34" charset="0"/>
                <a:ea typeface="Microsoft YaHei" pitchFamily="34" charset="-122"/>
                <a:cs typeface="Microsoft YaHei" pitchFamily="34" charset="-120"/>
              </a:rPr>
              <a:t>研究任务空间与零空间结合的分层阻抗控制方法</a:t>
            </a:r>
            <a:endParaRPr lang="en-US" sz="1180" dirty="0"/>
          </a:p>
        </p:txBody>
      </p:sp>
      <p:sp>
        <p:nvSpPr>
          <p:cNvPr id="56" name="Text 49">
            <a:extLst>
              <a:ext uri="{FF2B5EF4-FFF2-40B4-BE49-F238E27FC236}">
                <a16:creationId xmlns:a16="http://schemas.microsoft.com/office/drawing/2014/main" id="{930A27BF-1857-9CD4-EBA0-F807DA44DAD7}"/>
              </a:ext>
            </a:extLst>
          </p:cNvPr>
          <p:cNvSpPr/>
          <p:nvPr/>
        </p:nvSpPr>
        <p:spPr>
          <a:xfrm>
            <a:off x="6566975" y="3893036"/>
            <a:ext cx="2240280" cy="457200"/>
          </a:xfrm>
          <a:prstGeom prst="rect">
            <a:avLst/>
          </a:prstGeom>
          <a:noFill/>
          <a:ln/>
        </p:spPr>
        <p:txBody>
          <a:bodyPr wrap="square" lIns="254" tIns="254" rIns="254" bIns="254" rtlCol="0" anchor="ctr">
            <a:normAutofit/>
          </a:bodyPr>
          <a:lstStyle/>
          <a:p>
            <a:pPr marL="0" indent="0" algn="l">
              <a:buNone/>
            </a:pPr>
            <a:r>
              <a:rPr lang="en-US" sz="1180" dirty="0">
                <a:solidFill>
                  <a:srgbClr val="222222"/>
                </a:solidFill>
                <a:latin typeface="Microsoft YaHei" pitchFamily="34" charset="0"/>
                <a:ea typeface="Microsoft YaHei" pitchFamily="34" charset="-122"/>
                <a:cs typeface="Microsoft YaHei" pitchFamily="34" charset="-120"/>
              </a:rPr>
              <a:t>完成控制算法仿真与初步实验</a:t>
            </a:r>
            <a:endParaRPr lang="en-US" sz="1180" dirty="0"/>
          </a:p>
        </p:txBody>
      </p:sp>
      <p:sp>
        <p:nvSpPr>
          <p:cNvPr id="57" name="Shape 50">
            <a:extLst>
              <a:ext uri="{FF2B5EF4-FFF2-40B4-BE49-F238E27FC236}">
                <a16:creationId xmlns:a16="http://schemas.microsoft.com/office/drawing/2014/main" id="{8008C2B9-1CA5-ED19-FDDD-804E07C93B53}"/>
              </a:ext>
            </a:extLst>
          </p:cNvPr>
          <p:cNvSpPr/>
          <p:nvPr/>
        </p:nvSpPr>
        <p:spPr>
          <a:xfrm>
            <a:off x="157031" y="4478252"/>
            <a:ext cx="8778240" cy="621792"/>
          </a:xfrm>
          <a:prstGeom prst="roundRect">
            <a:avLst>
              <a:gd name="adj" fmla="val 8088"/>
            </a:avLst>
          </a:prstGeom>
          <a:solidFill>
            <a:srgbClr val="F7FBFF"/>
          </a:solidFill>
          <a:ln w="12700">
            <a:solidFill>
              <a:srgbClr val="C8E0FA"/>
            </a:solidFill>
            <a:prstDash val="solid"/>
          </a:ln>
        </p:spPr>
      </p:sp>
      <p:sp>
        <p:nvSpPr>
          <p:cNvPr id="58" name="Shape 51">
            <a:extLst>
              <a:ext uri="{FF2B5EF4-FFF2-40B4-BE49-F238E27FC236}">
                <a16:creationId xmlns:a16="http://schemas.microsoft.com/office/drawing/2014/main" id="{4037719A-1C6B-795B-8696-41EE2E2FDEB0}"/>
              </a:ext>
            </a:extLst>
          </p:cNvPr>
          <p:cNvSpPr/>
          <p:nvPr/>
        </p:nvSpPr>
        <p:spPr>
          <a:xfrm>
            <a:off x="157031" y="4533116"/>
            <a:ext cx="54864" cy="512064"/>
          </a:xfrm>
          <a:prstGeom prst="rect">
            <a:avLst/>
          </a:prstGeom>
          <a:solidFill>
            <a:srgbClr val="E3A000"/>
          </a:solidFill>
          <a:ln w="12700">
            <a:solidFill>
              <a:srgbClr val="E3A000"/>
            </a:solidFill>
            <a:prstDash val="solid"/>
          </a:ln>
        </p:spPr>
      </p:sp>
      <p:sp>
        <p:nvSpPr>
          <p:cNvPr id="59" name="Shape 52">
            <a:extLst>
              <a:ext uri="{FF2B5EF4-FFF2-40B4-BE49-F238E27FC236}">
                <a16:creationId xmlns:a16="http://schemas.microsoft.com/office/drawing/2014/main" id="{07409377-CC49-34CF-8294-5E4B9DDAD938}"/>
              </a:ext>
            </a:extLst>
          </p:cNvPr>
          <p:cNvSpPr/>
          <p:nvPr/>
        </p:nvSpPr>
        <p:spPr>
          <a:xfrm>
            <a:off x="1208591" y="4569692"/>
            <a:ext cx="0" cy="438912"/>
          </a:xfrm>
          <a:prstGeom prst="line">
            <a:avLst/>
          </a:prstGeom>
          <a:noFill/>
          <a:ln w="8890">
            <a:solidFill>
              <a:srgbClr val="C8E0FA">
                <a:alpha val="75000"/>
              </a:srgbClr>
            </a:solidFill>
            <a:prstDash val="solid"/>
          </a:ln>
        </p:spPr>
      </p:sp>
      <p:sp>
        <p:nvSpPr>
          <p:cNvPr id="60" name="Shape 53">
            <a:extLst>
              <a:ext uri="{FF2B5EF4-FFF2-40B4-BE49-F238E27FC236}">
                <a16:creationId xmlns:a16="http://schemas.microsoft.com/office/drawing/2014/main" id="{BAEA0FCA-B13C-1AE9-7E6E-447494336D63}"/>
              </a:ext>
            </a:extLst>
          </p:cNvPr>
          <p:cNvSpPr/>
          <p:nvPr/>
        </p:nvSpPr>
        <p:spPr>
          <a:xfrm>
            <a:off x="2534471" y="4569692"/>
            <a:ext cx="0" cy="438912"/>
          </a:xfrm>
          <a:prstGeom prst="line">
            <a:avLst/>
          </a:prstGeom>
          <a:noFill/>
          <a:ln w="8890">
            <a:solidFill>
              <a:srgbClr val="C8E0FA">
                <a:alpha val="75000"/>
              </a:srgbClr>
            </a:solidFill>
            <a:prstDash val="solid"/>
          </a:ln>
        </p:spPr>
      </p:sp>
      <p:sp>
        <p:nvSpPr>
          <p:cNvPr id="61" name="Shape 54">
            <a:extLst>
              <a:ext uri="{FF2B5EF4-FFF2-40B4-BE49-F238E27FC236}">
                <a16:creationId xmlns:a16="http://schemas.microsoft.com/office/drawing/2014/main" id="{BCF5A553-1D43-F8A5-BC17-ABD1E48308B1}"/>
              </a:ext>
            </a:extLst>
          </p:cNvPr>
          <p:cNvSpPr/>
          <p:nvPr/>
        </p:nvSpPr>
        <p:spPr>
          <a:xfrm>
            <a:off x="6420671" y="4569692"/>
            <a:ext cx="0" cy="438912"/>
          </a:xfrm>
          <a:prstGeom prst="line">
            <a:avLst/>
          </a:prstGeom>
          <a:noFill/>
          <a:ln w="8890">
            <a:solidFill>
              <a:srgbClr val="C8E0FA">
                <a:alpha val="75000"/>
              </a:srgbClr>
            </a:solidFill>
            <a:prstDash val="solid"/>
          </a:ln>
        </p:spPr>
      </p:sp>
      <p:sp>
        <p:nvSpPr>
          <p:cNvPr id="62" name="Shape 55">
            <a:extLst>
              <a:ext uri="{FF2B5EF4-FFF2-40B4-BE49-F238E27FC236}">
                <a16:creationId xmlns:a16="http://schemas.microsoft.com/office/drawing/2014/main" id="{E416CC45-BA42-5960-3E90-512C23B29501}"/>
              </a:ext>
            </a:extLst>
          </p:cNvPr>
          <p:cNvSpPr/>
          <p:nvPr/>
        </p:nvSpPr>
        <p:spPr>
          <a:xfrm>
            <a:off x="303335" y="4642844"/>
            <a:ext cx="310896" cy="310896"/>
          </a:xfrm>
          <a:prstGeom prst="ellipse">
            <a:avLst/>
          </a:prstGeom>
          <a:solidFill>
            <a:srgbClr val="E3A000"/>
          </a:solidFill>
          <a:ln w="12700">
            <a:solidFill>
              <a:srgbClr val="E3A000"/>
            </a:solidFill>
            <a:prstDash val="solid"/>
          </a:ln>
        </p:spPr>
      </p:sp>
      <p:sp>
        <p:nvSpPr>
          <p:cNvPr id="63" name="Text 56">
            <a:extLst>
              <a:ext uri="{FF2B5EF4-FFF2-40B4-BE49-F238E27FC236}">
                <a16:creationId xmlns:a16="http://schemas.microsoft.com/office/drawing/2014/main" id="{68E65229-B41F-BCBB-80F0-BB50D78DF1C2}"/>
              </a:ext>
            </a:extLst>
          </p:cNvPr>
          <p:cNvSpPr/>
          <p:nvPr/>
        </p:nvSpPr>
        <p:spPr>
          <a:xfrm>
            <a:off x="303335" y="4670276"/>
            <a:ext cx="310896" cy="201168"/>
          </a:xfrm>
          <a:prstGeom prst="rect">
            <a:avLst/>
          </a:prstGeom>
          <a:noFill/>
          <a:ln/>
        </p:spPr>
        <p:txBody>
          <a:bodyPr wrap="square" lIns="254" tIns="254" rIns="254" bIns="254" rtlCol="0" anchor="ctr">
            <a:normAutofit/>
          </a:bodyPr>
          <a:lstStyle/>
          <a:p>
            <a:pPr marL="0" indent="0" algn="ctr">
              <a:buNone/>
            </a:pPr>
            <a:r>
              <a:rPr lang="en-US" sz="1250" b="1" dirty="0">
                <a:solidFill>
                  <a:srgbClr val="FFFFFF"/>
                </a:solidFill>
                <a:latin typeface="Microsoft YaHei" pitchFamily="34" charset="0"/>
                <a:ea typeface="Microsoft YaHei" pitchFamily="34" charset="-122"/>
                <a:cs typeface="Microsoft YaHei" pitchFamily="34" charset="-120"/>
              </a:rPr>
              <a:t>04</a:t>
            </a:r>
            <a:endParaRPr lang="en-US" sz="1250" dirty="0"/>
          </a:p>
        </p:txBody>
      </p:sp>
      <p:sp>
        <p:nvSpPr>
          <p:cNvPr id="6144" name="Text 57">
            <a:extLst>
              <a:ext uri="{FF2B5EF4-FFF2-40B4-BE49-F238E27FC236}">
                <a16:creationId xmlns:a16="http://schemas.microsoft.com/office/drawing/2014/main" id="{B0F70B85-13AF-A2D7-C373-CC39BEFA5495}"/>
              </a:ext>
            </a:extLst>
          </p:cNvPr>
          <p:cNvSpPr/>
          <p:nvPr/>
        </p:nvSpPr>
        <p:spPr>
          <a:xfrm>
            <a:off x="650807" y="4661132"/>
            <a:ext cx="484632" cy="274320"/>
          </a:xfrm>
          <a:prstGeom prst="rect">
            <a:avLst/>
          </a:prstGeom>
          <a:noFill/>
          <a:ln/>
        </p:spPr>
        <p:txBody>
          <a:bodyPr wrap="square" lIns="254" tIns="254" rIns="254" bIns="254" rtlCol="0" anchor="ctr">
            <a:normAutofit fontScale="85000" lnSpcReduction="20000"/>
          </a:bodyPr>
          <a:lstStyle/>
          <a:p>
            <a:pPr marL="0" indent="0" algn="l">
              <a:buNone/>
            </a:pPr>
            <a:r>
              <a:rPr lang="en-US" sz="1250" b="1" dirty="0">
                <a:solidFill>
                  <a:srgbClr val="002B68"/>
                </a:solidFill>
                <a:latin typeface="Microsoft YaHei" pitchFamily="34" charset="0"/>
                <a:ea typeface="Microsoft YaHei" pitchFamily="34" charset="-122"/>
                <a:cs typeface="Microsoft YaHei" pitchFamily="34" charset="-120"/>
              </a:rPr>
              <a:t>第四阶段</a:t>
            </a:r>
            <a:endParaRPr lang="en-US" sz="1250" dirty="0"/>
          </a:p>
        </p:txBody>
      </p:sp>
      <p:sp>
        <p:nvSpPr>
          <p:cNvPr id="6145" name="Text 58">
            <a:extLst>
              <a:ext uri="{FF2B5EF4-FFF2-40B4-BE49-F238E27FC236}">
                <a16:creationId xmlns:a16="http://schemas.microsoft.com/office/drawing/2014/main" id="{49B6C054-6F12-E01C-51A1-1B57F42DB5C9}"/>
              </a:ext>
            </a:extLst>
          </p:cNvPr>
          <p:cNvSpPr/>
          <p:nvPr/>
        </p:nvSpPr>
        <p:spPr>
          <a:xfrm>
            <a:off x="1318319" y="4688564"/>
            <a:ext cx="1106424" cy="274320"/>
          </a:xfrm>
          <a:prstGeom prst="rect">
            <a:avLst/>
          </a:prstGeom>
          <a:noFill/>
          <a:ln/>
        </p:spPr>
        <p:txBody>
          <a:bodyPr wrap="square" lIns="254" tIns="254" rIns="254" bIns="254" rtlCol="0" anchor="ctr">
            <a:normAutofit/>
          </a:bodyPr>
          <a:lstStyle/>
          <a:p>
            <a:pPr marL="0" indent="0" algn="ctr">
              <a:buNone/>
            </a:pPr>
            <a:r>
              <a:rPr lang="en-US" sz="1250" b="1" dirty="0">
                <a:solidFill>
                  <a:srgbClr val="1F5B8F"/>
                </a:solidFill>
                <a:latin typeface="Times New Roman" panose="02020603050405020304" pitchFamily="18" charset="0"/>
                <a:ea typeface="Microsoft YaHei" pitchFamily="34" charset="-122"/>
                <a:cs typeface="Times New Roman" panose="02020603050405020304" pitchFamily="18" charset="0"/>
              </a:rPr>
              <a:t>2026.10—12</a:t>
            </a:r>
            <a:endParaRPr lang="en-US" sz="1250" dirty="0">
              <a:latin typeface="Times New Roman" panose="02020603050405020304" pitchFamily="18" charset="0"/>
              <a:cs typeface="Times New Roman" panose="02020603050405020304" pitchFamily="18" charset="0"/>
            </a:endParaRPr>
          </a:p>
        </p:txBody>
      </p:sp>
      <p:sp>
        <p:nvSpPr>
          <p:cNvPr id="6147" name="Text 59">
            <a:extLst>
              <a:ext uri="{FF2B5EF4-FFF2-40B4-BE49-F238E27FC236}">
                <a16:creationId xmlns:a16="http://schemas.microsoft.com/office/drawing/2014/main" id="{6BE7D104-C50B-F47C-BB3E-0896FF491B28}"/>
              </a:ext>
            </a:extLst>
          </p:cNvPr>
          <p:cNvSpPr/>
          <p:nvPr/>
        </p:nvSpPr>
        <p:spPr>
          <a:xfrm>
            <a:off x="2680775" y="4578836"/>
            <a:ext cx="3611880" cy="457200"/>
          </a:xfrm>
          <a:prstGeom prst="rect">
            <a:avLst/>
          </a:prstGeom>
          <a:noFill/>
          <a:ln/>
        </p:spPr>
        <p:txBody>
          <a:bodyPr wrap="square" lIns="254" tIns="254" rIns="254" bIns="254" rtlCol="0" anchor="ctr">
            <a:normAutofit/>
          </a:bodyPr>
          <a:lstStyle/>
          <a:p>
            <a:pPr marL="0" indent="0" algn="l">
              <a:buNone/>
            </a:pPr>
            <a:r>
              <a:rPr lang="en-US" sz="1180" dirty="0">
                <a:solidFill>
                  <a:srgbClr val="222222"/>
                </a:solidFill>
                <a:latin typeface="Microsoft YaHei" pitchFamily="34" charset="0"/>
                <a:ea typeface="Microsoft YaHei" pitchFamily="34" charset="-122"/>
                <a:cs typeface="Microsoft YaHei" pitchFamily="34" charset="-120"/>
              </a:rPr>
              <a:t>研究碰撞检测、误报抑制与安全响应策略</a:t>
            </a:r>
            <a:endParaRPr lang="en-US" sz="1180" dirty="0"/>
          </a:p>
        </p:txBody>
      </p:sp>
      <p:sp>
        <p:nvSpPr>
          <p:cNvPr id="6149" name="Text 60">
            <a:extLst>
              <a:ext uri="{FF2B5EF4-FFF2-40B4-BE49-F238E27FC236}">
                <a16:creationId xmlns:a16="http://schemas.microsoft.com/office/drawing/2014/main" id="{0966611C-DD1B-974C-38BC-CAC2BE52101D}"/>
              </a:ext>
            </a:extLst>
          </p:cNvPr>
          <p:cNvSpPr/>
          <p:nvPr/>
        </p:nvSpPr>
        <p:spPr>
          <a:xfrm>
            <a:off x="6566975" y="4578836"/>
            <a:ext cx="2240280" cy="457200"/>
          </a:xfrm>
          <a:prstGeom prst="rect">
            <a:avLst/>
          </a:prstGeom>
          <a:noFill/>
          <a:ln/>
        </p:spPr>
        <p:txBody>
          <a:bodyPr wrap="square" lIns="254" tIns="254" rIns="254" bIns="254" rtlCol="0" anchor="ctr">
            <a:normAutofit/>
          </a:bodyPr>
          <a:lstStyle/>
          <a:p>
            <a:pPr marL="0" indent="0" algn="l">
              <a:buNone/>
            </a:pPr>
            <a:r>
              <a:rPr lang="en-US" sz="1180" dirty="0">
                <a:solidFill>
                  <a:srgbClr val="222222"/>
                </a:solidFill>
                <a:latin typeface="Microsoft YaHei" pitchFamily="34" charset="0"/>
                <a:ea typeface="Microsoft YaHei" pitchFamily="34" charset="-122"/>
                <a:cs typeface="Microsoft YaHei" pitchFamily="34" charset="-120"/>
              </a:rPr>
              <a:t>完成检测方法对比与实验验证</a:t>
            </a:r>
            <a:endParaRPr lang="en-US" sz="1180" dirty="0"/>
          </a:p>
        </p:txBody>
      </p:sp>
      <p:sp>
        <p:nvSpPr>
          <p:cNvPr id="6150" name="Shape 61">
            <a:extLst>
              <a:ext uri="{FF2B5EF4-FFF2-40B4-BE49-F238E27FC236}">
                <a16:creationId xmlns:a16="http://schemas.microsoft.com/office/drawing/2014/main" id="{DCF40BA0-F8C0-607B-7325-4D26CB86D5AD}"/>
              </a:ext>
            </a:extLst>
          </p:cNvPr>
          <p:cNvSpPr/>
          <p:nvPr/>
        </p:nvSpPr>
        <p:spPr>
          <a:xfrm>
            <a:off x="157031" y="5164052"/>
            <a:ext cx="8778240" cy="621792"/>
          </a:xfrm>
          <a:prstGeom prst="roundRect">
            <a:avLst>
              <a:gd name="adj" fmla="val 8088"/>
            </a:avLst>
          </a:prstGeom>
          <a:solidFill>
            <a:srgbClr val="FFFFFF"/>
          </a:solidFill>
          <a:ln w="12700">
            <a:solidFill>
              <a:srgbClr val="C8E0FA"/>
            </a:solidFill>
            <a:prstDash val="solid"/>
          </a:ln>
        </p:spPr>
      </p:sp>
      <p:sp>
        <p:nvSpPr>
          <p:cNvPr id="6151" name="Shape 62">
            <a:extLst>
              <a:ext uri="{FF2B5EF4-FFF2-40B4-BE49-F238E27FC236}">
                <a16:creationId xmlns:a16="http://schemas.microsoft.com/office/drawing/2014/main" id="{80587BB9-DCCF-50CF-F2FF-B4664754C6B5}"/>
              </a:ext>
            </a:extLst>
          </p:cNvPr>
          <p:cNvSpPr/>
          <p:nvPr/>
        </p:nvSpPr>
        <p:spPr>
          <a:xfrm>
            <a:off x="157031" y="5218916"/>
            <a:ext cx="54864" cy="512064"/>
          </a:xfrm>
          <a:prstGeom prst="rect">
            <a:avLst/>
          </a:prstGeom>
          <a:solidFill>
            <a:srgbClr val="6D7A90"/>
          </a:solidFill>
          <a:ln w="12700">
            <a:solidFill>
              <a:srgbClr val="6D7A90"/>
            </a:solidFill>
            <a:prstDash val="solid"/>
          </a:ln>
        </p:spPr>
      </p:sp>
      <p:sp>
        <p:nvSpPr>
          <p:cNvPr id="6152" name="Shape 63">
            <a:extLst>
              <a:ext uri="{FF2B5EF4-FFF2-40B4-BE49-F238E27FC236}">
                <a16:creationId xmlns:a16="http://schemas.microsoft.com/office/drawing/2014/main" id="{B4B2D8F0-41D5-DC71-C785-66A275BAC897}"/>
              </a:ext>
            </a:extLst>
          </p:cNvPr>
          <p:cNvSpPr/>
          <p:nvPr/>
        </p:nvSpPr>
        <p:spPr>
          <a:xfrm>
            <a:off x="1208591" y="5255492"/>
            <a:ext cx="0" cy="438912"/>
          </a:xfrm>
          <a:prstGeom prst="line">
            <a:avLst/>
          </a:prstGeom>
          <a:noFill/>
          <a:ln w="8890">
            <a:solidFill>
              <a:srgbClr val="C8E0FA">
                <a:alpha val="75000"/>
              </a:srgbClr>
            </a:solidFill>
            <a:prstDash val="solid"/>
          </a:ln>
        </p:spPr>
      </p:sp>
      <p:sp>
        <p:nvSpPr>
          <p:cNvPr id="6153" name="Shape 64">
            <a:extLst>
              <a:ext uri="{FF2B5EF4-FFF2-40B4-BE49-F238E27FC236}">
                <a16:creationId xmlns:a16="http://schemas.microsoft.com/office/drawing/2014/main" id="{700C4893-63A4-083F-B62C-C1E7F6D0274D}"/>
              </a:ext>
            </a:extLst>
          </p:cNvPr>
          <p:cNvSpPr/>
          <p:nvPr/>
        </p:nvSpPr>
        <p:spPr>
          <a:xfrm>
            <a:off x="2534471" y="5255492"/>
            <a:ext cx="0" cy="438912"/>
          </a:xfrm>
          <a:prstGeom prst="line">
            <a:avLst/>
          </a:prstGeom>
          <a:noFill/>
          <a:ln w="8890">
            <a:solidFill>
              <a:srgbClr val="C8E0FA">
                <a:alpha val="75000"/>
              </a:srgbClr>
            </a:solidFill>
            <a:prstDash val="solid"/>
          </a:ln>
        </p:spPr>
      </p:sp>
      <p:sp>
        <p:nvSpPr>
          <p:cNvPr id="6154" name="Shape 65">
            <a:extLst>
              <a:ext uri="{FF2B5EF4-FFF2-40B4-BE49-F238E27FC236}">
                <a16:creationId xmlns:a16="http://schemas.microsoft.com/office/drawing/2014/main" id="{B91DDE63-C971-A3CE-BF93-A35030E56947}"/>
              </a:ext>
            </a:extLst>
          </p:cNvPr>
          <p:cNvSpPr/>
          <p:nvPr/>
        </p:nvSpPr>
        <p:spPr>
          <a:xfrm>
            <a:off x="6420671" y="5255492"/>
            <a:ext cx="0" cy="438912"/>
          </a:xfrm>
          <a:prstGeom prst="line">
            <a:avLst/>
          </a:prstGeom>
          <a:noFill/>
          <a:ln w="8890">
            <a:solidFill>
              <a:srgbClr val="C8E0FA">
                <a:alpha val="75000"/>
              </a:srgbClr>
            </a:solidFill>
            <a:prstDash val="solid"/>
          </a:ln>
        </p:spPr>
      </p:sp>
      <p:sp>
        <p:nvSpPr>
          <p:cNvPr id="6155" name="Shape 66">
            <a:extLst>
              <a:ext uri="{FF2B5EF4-FFF2-40B4-BE49-F238E27FC236}">
                <a16:creationId xmlns:a16="http://schemas.microsoft.com/office/drawing/2014/main" id="{838FFA96-8230-192A-F79C-FAA81E61324F}"/>
              </a:ext>
            </a:extLst>
          </p:cNvPr>
          <p:cNvSpPr/>
          <p:nvPr/>
        </p:nvSpPr>
        <p:spPr>
          <a:xfrm>
            <a:off x="303335" y="5328644"/>
            <a:ext cx="310896" cy="310896"/>
          </a:xfrm>
          <a:prstGeom prst="ellipse">
            <a:avLst/>
          </a:prstGeom>
          <a:solidFill>
            <a:srgbClr val="6D7A90"/>
          </a:solidFill>
          <a:ln w="12700">
            <a:solidFill>
              <a:srgbClr val="6D7A90"/>
            </a:solidFill>
            <a:prstDash val="solid"/>
          </a:ln>
        </p:spPr>
      </p:sp>
      <p:sp>
        <p:nvSpPr>
          <p:cNvPr id="6156" name="Text 67">
            <a:extLst>
              <a:ext uri="{FF2B5EF4-FFF2-40B4-BE49-F238E27FC236}">
                <a16:creationId xmlns:a16="http://schemas.microsoft.com/office/drawing/2014/main" id="{87A1D4F9-88C4-D2C4-57B3-82DB9D954425}"/>
              </a:ext>
            </a:extLst>
          </p:cNvPr>
          <p:cNvSpPr/>
          <p:nvPr/>
        </p:nvSpPr>
        <p:spPr>
          <a:xfrm>
            <a:off x="303335" y="5356076"/>
            <a:ext cx="310896" cy="201168"/>
          </a:xfrm>
          <a:prstGeom prst="rect">
            <a:avLst/>
          </a:prstGeom>
          <a:noFill/>
          <a:ln/>
        </p:spPr>
        <p:txBody>
          <a:bodyPr wrap="square" lIns="254" tIns="254" rIns="254" bIns="254" rtlCol="0" anchor="ctr">
            <a:normAutofit/>
          </a:bodyPr>
          <a:lstStyle/>
          <a:p>
            <a:pPr marL="0" indent="0" algn="ctr">
              <a:buNone/>
            </a:pPr>
            <a:r>
              <a:rPr lang="en-US" sz="1250" b="1" dirty="0">
                <a:solidFill>
                  <a:srgbClr val="FFFFFF"/>
                </a:solidFill>
                <a:latin typeface="Microsoft YaHei" pitchFamily="34" charset="0"/>
                <a:ea typeface="Microsoft YaHei" pitchFamily="34" charset="-122"/>
                <a:cs typeface="Microsoft YaHei" pitchFamily="34" charset="-120"/>
              </a:rPr>
              <a:t>05</a:t>
            </a:r>
            <a:endParaRPr lang="en-US" sz="1250" dirty="0"/>
          </a:p>
        </p:txBody>
      </p:sp>
      <p:sp>
        <p:nvSpPr>
          <p:cNvPr id="6157" name="Text 68">
            <a:extLst>
              <a:ext uri="{FF2B5EF4-FFF2-40B4-BE49-F238E27FC236}">
                <a16:creationId xmlns:a16="http://schemas.microsoft.com/office/drawing/2014/main" id="{3739D51B-FEF7-C9EC-9F2F-3279644667FA}"/>
              </a:ext>
            </a:extLst>
          </p:cNvPr>
          <p:cNvSpPr/>
          <p:nvPr/>
        </p:nvSpPr>
        <p:spPr>
          <a:xfrm>
            <a:off x="650807" y="5346932"/>
            <a:ext cx="484632" cy="274320"/>
          </a:xfrm>
          <a:prstGeom prst="rect">
            <a:avLst/>
          </a:prstGeom>
          <a:noFill/>
          <a:ln/>
        </p:spPr>
        <p:txBody>
          <a:bodyPr wrap="square" lIns="254" tIns="254" rIns="254" bIns="254" rtlCol="0" anchor="ctr">
            <a:normAutofit fontScale="85000" lnSpcReduction="20000"/>
          </a:bodyPr>
          <a:lstStyle/>
          <a:p>
            <a:pPr marL="0" indent="0" algn="l">
              <a:buNone/>
            </a:pPr>
            <a:r>
              <a:rPr lang="en-US" sz="1250" b="1" dirty="0">
                <a:solidFill>
                  <a:srgbClr val="002B68"/>
                </a:solidFill>
                <a:latin typeface="Microsoft YaHei" pitchFamily="34" charset="0"/>
                <a:ea typeface="Microsoft YaHei" pitchFamily="34" charset="-122"/>
                <a:cs typeface="Microsoft YaHei" pitchFamily="34" charset="-120"/>
              </a:rPr>
              <a:t>第五阶段</a:t>
            </a:r>
            <a:endParaRPr lang="en-US" sz="1250" dirty="0"/>
          </a:p>
        </p:txBody>
      </p:sp>
      <p:sp>
        <p:nvSpPr>
          <p:cNvPr id="6158" name="Text 69">
            <a:extLst>
              <a:ext uri="{FF2B5EF4-FFF2-40B4-BE49-F238E27FC236}">
                <a16:creationId xmlns:a16="http://schemas.microsoft.com/office/drawing/2014/main" id="{7B3B41E9-C5FA-59D4-B59E-C85416D6CC87}"/>
              </a:ext>
            </a:extLst>
          </p:cNvPr>
          <p:cNvSpPr/>
          <p:nvPr/>
        </p:nvSpPr>
        <p:spPr>
          <a:xfrm>
            <a:off x="1318319" y="5374364"/>
            <a:ext cx="1106424" cy="274320"/>
          </a:xfrm>
          <a:prstGeom prst="rect">
            <a:avLst/>
          </a:prstGeom>
          <a:noFill/>
          <a:ln/>
        </p:spPr>
        <p:txBody>
          <a:bodyPr wrap="square" lIns="254" tIns="254" rIns="254" bIns="254" rtlCol="0" anchor="ctr">
            <a:normAutofit fontScale="85000" lnSpcReduction="10000"/>
          </a:bodyPr>
          <a:lstStyle/>
          <a:p>
            <a:pPr marL="0" indent="0" algn="ctr">
              <a:buNone/>
            </a:pPr>
            <a:r>
              <a:rPr lang="en-US" sz="1250" b="1" dirty="0">
                <a:solidFill>
                  <a:srgbClr val="1F5B8F"/>
                </a:solidFill>
                <a:latin typeface="Times New Roman" panose="02020603050405020304" pitchFamily="18" charset="0"/>
                <a:ea typeface="Microsoft YaHei" pitchFamily="34" charset="-122"/>
                <a:cs typeface="Times New Roman" panose="02020603050405020304" pitchFamily="18" charset="0"/>
              </a:rPr>
              <a:t>2026.12—2027.03</a:t>
            </a:r>
            <a:endParaRPr lang="en-US" sz="1250" dirty="0">
              <a:latin typeface="Times New Roman" panose="02020603050405020304" pitchFamily="18" charset="0"/>
              <a:cs typeface="Times New Roman" panose="02020603050405020304" pitchFamily="18" charset="0"/>
            </a:endParaRPr>
          </a:p>
        </p:txBody>
      </p:sp>
      <p:sp>
        <p:nvSpPr>
          <p:cNvPr id="6159" name="Text 70">
            <a:extLst>
              <a:ext uri="{FF2B5EF4-FFF2-40B4-BE49-F238E27FC236}">
                <a16:creationId xmlns:a16="http://schemas.microsoft.com/office/drawing/2014/main" id="{C90721F5-EF6F-3DE2-1C91-08FFAF25E032}"/>
              </a:ext>
            </a:extLst>
          </p:cNvPr>
          <p:cNvSpPr/>
          <p:nvPr/>
        </p:nvSpPr>
        <p:spPr>
          <a:xfrm>
            <a:off x="2680775" y="5264636"/>
            <a:ext cx="3611880" cy="457200"/>
          </a:xfrm>
          <a:prstGeom prst="rect">
            <a:avLst/>
          </a:prstGeom>
          <a:noFill/>
          <a:ln/>
        </p:spPr>
        <p:txBody>
          <a:bodyPr wrap="square" lIns="254" tIns="254" rIns="254" bIns="254" rtlCol="0" anchor="ctr">
            <a:normAutofit/>
          </a:bodyPr>
          <a:lstStyle/>
          <a:p>
            <a:pPr marL="0" indent="0" algn="l">
              <a:buNone/>
            </a:pPr>
            <a:r>
              <a:rPr lang="en-US" sz="1180" dirty="0">
                <a:solidFill>
                  <a:srgbClr val="222222"/>
                </a:solidFill>
                <a:latin typeface="Microsoft YaHei" pitchFamily="34" charset="0"/>
                <a:ea typeface="Microsoft YaHei" pitchFamily="34" charset="-122"/>
                <a:cs typeface="Microsoft YaHei" pitchFamily="34" charset="-120"/>
              </a:rPr>
              <a:t>系统集成、实验对比、论文撰写与修改</a:t>
            </a:r>
            <a:endParaRPr lang="en-US" sz="1180" dirty="0"/>
          </a:p>
        </p:txBody>
      </p:sp>
      <p:sp>
        <p:nvSpPr>
          <p:cNvPr id="6160" name="Text 71">
            <a:extLst>
              <a:ext uri="{FF2B5EF4-FFF2-40B4-BE49-F238E27FC236}">
                <a16:creationId xmlns:a16="http://schemas.microsoft.com/office/drawing/2014/main" id="{BCDB34EF-53E2-036A-2FEA-8AEB9BC1B23E}"/>
              </a:ext>
            </a:extLst>
          </p:cNvPr>
          <p:cNvSpPr/>
          <p:nvPr/>
        </p:nvSpPr>
        <p:spPr>
          <a:xfrm>
            <a:off x="6566975" y="5264636"/>
            <a:ext cx="2240280" cy="457200"/>
          </a:xfrm>
          <a:prstGeom prst="rect">
            <a:avLst/>
          </a:prstGeom>
          <a:noFill/>
          <a:ln/>
        </p:spPr>
        <p:txBody>
          <a:bodyPr wrap="square" lIns="254" tIns="254" rIns="254" bIns="254" rtlCol="0" anchor="ctr">
            <a:normAutofit/>
          </a:bodyPr>
          <a:lstStyle/>
          <a:p>
            <a:pPr marL="0" indent="0" algn="l">
              <a:buNone/>
            </a:pPr>
            <a:r>
              <a:rPr lang="en-US" sz="1180" dirty="0">
                <a:solidFill>
                  <a:srgbClr val="222222"/>
                </a:solidFill>
                <a:latin typeface="Microsoft YaHei" pitchFamily="34" charset="0"/>
                <a:ea typeface="Microsoft YaHei" pitchFamily="34" charset="-122"/>
                <a:cs typeface="Microsoft YaHei" pitchFamily="34" charset="-120"/>
              </a:rPr>
              <a:t>完成学位论文与答辩材料</a:t>
            </a:r>
            <a:endParaRPr lang="en-US" sz="1180" dirty="0"/>
          </a:p>
        </p:txBody>
      </p:sp>
      <p:sp>
        <p:nvSpPr>
          <p:cNvPr id="6161" name="Shape 72">
            <a:extLst>
              <a:ext uri="{FF2B5EF4-FFF2-40B4-BE49-F238E27FC236}">
                <a16:creationId xmlns:a16="http://schemas.microsoft.com/office/drawing/2014/main" id="{1D67DC90-CA93-96F3-F3F3-12684698503E}"/>
              </a:ext>
            </a:extLst>
          </p:cNvPr>
          <p:cNvSpPr/>
          <p:nvPr/>
        </p:nvSpPr>
        <p:spPr>
          <a:xfrm>
            <a:off x="157031" y="5990755"/>
            <a:ext cx="8503920" cy="411480"/>
          </a:xfrm>
          <a:prstGeom prst="roundRect">
            <a:avLst>
              <a:gd name="adj" fmla="val 17778"/>
            </a:avLst>
          </a:prstGeom>
          <a:solidFill>
            <a:srgbClr val="EAF4FF"/>
          </a:solidFill>
          <a:ln w="12700">
            <a:solidFill>
              <a:srgbClr val="C8E0FA"/>
            </a:solidFill>
            <a:prstDash val="solid"/>
          </a:ln>
        </p:spPr>
      </p:sp>
      <p:sp>
        <p:nvSpPr>
          <p:cNvPr id="6162" name="Text 73">
            <a:extLst>
              <a:ext uri="{FF2B5EF4-FFF2-40B4-BE49-F238E27FC236}">
                <a16:creationId xmlns:a16="http://schemas.microsoft.com/office/drawing/2014/main" id="{EE4723BD-D230-267C-91DC-71E4E92AC5E3}"/>
              </a:ext>
            </a:extLst>
          </p:cNvPr>
          <p:cNvSpPr/>
          <p:nvPr/>
        </p:nvSpPr>
        <p:spPr>
          <a:xfrm>
            <a:off x="477071" y="6082195"/>
            <a:ext cx="7863840" cy="237744"/>
          </a:xfrm>
          <a:prstGeom prst="rect">
            <a:avLst/>
          </a:prstGeom>
          <a:noFill/>
          <a:ln/>
        </p:spPr>
        <p:txBody>
          <a:bodyPr wrap="square" lIns="254" tIns="254" rIns="254" bIns="254" rtlCol="0" anchor="ctr">
            <a:normAutofit lnSpcReduction="10000"/>
          </a:bodyPr>
          <a:lstStyle/>
          <a:p>
            <a:pPr marL="0" indent="0" algn="ctr">
              <a:buNone/>
            </a:pPr>
            <a:r>
              <a:rPr lang="en-US" sz="1650" b="1" dirty="0">
                <a:solidFill>
                  <a:srgbClr val="002B68"/>
                </a:solidFill>
                <a:latin typeface="Microsoft YaHei" pitchFamily="34" charset="0"/>
                <a:ea typeface="Microsoft YaHei" pitchFamily="34" charset="-122"/>
                <a:cs typeface="Microsoft YaHei" pitchFamily="34" charset="-120"/>
              </a:rPr>
              <a:t>阶段成果：开题方案 → 辨识模型 → 控制验证 → 检测验证 → 论文定稿</a:t>
            </a:r>
            <a:endParaRPr lang="en-US" sz="1650" dirty="0"/>
          </a:p>
        </p:txBody>
      </p:sp>
      <p:sp>
        <p:nvSpPr>
          <p:cNvPr id="6167" name="文本框 6166">
            <a:extLst>
              <a:ext uri="{FF2B5EF4-FFF2-40B4-BE49-F238E27FC236}">
                <a16:creationId xmlns:a16="http://schemas.microsoft.com/office/drawing/2014/main" id="{17FFB7F5-1EBB-D412-37DB-8CBDD9D05D49}"/>
              </a:ext>
            </a:extLst>
          </p:cNvPr>
          <p:cNvSpPr txBox="1"/>
          <p:nvPr/>
        </p:nvSpPr>
        <p:spPr>
          <a:xfrm>
            <a:off x="187898" y="957930"/>
            <a:ext cx="8924232" cy="960776"/>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en-US" altLang="zh-CN" sz="2000" dirty="0" err="1">
                <a:solidFill>
                  <a:srgbClr val="000000"/>
                </a:solidFill>
                <a:latin typeface="Microsoft YaHei" pitchFamily="34" charset="0"/>
                <a:ea typeface="Microsoft YaHei" pitchFamily="34" charset="-122"/>
                <a:cs typeface="Microsoft YaHei" pitchFamily="34" charset="-120"/>
              </a:rPr>
              <a:t>按照“模型辨识</a:t>
            </a:r>
            <a:r>
              <a:rPr lang="en-US" altLang="zh-CN" sz="2000" dirty="0">
                <a:solidFill>
                  <a:srgbClr val="000000"/>
                </a:solidFill>
                <a:latin typeface="Microsoft YaHei" pitchFamily="34" charset="0"/>
                <a:ea typeface="Microsoft YaHei" pitchFamily="34" charset="-122"/>
                <a:cs typeface="Microsoft YaHei" pitchFamily="34" charset="-120"/>
              </a:rPr>
              <a:t> → </a:t>
            </a:r>
            <a:r>
              <a:rPr lang="en-US" altLang="zh-CN" sz="2000" dirty="0" err="1">
                <a:solidFill>
                  <a:srgbClr val="000000"/>
                </a:solidFill>
                <a:latin typeface="Microsoft YaHei" pitchFamily="34" charset="0"/>
                <a:ea typeface="Microsoft YaHei" pitchFamily="34" charset="-122"/>
                <a:cs typeface="Microsoft YaHei" pitchFamily="34" charset="-120"/>
              </a:rPr>
              <a:t>控制方法</a:t>
            </a:r>
            <a:r>
              <a:rPr lang="en-US" altLang="zh-CN" sz="2000" dirty="0">
                <a:solidFill>
                  <a:srgbClr val="000000"/>
                </a:solidFill>
                <a:latin typeface="Microsoft YaHei" pitchFamily="34" charset="0"/>
                <a:ea typeface="Microsoft YaHei" pitchFamily="34" charset="-122"/>
                <a:cs typeface="Microsoft YaHei" pitchFamily="34" charset="-120"/>
              </a:rPr>
              <a:t> → </a:t>
            </a:r>
            <a:r>
              <a:rPr lang="en-US" altLang="zh-CN" sz="2000" dirty="0" err="1">
                <a:solidFill>
                  <a:srgbClr val="000000"/>
                </a:solidFill>
                <a:latin typeface="Microsoft YaHei" pitchFamily="34" charset="0"/>
                <a:ea typeface="Microsoft YaHei" pitchFamily="34" charset="-122"/>
                <a:cs typeface="Microsoft YaHei" pitchFamily="34" charset="-120"/>
              </a:rPr>
              <a:t>碰撞检测</a:t>
            </a:r>
            <a:r>
              <a:rPr lang="en-US" altLang="zh-CN" sz="2000" dirty="0">
                <a:solidFill>
                  <a:srgbClr val="000000"/>
                </a:solidFill>
                <a:latin typeface="Microsoft YaHei" pitchFamily="34" charset="0"/>
                <a:ea typeface="Microsoft YaHei" pitchFamily="34" charset="-122"/>
                <a:cs typeface="Microsoft YaHei" pitchFamily="34" charset="-120"/>
              </a:rPr>
              <a:t> → </a:t>
            </a:r>
            <a:r>
              <a:rPr lang="en-US" altLang="zh-CN" sz="2000" dirty="0" err="1">
                <a:solidFill>
                  <a:srgbClr val="000000"/>
                </a:solidFill>
                <a:latin typeface="Microsoft YaHei" pitchFamily="34" charset="0"/>
                <a:ea typeface="Microsoft YaHei" pitchFamily="34" charset="-122"/>
                <a:cs typeface="Microsoft YaHei" pitchFamily="34" charset="-120"/>
              </a:rPr>
              <a:t>系统验证</a:t>
            </a:r>
            <a:r>
              <a:rPr lang="en-US" altLang="zh-CN" sz="2000" dirty="0">
                <a:solidFill>
                  <a:srgbClr val="000000"/>
                </a:solidFill>
                <a:latin typeface="Microsoft YaHei" pitchFamily="34" charset="0"/>
                <a:ea typeface="Microsoft YaHei" pitchFamily="34" charset="-122"/>
                <a:cs typeface="Microsoft YaHei" pitchFamily="34" charset="-120"/>
              </a:rPr>
              <a:t> → </a:t>
            </a:r>
            <a:r>
              <a:rPr lang="en-US" altLang="zh-CN" sz="2000" dirty="0" err="1">
                <a:solidFill>
                  <a:srgbClr val="000000"/>
                </a:solidFill>
                <a:latin typeface="Microsoft YaHei" pitchFamily="34" charset="0"/>
                <a:ea typeface="Microsoft YaHei" pitchFamily="34" charset="-122"/>
                <a:cs typeface="Microsoft YaHei" pitchFamily="34" charset="-120"/>
              </a:rPr>
              <a:t>论文撰写”的顺序推进课题研究</a:t>
            </a:r>
            <a:r>
              <a:rPr lang="en-US" altLang="zh-CN" sz="2000" dirty="0">
                <a:solidFill>
                  <a:srgbClr val="000000"/>
                </a:solidFill>
                <a:latin typeface="Microsoft YaHei" pitchFamily="34" charset="0"/>
                <a:ea typeface="Microsoft YaHei" pitchFamily="34" charset="-122"/>
                <a:cs typeface="Microsoft YaHei" pitchFamily="34" charset="-120"/>
              </a:rPr>
              <a:t>。</a:t>
            </a:r>
            <a:endParaRPr lang="en-US" altLang="zh-CN" sz="2000" dirty="0"/>
          </a:p>
        </p:txBody>
      </p:sp>
    </p:spTree>
    <p:extLst>
      <p:ext uri="{BB962C8B-B14F-4D97-AF65-F5344CB8AC3E}">
        <p14:creationId xmlns:p14="http://schemas.microsoft.com/office/powerpoint/2010/main" val="735656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9AA38-2E9B-3C1B-D13C-8DD2038F9649}"/>
            </a:ext>
          </a:extLst>
        </p:cNvPr>
        <p:cNvGrpSpPr/>
        <p:nvPr/>
      </p:nvGrpSpPr>
      <p:grpSpPr>
        <a:xfrm>
          <a:off x="0" y="0"/>
          <a:ext cx="0" cy="0"/>
          <a:chOff x="0" y="0"/>
          <a:chExt cx="0" cy="0"/>
        </a:xfrm>
      </p:grpSpPr>
      <p:sp>
        <p:nvSpPr>
          <p:cNvPr id="6146" name="Rectangle 8">
            <a:extLst>
              <a:ext uri="{FF2B5EF4-FFF2-40B4-BE49-F238E27FC236}">
                <a16:creationId xmlns:a16="http://schemas.microsoft.com/office/drawing/2014/main" id="{73682F72-52DF-209C-201C-3760AFE35C5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endParaRPr kumimoji="1" lang="zh-CN" altLang="en-US" sz="2400" b="1">
              <a:latin typeface="Gulim" panose="020B0600000101010101" pitchFamily="34" charset="-127"/>
              <a:ea typeface="Gulim" panose="020B0600000101010101" pitchFamily="34" charset="-127"/>
            </a:endParaRPr>
          </a:p>
        </p:txBody>
      </p:sp>
      <p:sp>
        <p:nvSpPr>
          <p:cNvPr id="6148" name="矩形 5">
            <a:extLst>
              <a:ext uri="{FF2B5EF4-FFF2-40B4-BE49-F238E27FC236}">
                <a16:creationId xmlns:a16="http://schemas.microsoft.com/office/drawing/2014/main" id="{F7D35511-BE2C-6F68-D31B-A607F36C7D53}"/>
              </a:ext>
            </a:extLst>
          </p:cNvPr>
          <p:cNvSpPr>
            <a:spLocks noChangeArrowheads="1"/>
          </p:cNvSpPr>
          <p:nvPr/>
        </p:nvSpPr>
        <p:spPr bwMode="auto">
          <a:xfrm>
            <a:off x="187899" y="3044971"/>
            <a:ext cx="87763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第二次组会汇报</a:t>
            </a:r>
          </a:p>
        </p:txBody>
      </p:sp>
      <p:sp>
        <p:nvSpPr>
          <p:cNvPr id="3" name="矩形 2">
            <a:extLst>
              <a:ext uri="{FF2B5EF4-FFF2-40B4-BE49-F238E27FC236}">
                <a16:creationId xmlns:a16="http://schemas.microsoft.com/office/drawing/2014/main" id="{F97A6BAD-FE03-1F8E-3484-F312F79DE48C}"/>
              </a:ext>
            </a:extLst>
          </p:cNvPr>
          <p:cNvSpPr/>
          <p:nvPr/>
        </p:nvSpPr>
        <p:spPr>
          <a:xfrm>
            <a:off x="-8157" y="0"/>
            <a:ext cx="9152157" cy="3416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4" name="矩形 3">
            <a:extLst>
              <a:ext uri="{FF2B5EF4-FFF2-40B4-BE49-F238E27FC236}">
                <a16:creationId xmlns:a16="http://schemas.microsoft.com/office/drawing/2014/main" id="{A47495EE-E8D5-4BD6-D81B-BE7BD864A16E}"/>
              </a:ext>
            </a:extLst>
          </p:cNvPr>
          <p:cNvSpPr/>
          <p:nvPr/>
        </p:nvSpPr>
        <p:spPr>
          <a:xfrm>
            <a:off x="-8157" y="340793"/>
            <a:ext cx="9152156" cy="5847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5D98"/>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31FE2BBA-0204-0DED-998B-21DA85B6026F}"/>
              </a:ext>
            </a:extLst>
          </p:cNvPr>
          <p:cNvSpPr txBox="1"/>
          <p:nvPr/>
        </p:nvSpPr>
        <p:spPr>
          <a:xfrm>
            <a:off x="1633538" y="404813"/>
            <a:ext cx="5876924" cy="46166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400" b="1" dirty="0">
                <a:solidFill>
                  <a:prstClr val="black">
                    <a:lumMod val="85000"/>
                    <a:lumOff val="15000"/>
                  </a:prstClr>
                </a:solidFill>
                <a:latin typeface="微软雅黑" panose="020B0503020204020204" pitchFamily="34" charset="-122"/>
                <a:ea typeface="微软雅黑" panose="020B0503020204020204" pitchFamily="34" charset="-122"/>
              </a:rPr>
              <a:t>开题答辩</a:t>
            </a:r>
            <a:endParaRPr kumimoji="0" lang="zh-CN" altLang="en-US" sz="24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矩形: 圆角 6">
            <a:extLst>
              <a:ext uri="{FF2B5EF4-FFF2-40B4-BE49-F238E27FC236}">
                <a16:creationId xmlns:a16="http://schemas.microsoft.com/office/drawing/2014/main" id="{F5089A91-DDFE-F339-BDC0-5BDCAF0A35E9}"/>
              </a:ext>
            </a:extLst>
          </p:cNvPr>
          <p:cNvSpPr/>
          <p:nvPr/>
        </p:nvSpPr>
        <p:spPr>
          <a:xfrm>
            <a:off x="552752" y="1539961"/>
            <a:ext cx="8038496" cy="2235138"/>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a:extLst>
              <a:ext uri="{FF2B5EF4-FFF2-40B4-BE49-F238E27FC236}">
                <a16:creationId xmlns:a16="http://schemas.microsoft.com/office/drawing/2014/main" id="{4178363E-FBFC-EFD0-9271-A2F69D13275C}"/>
              </a:ext>
            </a:extLst>
          </p:cNvPr>
          <p:cNvSpPr txBox="1">
            <a:spLocks/>
          </p:cNvSpPr>
          <p:nvPr/>
        </p:nvSpPr>
        <p:spPr>
          <a:xfrm>
            <a:off x="1707366" y="2461024"/>
            <a:ext cx="5721109" cy="58477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600" b="1" kern="1200">
                <a:solidFill>
                  <a:schemeClr val="bg1"/>
                </a:solidFill>
                <a:latin typeface="+mn-ea"/>
                <a:ea typeface="+mn-ea"/>
                <a:cs typeface="+mj-cs"/>
              </a:defRPr>
            </a:lvl1pPr>
          </a:lstStyle>
          <a:p>
            <a:pPr>
              <a:lnSpc>
                <a:spcPct val="100000"/>
              </a:lnSpc>
            </a:pPr>
            <a:r>
              <a:rPr lang="zh-CN" altLang="en-US" sz="4000" dirty="0">
                <a:latin typeface="微软雅黑" panose="020B0503020204020204" pitchFamily="34" charset="-122"/>
                <a:ea typeface="微软雅黑" panose="020B0503020204020204" pitchFamily="34" charset="-122"/>
              </a:rPr>
              <a:t>感谢各位老师批评指正</a:t>
            </a:r>
          </a:p>
        </p:txBody>
      </p:sp>
      <p:sp>
        <p:nvSpPr>
          <p:cNvPr id="21" name="矩形 20">
            <a:extLst>
              <a:ext uri="{FF2B5EF4-FFF2-40B4-BE49-F238E27FC236}">
                <a16:creationId xmlns:a16="http://schemas.microsoft.com/office/drawing/2014/main" id="{C3744269-621C-9822-8100-32E8AA32B8E0}"/>
              </a:ext>
            </a:extLst>
          </p:cNvPr>
          <p:cNvSpPr/>
          <p:nvPr/>
        </p:nvSpPr>
        <p:spPr>
          <a:xfrm>
            <a:off x="6583680" y="6624636"/>
            <a:ext cx="2560320" cy="2333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rgbClr val="005D98"/>
                </a:solidFill>
                <a:latin typeface="Times New Roman" panose="02020603050405020304" pitchFamily="18" charset="0"/>
                <a:cs typeface="Times New Roman" panose="02020603050405020304" pitchFamily="18" charset="0"/>
              </a:rPr>
              <a:t>2026/04/27      13/13</a:t>
            </a:r>
            <a:endParaRPr lang="zh-CN" altLang="en-US" dirty="0">
              <a:solidFill>
                <a:srgbClr val="005D98"/>
              </a:solidFill>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546646E2-DF84-5CCD-7123-B96F2CD8E4D6}"/>
              </a:ext>
            </a:extLst>
          </p:cNvPr>
          <p:cNvSpPr/>
          <p:nvPr/>
        </p:nvSpPr>
        <p:spPr>
          <a:xfrm>
            <a:off x="0" y="6624637"/>
            <a:ext cx="2560320" cy="23336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张世杰</a:t>
            </a:r>
          </a:p>
        </p:txBody>
      </p:sp>
      <p:sp>
        <p:nvSpPr>
          <p:cNvPr id="23" name="矩形 22">
            <a:extLst>
              <a:ext uri="{FF2B5EF4-FFF2-40B4-BE49-F238E27FC236}">
                <a16:creationId xmlns:a16="http://schemas.microsoft.com/office/drawing/2014/main" id="{9BA6D66C-146C-FF97-E931-98292A79CD08}"/>
              </a:ext>
            </a:extLst>
          </p:cNvPr>
          <p:cNvSpPr/>
          <p:nvPr/>
        </p:nvSpPr>
        <p:spPr>
          <a:xfrm>
            <a:off x="2560320" y="6624637"/>
            <a:ext cx="4023360" cy="2333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rgbClr val="005D98"/>
                </a:solidFill>
                <a:latin typeface="微软雅黑" panose="020B0503020204020204" pitchFamily="34" charset="-122"/>
                <a:ea typeface="微软雅黑" panose="020B0503020204020204" pitchFamily="34" charset="-122"/>
              </a:rPr>
              <a:t>冗余机械臂柔顺控制与安全交互研究</a:t>
            </a:r>
          </a:p>
        </p:txBody>
      </p:sp>
      <p:sp>
        <p:nvSpPr>
          <p:cNvPr id="2" name="文本框 1">
            <a:extLst>
              <a:ext uri="{FF2B5EF4-FFF2-40B4-BE49-F238E27FC236}">
                <a16:creationId xmlns:a16="http://schemas.microsoft.com/office/drawing/2014/main" id="{21CEFB6A-A8B0-59F4-7D65-C2D1D8FBC294}"/>
              </a:ext>
            </a:extLst>
          </p:cNvPr>
          <p:cNvSpPr txBox="1"/>
          <p:nvPr/>
        </p:nvSpPr>
        <p:spPr>
          <a:xfrm>
            <a:off x="2564396" y="4282665"/>
            <a:ext cx="4023359" cy="1689052"/>
          </a:xfrm>
          <a:prstGeom prst="rect">
            <a:avLst/>
          </a:prstGeom>
          <a:noFill/>
        </p:spPr>
        <p:txBody>
          <a:bodyPr wrap="square" rtlCol="0">
            <a:spAutoFit/>
          </a:bodyPr>
          <a:lstStyle/>
          <a:p>
            <a:pPr algn="ctr" eaLnBrk="1" fontAlgn="auto" hangingPunct="1">
              <a:lnSpc>
                <a:spcPct val="150000"/>
              </a:lnSpc>
              <a:spcBef>
                <a:spcPts val="0"/>
              </a:spcBef>
              <a:spcAft>
                <a:spcPts val="0"/>
              </a:spcAft>
            </a:pPr>
            <a:r>
              <a:rPr lang="zh-CN" altLang="en-US" sz="2400" dirty="0">
                <a:solidFill>
                  <a:prstClr val="black"/>
                </a:solidFill>
                <a:latin typeface="微软雅黑" panose="020B0503020204020204" pitchFamily="34" charset="-122"/>
                <a:ea typeface="微软雅黑" panose="020B0503020204020204" pitchFamily="34" charset="-122"/>
              </a:rPr>
              <a:t>汇报人：张世杰 </a:t>
            </a:r>
            <a:endParaRPr lang="en-US" altLang="zh-CN" sz="2400" dirty="0">
              <a:solidFill>
                <a:prstClr val="black"/>
              </a:solidFill>
              <a:latin typeface="微软雅黑" panose="020B0503020204020204" pitchFamily="34" charset="-122"/>
              <a:ea typeface="微软雅黑" panose="020B0503020204020204" pitchFamily="34" charset="-122"/>
            </a:endParaRPr>
          </a:p>
          <a:p>
            <a:pPr algn="ctr" eaLnBrk="1" fontAlgn="auto" hangingPunct="1">
              <a:lnSpc>
                <a:spcPct val="150000"/>
              </a:lnSpc>
              <a:spcBef>
                <a:spcPts val="0"/>
              </a:spcBef>
              <a:spcAft>
                <a:spcPts val="0"/>
              </a:spcAft>
            </a:pPr>
            <a:r>
              <a:rPr lang="zh-CN" altLang="en-US" sz="2400" dirty="0">
                <a:solidFill>
                  <a:prstClr val="black"/>
                </a:solidFill>
                <a:latin typeface="微软雅黑" panose="020B0503020204020204" pitchFamily="34" charset="-122"/>
                <a:ea typeface="微软雅黑" panose="020B0503020204020204" pitchFamily="34" charset="-122"/>
              </a:rPr>
              <a:t>指导老师：杨超</a:t>
            </a:r>
            <a:endParaRPr lang="en-US" altLang="zh-CN" sz="2400" dirty="0">
              <a:solidFill>
                <a:prstClr val="black"/>
              </a:solidFill>
              <a:latin typeface="微软雅黑" panose="020B0503020204020204" pitchFamily="34" charset="-122"/>
              <a:ea typeface="微软雅黑" panose="020B0503020204020204" pitchFamily="34" charset="-122"/>
            </a:endParaRPr>
          </a:p>
          <a:p>
            <a:pPr algn="ctr" eaLnBrk="1" fontAlgn="auto" hangingPunct="1">
              <a:lnSpc>
                <a:spcPct val="150000"/>
              </a:lnSpc>
              <a:spcBef>
                <a:spcPts val="0"/>
              </a:spcBef>
              <a:spcAft>
                <a:spcPts val="0"/>
              </a:spcAft>
            </a:pPr>
            <a:r>
              <a:rPr lang="zh-CN" altLang="en-US" sz="2400" dirty="0">
                <a:solidFill>
                  <a:prstClr val="black"/>
                </a:solidFill>
                <a:latin typeface="微软雅黑" panose="020B0503020204020204" pitchFamily="34" charset="-122"/>
                <a:ea typeface="微软雅黑" panose="020B0503020204020204" pitchFamily="34" charset="-122"/>
              </a:rPr>
              <a:t>学科专业：控制工程</a:t>
            </a:r>
          </a:p>
        </p:txBody>
      </p:sp>
    </p:spTree>
    <p:extLst>
      <p:ext uri="{BB962C8B-B14F-4D97-AF65-F5344CB8AC3E}">
        <p14:creationId xmlns:p14="http://schemas.microsoft.com/office/powerpoint/2010/main" val="569983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DYwZTJjNzUyYmI4MDVlNmU3YzBjOWNiNmZiNzQ4ZjIifQ=="/>
</p:tagLst>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txDef>
      <a:spPr bwMode="auto">
        <a:solidFill>
          <a:schemeClr val="accent1"/>
        </a:solidFill>
        <a:ln w="9525">
          <a:noFill/>
          <a:miter lim="800000"/>
        </a:ln>
      </a:spPr>
      <a:bodyPr wrap="square">
        <a:spAutoFit/>
      </a:bodyPr>
      <a:lstStyle>
        <a:defPPr algn="just">
          <a:lnSpc>
            <a:spcPct val="150000"/>
          </a:lnSpc>
          <a:spcAft>
            <a:spcPts val="0"/>
          </a:spcAft>
          <a:buNone/>
          <a:defRPr sz="12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TM02892315[[fn=丝状]]</Template>
  <TotalTime>47477</TotalTime>
  <Words>1526</Words>
  <Application>Microsoft Office PowerPoint</Application>
  <PresentationFormat>全屏显示(4:3)</PresentationFormat>
  <Paragraphs>300</Paragraphs>
  <Slides>13</Slides>
  <Notes>13</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13</vt:i4>
      </vt:variant>
    </vt:vector>
  </HeadingPairs>
  <TitlesOfParts>
    <vt:vector size="26" baseType="lpstr">
      <vt:lpstr>Gulim</vt:lpstr>
      <vt:lpstr>宋体</vt:lpstr>
      <vt:lpstr>Microsoft YaHei</vt:lpstr>
      <vt:lpstr>Microsoft YaHei</vt:lpstr>
      <vt:lpstr>Arial</vt:lpstr>
      <vt:lpstr>Calibri</vt:lpstr>
      <vt:lpstr>Calibri Light</vt:lpstr>
      <vt:lpstr>Times New Roman</vt:lpstr>
      <vt:lpstr>Wingdings</vt:lpstr>
      <vt:lpstr>Wingdings 2</vt:lpstr>
      <vt:lpstr>HDOfficeLightV0</vt:lpstr>
      <vt:lpstr>1_HDOfficeLightV0</vt:lpstr>
      <vt:lpstr>2_HDOfficeLightV0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jie jie</cp:lastModifiedBy>
  <cp:revision>3683</cp:revision>
  <dcterms:created xsi:type="dcterms:W3CDTF">2022-08-08T03:45:37Z</dcterms:created>
  <dcterms:modified xsi:type="dcterms:W3CDTF">2026-04-28T12:39:03Z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ABF51522829842F5B4DB195B992A8D41</vt:lpwstr>
  </property>
  <property fmtid="{D5CDD505-2E9C-101B-9397-08002B2CF9AE}" pid="3" name="KSOProductBuildVer">
    <vt:lpwstr>2052-11.1.0.12302</vt:lpwstr>
  </property>
</Properties>
</file>